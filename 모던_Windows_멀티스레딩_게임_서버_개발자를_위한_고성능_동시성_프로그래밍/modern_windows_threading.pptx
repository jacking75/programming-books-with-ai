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097280"/>
            <a:ext cx="4114800" cy="4114800"/>
          </a:xfrm>
          <a:prstGeom prst="ellipse">
            <a:avLst/>
          </a:prstGeom>
          <a:solidFill>
            <a:srgbClr val="1565C0">
              <a:alpha val="25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2560320"/>
            <a:ext cx="2560320" cy="2560320"/>
          </a:xfrm>
          <a:prstGeom prst="ellipse">
            <a:avLst/>
          </a:prstGeom>
          <a:solidFill>
            <a:srgbClr val="00B0D7">
              <a:alpha val="20000"/>
            </a:srgbClr>
          </a:solidFill>
          <a:ln w="12700">
            <a:solidFill>
              <a:srgbClr val="00B0D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051560"/>
            <a:ext cx="64008" cy="2011680"/>
          </a:xfrm>
          <a:prstGeom prst="rect">
            <a:avLst/>
          </a:prstGeom>
          <a:solidFill>
            <a:srgbClr val="00B0D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0584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모던 Windows 멀티스레딩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게임 서버 개발자를 위한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고성능 동시성 프로그래밍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880360"/>
            <a:ext cx="3657600" cy="27432"/>
          </a:xfrm>
          <a:prstGeom prst="rect">
            <a:avLst/>
          </a:prstGeom>
          <a:solidFill>
            <a:srgbClr val="00B0D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017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저자  최흥배 · Claude AI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4343400"/>
            <a:ext cx="1737360" cy="365760"/>
          </a:xfrm>
          <a:prstGeom prst="rect">
            <a:avLst/>
          </a:prstGeom>
          <a:solidFill>
            <a:srgbClr val="1565C0">
              <a:alpha val="70000"/>
            </a:srgbClr>
          </a:solidFill>
          <a:ln w="12700">
            <a:solidFill>
              <a:srgbClr val="00B0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43434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B0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C++23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60320" y="4343400"/>
            <a:ext cx="1737360" cy="365760"/>
          </a:xfrm>
          <a:prstGeom prst="rect">
            <a:avLst/>
          </a:prstGeom>
          <a:solidFill>
            <a:srgbClr val="1565C0">
              <a:alpha val="70000"/>
            </a:srgbClr>
          </a:solidFill>
          <a:ln w="12700">
            <a:solidFill>
              <a:srgbClr val="00B0D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0" y="43434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B0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API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480560" y="4343400"/>
            <a:ext cx="1737360" cy="365760"/>
          </a:xfrm>
          <a:prstGeom prst="rect">
            <a:avLst/>
          </a:prstGeom>
          <a:solidFill>
            <a:srgbClr val="1565C0">
              <a:alpha val="70000"/>
            </a:srgbClr>
          </a:solidFill>
          <a:ln w="12700">
            <a:solidFill>
              <a:srgbClr val="00B0D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0560" y="43434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B0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멀티스레딩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0" y="4343400"/>
            <a:ext cx="1737360" cy="365760"/>
          </a:xfrm>
          <a:prstGeom prst="rect">
            <a:avLst/>
          </a:prstGeom>
          <a:solidFill>
            <a:srgbClr val="1565C0">
              <a:alpha val="70000"/>
            </a:srgbClr>
          </a:solidFill>
          <a:ln w="12700">
            <a:solidFill>
              <a:srgbClr val="00B0D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43434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B0D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게임 서버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498080" y="1005840"/>
            <a:ext cx="1417320" cy="1005840"/>
          </a:xfrm>
          <a:prstGeom prst="rect">
            <a:avLst/>
          </a:prstGeom>
          <a:solidFill>
            <a:srgbClr val="1A2A5E"/>
          </a:solidFill>
          <a:ln w="12700">
            <a:solidFill>
              <a:srgbClr val="00B0D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0" y="1078992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0D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12장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498080" y="1572768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챕터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498080" y="2194560"/>
            <a:ext cx="1417320" cy="1005840"/>
          </a:xfrm>
          <a:prstGeom prst="rect">
            <a:avLst/>
          </a:prstGeom>
          <a:solidFill>
            <a:srgbClr val="1A2A5E"/>
          </a:solidFill>
          <a:ln w="12700">
            <a:solidFill>
              <a:srgbClr val="00B0D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0" y="2267712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0D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5개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98080" y="2761488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파트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498080" y="3383280"/>
            <a:ext cx="1417320" cy="1005840"/>
          </a:xfrm>
          <a:prstGeom prst="rect">
            <a:avLst/>
          </a:prstGeom>
          <a:solidFill>
            <a:srgbClr val="1A2A5E"/>
          </a:solidFill>
          <a:ln w="12700">
            <a:solidFill>
              <a:srgbClr val="00B0D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0" y="3456432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0D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C++23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498080" y="3950208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최신 표준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책에 대해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Vista 이후 등장한 모던 동기화 API들을 게임 서버 개발 관점에서 체계적으로 다룬 실전 가이드. 레거시 CRITICAL_SECTION의 한계를 넘어, SRW Lock · Condition Variable · Thread Pool API 등 고성능 멀티스레딩 기법을 C++23 문법과 함께 실전 코드로 설명한다.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2103120"/>
            <a:ext cx="19202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2103120"/>
            <a:ext cx="192024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224028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🚀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11480" y="285292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성능 혁신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329184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CRITICAL_SECTION 대비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2-3배 성능 향상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14600" y="2103120"/>
            <a:ext cx="19202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14600" y="2103120"/>
            <a:ext cx="192024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14600" y="224028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🎮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514600" y="285292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게임 서버 특화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606040" y="329184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틱 시스템·패킷 큐·던전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인스턴스 실전 구현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17720" y="2103120"/>
            <a:ext cx="19202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17720" y="2103120"/>
            <a:ext cx="192024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17720" y="224028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🔬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617720" y="285292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심층 분석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09160" y="329184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내부 구조·메모리 정렬·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Lock-Free 설계 원리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720840" y="2103120"/>
            <a:ext cx="19202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20840" y="2103120"/>
            <a:ext cx="192024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20840" y="224028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📘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720840" y="285292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최신 표준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812280" y="329184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C++23 · std::jthread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코루틴 통합 활용법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책의 구성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1536192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005840"/>
            <a:ext cx="1536192" cy="1005840"/>
          </a:xfrm>
          <a:prstGeom prst="rect">
            <a:avLst/>
          </a:prstGeom>
          <a:solidFill>
            <a:srgbClr val="1565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51560"/>
            <a:ext cx="15361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 I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508760"/>
            <a:ext cx="15361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1~2장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084832"/>
            <a:ext cx="14447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기초편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788920"/>
            <a:ext cx="1444752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모던 API 등장 배경,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레거시 한계, 개발 환경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103120" y="1005840"/>
            <a:ext cx="1536192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103120" y="1005840"/>
            <a:ext cx="1536192" cy="1005840"/>
          </a:xfrm>
          <a:prstGeom prst="rect">
            <a:avLst/>
          </a:prstGeom>
          <a:solidFill>
            <a:srgbClr val="0277B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03120" y="1051560"/>
            <a:ext cx="15361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 II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103120" y="1508760"/>
            <a:ext cx="15361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3~5장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148840" y="2084832"/>
            <a:ext cx="14447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동기화 API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148840" y="2788920"/>
            <a:ext cx="1444752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SRW Lock · Condition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 · One-Time Init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794760" y="1005840"/>
            <a:ext cx="1536192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794760" y="1005840"/>
            <a:ext cx="1536192" cy="1005840"/>
          </a:xfrm>
          <a:prstGeom prst="rect">
            <a:avLst/>
          </a:prstGeom>
          <a:solidFill>
            <a:srgbClr val="0083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94760" y="1051560"/>
            <a:ext cx="15361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 III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794760" y="1508760"/>
            <a:ext cx="15361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6~8장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840480" y="2084832"/>
            <a:ext cx="14447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고급 스레드 관리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840480" y="2788920"/>
            <a:ext cx="1444752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Thread Pool · Barriers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WaitOnAddress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0" y="1005840"/>
            <a:ext cx="1536192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0" y="1005840"/>
            <a:ext cx="1536192" cy="1005840"/>
          </a:xfrm>
          <a:prstGeom prst="rect">
            <a:avLst/>
          </a:prstGeom>
          <a:solidFill>
            <a:srgbClr val="2E7D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0" y="1051560"/>
            <a:ext cx="15361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 IV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486400" y="1508760"/>
            <a:ext cx="15361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9~10장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32120" y="2084832"/>
            <a:ext cx="14447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고급 주제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532120" y="2788920"/>
            <a:ext cx="1444752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UMS · 성능 분석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디버깅 기법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178040" y="1005840"/>
            <a:ext cx="1536192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178040" y="1005840"/>
            <a:ext cx="1536192" cy="1005840"/>
          </a:xfrm>
          <a:prstGeom prst="rect">
            <a:avLst/>
          </a:prstGeom>
          <a:solidFill>
            <a:srgbClr val="6A1B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78040" y="1051560"/>
            <a:ext cx="15361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 V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178040" y="1508760"/>
            <a:ext cx="15361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11~12장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223760" y="2084832"/>
            <a:ext cx="14447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실전 프로젝트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223760" y="2788920"/>
            <a:ext cx="1444752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고성능 서버 아키텍처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C++23 시너지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11480" y="4754880"/>
            <a:ext cx="8321040" cy="27432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" y="475488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565C0"/>
                </a:solidFill>
              </a:rPr>
              <a:t>📎  부록:  API 레퍼런스 가이드  ·  성능 측정 결과  ·  트러블슈팅 가이드  ·  추가 학습 자료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565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I  기초편  —  Windows 멀티스레딩 진화의 역사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914400" y="2834640"/>
            <a:ext cx="731520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54480" y="2624328"/>
            <a:ext cx="411480" cy="41148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2402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1993–2005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14400" y="3108960"/>
            <a:ext cx="17373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14400" y="3108960"/>
            <a:ext cx="1737360" cy="64008"/>
          </a:xfrm>
          <a:prstGeom prst="rect">
            <a:avLst/>
          </a:prstGeom>
          <a:solidFill>
            <a:srgbClr val="94A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18211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Win32 초기 API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361188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CRITICAL_SECTION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05840" y="395935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Mutex / Semaphore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05840" y="4306824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Events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566160" y="2624328"/>
            <a:ext cx="411480" cy="4114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26080" y="22402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2006–2009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926080" y="3108960"/>
            <a:ext cx="17373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926080" y="3108960"/>
            <a:ext cx="1737360" cy="64008"/>
          </a:xfrm>
          <a:prstGeom prst="rect">
            <a:avLst/>
          </a:prstGeom>
          <a:solidFill>
            <a:srgbClr val="1565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26080" y="318211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Vista 혁신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017520" y="361188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SRW Locks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017520" y="395935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Condition Variables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017520" y="4306824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One-Time Init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577840" y="2624328"/>
            <a:ext cx="411480" cy="411480"/>
          </a:xfrm>
          <a:prstGeom prst="ellipse">
            <a:avLst/>
          </a:prstGeom>
          <a:solidFill>
            <a:srgbClr val="0277B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22402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7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2009–2012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937760" y="3108960"/>
            <a:ext cx="17373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937760" y="3108960"/>
            <a:ext cx="1737360" cy="64008"/>
          </a:xfrm>
          <a:prstGeom prst="rect">
            <a:avLst/>
          </a:prstGeom>
          <a:solidFill>
            <a:srgbClr val="0277B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318211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7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Win7 / 2008 R2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0" y="361188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Thread Pool API 2.0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29200" y="395935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Sync Barriers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29200" y="4306824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타이머 강화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589520" y="2624328"/>
            <a:ext cx="411480" cy="411480"/>
          </a:xfrm>
          <a:prstGeom prst="ellipse">
            <a:avLst/>
          </a:prstGeom>
          <a:solidFill>
            <a:srgbClr val="0083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49440" y="22402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83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2012–현재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949440" y="3108960"/>
            <a:ext cx="17373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949440" y="3108960"/>
            <a:ext cx="1737360" cy="64008"/>
          </a:xfrm>
          <a:prstGeom prst="rect">
            <a:avLst/>
          </a:prstGeom>
          <a:solidFill>
            <a:srgbClr val="0083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49440" y="318211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83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Win8 / 2012+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040880" y="361188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WaitOnAddress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040880" y="395935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UMS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040880" y="4306824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Performance 최적화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96012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문제: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 CRITICAL_SECTION은 읽기·쓰기 구분 없이 배타적 잠금 → 불필요한 직렬화 + 커널 전환 비용 발생.
</a:t>
            </a:r>
            <a:pPr indent="0" marL="0">
              <a:buNone/>
            </a:pPr>
            <a:r>
              <a:rPr lang="en-US" sz="1200" b="1" dirty="0">
                <a:solidFill>
                  <a:srgbClr val="0083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모던 API: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SRW Lock은 단 포인터 하나(8 bytes) 크기로 동작하며 읽기 중심 워크로드에서 2–3× 성능 우위.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77B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II  핵심 동기화 API  —  SRW Lock · Condition Variable · One-Time Init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11480" y="914400"/>
            <a:ext cx="269748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914400"/>
            <a:ext cx="2697480" cy="777240"/>
          </a:xfrm>
          <a:prstGeom prst="rect">
            <a:avLst/>
          </a:prstGeom>
          <a:solidFill>
            <a:srgbClr val="1565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5156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3장  🔒  SRW Lock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포인터 1개(8 bytes) 크기의 경량 락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42316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동시 다중 읽기 허용 (Shared 모드)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301752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단일 배타 쓰기 (Exclusive 모드)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61188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게임 설정 매니저 · 플레이어 데이터 보호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420624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CRITICAL_SECTION 대비 2–3× 빠름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91840" y="914400"/>
            <a:ext cx="269748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914400"/>
            <a:ext cx="2697480" cy="777240"/>
          </a:xfrm>
          <a:prstGeom prst="rect">
            <a:avLst/>
          </a:prstGeom>
          <a:solidFill>
            <a:srgbClr val="0277B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0" y="105156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4장  ⚡  Condition Variable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29000" y="182880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7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SRW Lock과 원자적으로 연동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29000" y="242316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7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생산자-소비자 패턴 효율화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29000" y="301752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7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패킷 처리 큐 구현에 최적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29000" y="361188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7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Spurious Wakeup 안전 처리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29000" y="420624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77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SleepConditionVariableSRW() 활용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72200" y="914400"/>
            <a:ext cx="269748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72200" y="914400"/>
            <a:ext cx="2697480" cy="777240"/>
          </a:xfrm>
          <a:prstGeom prst="rect">
            <a:avLst/>
          </a:prstGeom>
          <a:solidFill>
            <a:srgbClr val="0083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63640" y="105156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5장  1️⃣  One-Time Initialization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309360" y="182880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3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스레드 안전한 싱글톤 패턴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09360" y="242316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3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InitOnceExecuteOnce() 사용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09360" y="301752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3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게임 매니저·리소스 초기화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09360" y="361188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3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C++23 std::once_flag와 비교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09360" y="420624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3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이중 초기화 완전 방지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83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III  고급 스레드 관리  —  Thread Pool · Barriers · WaitOnAddress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11480" y="914400"/>
            <a:ext cx="393192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914400"/>
            <a:ext cx="3931920" cy="502920"/>
          </a:xfrm>
          <a:prstGeom prst="rect">
            <a:avLst/>
          </a:prstGeom>
          <a:solidFill>
            <a:srgbClr val="0083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601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6장  🏊  Windows Thread Pool API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5087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3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Items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일반 비동기 작업 처리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98424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3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Timer Items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주기적·지연 실행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459736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3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 Items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이벤트 대기 작업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935224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3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I/O Items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IOCP 완료 처리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41071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3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Cleanup Group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일괄 정리·대기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88620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3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우선순위 스케줄러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CRITICAL~BACKGROUND 5단계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436168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3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</a:t>
            </a:r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비동기 DB 처리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ODBC + 연결 풀 통합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00600" y="914400"/>
            <a:ext cx="3931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00600" y="914400"/>
            <a:ext cx="3931920" cy="457200"/>
          </a:xfrm>
          <a:prstGeom prst="rect">
            <a:avLst/>
          </a:prstGeom>
          <a:solidFill>
            <a:srgbClr val="2E7D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969264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7장  🚧  Synchronization Barriers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1463040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단계별 동기화 (SYNCHRONIZATION_BARRIER)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37760" y="1773936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멀티스레드 게임 틱 시스템 구현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37760" y="2084832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모든 스레드 동시 도달 후 진행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37760" y="2395728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MMORPG 던전 프레임 동기화 적용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00600" y="2971800"/>
            <a:ext cx="3931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00600" y="2971800"/>
            <a:ext cx="3931920" cy="457200"/>
          </a:xfrm>
          <a:prstGeom prst="rect">
            <a:avLst/>
          </a:prstGeom>
          <a:solidFill>
            <a:srgbClr val="6A1B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3026664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8장  ⚛️  WaitOnAddress &amp; Lock-Free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37760" y="3520440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A1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커널 없이 효율적인 스레드 대기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937760" y="3831336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A1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WakeByAddressAll로 알림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37760" y="4142232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A1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Lock-Free 메모리 풀 구현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37760" y="4453128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A1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 기반 고성능 메시지 큐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7D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IV  고급 주제  —  UMS · 성능 분석 · 디버깅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393192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960120"/>
            <a:ext cx="3931920" cy="548640"/>
          </a:xfrm>
          <a:prstGeom prst="rect">
            <a:avLst/>
          </a:prstGeom>
          <a:solidFill>
            <a:srgbClr val="2E7D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058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9장  🎯  User-Mode Scheduling (UMS)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3703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UMS의 개념 — 사용자 공간 스레드 스케줄링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194560"/>
            <a:ext cx="3703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커스텀 스케줄러 구현 원리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743200"/>
            <a:ext cx="3703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우선순위 기반 태스크 스케줄링 예제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291840"/>
            <a:ext cx="3703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UMS의 한계 (Win8부터 비권장)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840480"/>
            <a:ext cx="3703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대안 기술: coroutine, fiber, async/await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4389120"/>
            <a:ext cx="3703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미래 방향: C++23 코루틴과의 관계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00600" y="960120"/>
            <a:ext cx="393192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00600" y="960120"/>
            <a:ext cx="3931920" cy="548640"/>
          </a:xfrm>
          <a:prstGeom prst="rect">
            <a:avLst/>
          </a:prstGeom>
          <a:solidFill>
            <a:srgbClr val="1B5E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10058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10장  🔍  성능 분석 &amp; 디버깅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37760" y="1600200"/>
            <a:ext cx="3703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🛠  </a:t>
            </a:r>
            <a:pPr indent="0" marL="0">
              <a:buNone/>
            </a:pPr>
            <a:r>
              <a:rPr lang="en-US" sz="11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Performance Toolkit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ETW 기반 프로파일링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2167128"/>
            <a:ext cx="3703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🛠  </a:t>
            </a:r>
            <a:pPr indent="0" marL="0">
              <a:buNone/>
            </a:pPr>
            <a:r>
              <a:rPr lang="en-US" sz="11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Concurrency Visualizer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스레드 타임라인 시각화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2734056"/>
            <a:ext cx="3703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🛠  </a:t>
            </a:r>
            <a:pPr indent="0" marL="0">
              <a:buNone/>
            </a:pPr>
            <a:r>
              <a:rPr lang="en-US" sz="11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Verifier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동시성 버그 탐지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3300984"/>
            <a:ext cx="3703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🛠  </a:t>
            </a:r>
            <a:pPr indent="0" marL="0">
              <a:buNone/>
            </a:pPr>
            <a:r>
              <a:rPr lang="en-US" sz="11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Address Sanitizer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메모리 오류 검출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37760" y="3867912"/>
            <a:ext cx="3703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🛠  </a:t>
            </a:r>
            <a:pPr indent="0" marL="0">
              <a:buNone/>
            </a:pPr>
            <a:r>
              <a:rPr lang="en-US" sz="11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Thread Sanitizer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데이터 레이스 탐지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37760" y="4434840"/>
            <a:ext cx="3703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🛠  </a:t>
            </a:r>
            <a:pPr indent="0" marL="0">
              <a:buNone/>
            </a:pPr>
            <a:r>
              <a:rPr lang="en-US" sz="11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ETW 커스텀 이벤트</a:t>
            </a:r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게임 서버 전용 계측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6A1B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V  실전 프로젝트  —  고성능 게임 서버 아키텍처 &amp; C++23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11480" y="9144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A1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11장  —  고성능 게임 서버 아키텍처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371600"/>
            <a:ext cx="4663440" cy="658368"/>
          </a:xfrm>
          <a:prstGeom prst="rect">
            <a:avLst/>
          </a:prstGeom>
          <a:solidFill>
            <a:srgbClr val="6A1B9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417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Layer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D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Logic · Combat · Trade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2121408"/>
            <a:ext cx="4663440" cy="658368"/>
          </a:xfrm>
          <a:prstGeom prst="rect">
            <a:avLst/>
          </a:prstGeom>
          <a:solidFill>
            <a:srgbClr val="7B1FA2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216712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Coordination Layer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44144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D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Mgmt · Work Queue · Event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2871216"/>
            <a:ext cx="4663440" cy="658368"/>
          </a:xfrm>
          <a:prstGeom prst="rect">
            <a:avLst/>
          </a:prstGeom>
          <a:solidFill>
            <a:srgbClr val="8E24AA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291693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Layer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191256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D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Thread Pool · IOCP · Timer Queue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3621024"/>
            <a:ext cx="4663440" cy="658368"/>
          </a:xfrm>
          <a:prstGeom prst="rect">
            <a:avLst/>
          </a:prstGeom>
          <a:solidFill>
            <a:srgbClr val="AB47BC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8640" y="366674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 Layer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3941064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D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Pool · Object Pool · Locks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303520" y="914400"/>
            <a:ext cx="34290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9D5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303520" y="914400"/>
            <a:ext cx="3429000" cy="502920"/>
          </a:xfrm>
          <a:prstGeom prst="rect">
            <a:avLst/>
          </a:prstGeom>
          <a:solidFill>
            <a:srgbClr val="4527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94960" y="969264"/>
            <a:ext cx="324612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12장  ⚡  C++23 시너지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40680" y="1508760"/>
            <a:ext cx="3200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527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std::jthread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 join + stop_token 지원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40680" y="1993392"/>
            <a:ext cx="3200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527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코루틴 통합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co_await 비동기 흐름 제어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40680" y="2478024"/>
            <a:ext cx="3200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527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std::once_flag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InitOnce API와 비교 분석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40680" y="2962656"/>
            <a:ext cx="3200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527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std::atomic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memory_order 최적화 전략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40680" y="3447288"/>
            <a:ext cx="3200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527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std::format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진단·로그 현대화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40680" y="3931920"/>
            <a:ext cx="3200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527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std::ranges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처리 파이프라인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40680" y="4416552"/>
            <a:ext cx="3200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527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std::span 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버퍼 안전한 뷰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11480" y="4754880"/>
            <a:ext cx="8321040" cy="274320"/>
          </a:xfrm>
          <a:prstGeom prst="rect">
            <a:avLst/>
          </a:prstGeom>
          <a:solidFill>
            <a:srgbClr val="F3E8FF"/>
          </a:solidFill>
          <a:ln w="12700">
            <a:solidFill>
              <a:srgbClr val="D8B4F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A1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 MMORPG 던전 인스턴스 시스템 — SRW Lock + Thread Pool + Sync Barrier + Lock-Free 메모리 풀 통합 실전 구현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레거시 vs 모던 API  —  무엇이 달라졌는가?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1920240" cy="411480"/>
          </a:xfrm>
          <a:prstGeom prst="rect">
            <a:avLst/>
          </a:prstGeom>
          <a:solidFill>
            <a:srgbClr val="0D1B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항목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0" y="914400"/>
            <a:ext cx="2103120" cy="411480"/>
          </a:xfrm>
          <a:prstGeom prst="rect">
            <a:avLst/>
          </a:prstGeom>
          <a:solidFill>
            <a:srgbClr val="0D1B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0" y="91440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레거시 API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89120" y="914400"/>
            <a:ext cx="2103120" cy="411480"/>
          </a:xfrm>
          <a:prstGeom prst="rect">
            <a:avLst/>
          </a:prstGeom>
          <a:solidFill>
            <a:srgbClr val="0D1B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0" y="91440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모던 API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92240" y="914400"/>
            <a:ext cx="1645920" cy="411480"/>
          </a:xfrm>
          <a:prstGeom prst="rect">
            <a:avLst/>
          </a:prstGeom>
          <a:solidFill>
            <a:srgbClr val="0D1B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9144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개선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1325880"/>
            <a:ext cx="192024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13258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읽기 잠금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286000" y="1325880"/>
            <a:ext cx="210312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31720" y="13258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배타적 (Exclusive)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389120" y="1325880"/>
            <a:ext cx="210312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34840" y="13258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공유 (Shared) 허용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92240" y="1325880"/>
            <a:ext cx="1645920" cy="457200"/>
          </a:xfrm>
          <a:prstGeom prst="rect">
            <a:avLst/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13258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동시 읽기 가능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1828800"/>
            <a:ext cx="19202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18288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크기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286000" y="1828800"/>
            <a:ext cx="21031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31720" y="18288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24–40 bytes (CS)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89120" y="1828800"/>
            <a:ext cx="21031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34840" y="18288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bytes (SRW Lock)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492240" y="1828800"/>
            <a:ext cx="1645920" cy="457200"/>
          </a:xfrm>
          <a:prstGeom prst="rect">
            <a:avLst/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37960" y="18288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메모리 80% 절감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65760" y="2331720"/>
            <a:ext cx="192024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2331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성능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286000" y="2331720"/>
            <a:ext cx="210312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331720" y="23317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기준 1×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389120" y="2331720"/>
            <a:ext cx="210312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34840" y="23317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2–3× 빠름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492240" y="2331720"/>
            <a:ext cx="1645920" cy="457200"/>
          </a:xfrm>
          <a:prstGeom prst="rect">
            <a:avLst/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37960" y="23317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읽기 부하 ↑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65760" y="2834640"/>
            <a:ext cx="19202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28346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조건 대기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2286000" y="2834640"/>
            <a:ext cx="21031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331720" y="28346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폴링 루프 필요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389120" y="2834640"/>
            <a:ext cx="21031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434840" y="28346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 Variable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492240" y="2834640"/>
            <a:ext cx="1645920" cy="457200"/>
          </a:xfrm>
          <a:prstGeom prst="rect">
            <a:avLst/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37960" y="28346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 낭비 제거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365760" y="3337560"/>
            <a:ext cx="192024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11480" y="33375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스레드 풀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2286000" y="3337560"/>
            <a:ext cx="210312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331720" y="33375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QueueUserWorkItem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4389120" y="3337560"/>
            <a:ext cx="210312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434840" y="33375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Thread Pool API 2.0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492240" y="3337560"/>
            <a:ext cx="1645920" cy="457200"/>
          </a:xfrm>
          <a:prstGeom prst="rect">
            <a:avLst/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37960" y="33375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세밀한 제어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365760" y="3840480"/>
            <a:ext cx="19202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11480" y="38404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락 없는 대기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2286000" y="3840480"/>
            <a:ext cx="21031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331720" y="3840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불가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4389120" y="3840480"/>
            <a:ext cx="21031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434840" y="3840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WaitOnAddress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6492240" y="3840480"/>
            <a:ext cx="1645920" cy="457200"/>
          </a:xfrm>
          <a:prstGeom prst="rect">
            <a:avLst/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537960" y="38404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커널 전환 최소화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365760" y="4343400"/>
            <a:ext cx="192024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11480" y="43434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싱글톤 초기화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2286000" y="4343400"/>
            <a:ext cx="210312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331720" y="43434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직접 구현 필요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4389120" y="4343400"/>
            <a:ext cx="210312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434840" y="43434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InitOnceExecuteOnce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6492240" y="4343400"/>
            <a:ext cx="1645920" cy="457200"/>
          </a:xfrm>
          <a:prstGeom prst="rect">
            <a:avLst/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537960" y="43434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경쟁 조건 완전 제거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대상 독자 &amp; 개발 환경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 이 책의 독자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11480" y="1463040"/>
            <a:ext cx="4114800" cy="71323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536192"/>
            <a:ext cx="274320" cy="27432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517904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게임 서버 개발자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181051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IOCP·스레드 풀 활용 경험자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2286000"/>
            <a:ext cx="4114800" cy="71323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2359152"/>
            <a:ext cx="274320" cy="27432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340864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백엔드 엔지니어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263347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고성능 서버 구축 담당자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1480" y="3108960"/>
            <a:ext cx="4114800" cy="71323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3182112"/>
            <a:ext cx="274320" cy="27432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163824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C++ 중급 이상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68680" y="345643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멀티스레딩 심화 학습 원하는 개발자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1480" y="3931920"/>
            <a:ext cx="4114800" cy="71323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4005072"/>
            <a:ext cx="274320" cy="27432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3986784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프로그래머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" y="427939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API 수준 이해를 원하는 분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37760" y="96012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🛠  권장 개발 환경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937760" y="1463040"/>
            <a:ext cx="17830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937760" y="1572768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💻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4937760" y="2029968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83480" y="2304288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Studio 2022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(Community 이상)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903720" y="1463040"/>
            <a:ext cx="17830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903720" y="1572768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⚙️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6903720" y="2029968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컴파일러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949440" y="2304288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MSVC v143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C++20 / C++23 지원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937760" y="3154680"/>
            <a:ext cx="17830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937760" y="3264408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🪟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4937760" y="3721608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983480" y="3995928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10 이상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(Windows Server 2019+)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903720" y="3154680"/>
            <a:ext cx="17830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903720" y="3264408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📦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6903720" y="3721608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추가 도구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949440" y="3995928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 VTune · WPA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Verifier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3657600" cy="3657600"/>
          </a:xfrm>
          <a:prstGeom prst="ellipse">
            <a:avLst/>
          </a:prstGeom>
          <a:solidFill>
            <a:srgbClr val="1565C0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286000"/>
            <a:ext cx="3200400" cy="3200400"/>
          </a:xfrm>
          <a:prstGeom prst="ellipse">
            <a:avLst/>
          </a:prstGeom>
          <a:solidFill>
            <a:srgbClr val="00838F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548640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이 책으로 얻는 것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0" y="1188720"/>
            <a:ext cx="2743200" cy="27432"/>
          </a:xfrm>
          <a:prstGeom prst="rect">
            <a:avLst/>
          </a:prstGeom>
          <a:solidFill>
            <a:srgbClr val="00B0D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417320"/>
            <a:ext cx="7315200" cy="548640"/>
          </a:xfrm>
          <a:prstGeom prst="rect">
            <a:avLst/>
          </a:prstGeom>
          <a:solidFill>
            <a:srgbClr val="162447">
              <a:alpha val="80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463040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 Windows 고성능 동기화 API 완전 정복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2075688"/>
            <a:ext cx="7315200" cy="548640"/>
          </a:xfrm>
          <a:prstGeom prst="rect">
            <a:avLst/>
          </a:prstGeom>
          <a:solidFill>
            <a:srgbClr val="162447">
              <a:alpha val="80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2121408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🎮  게임 서버 실전 패턴 — 틱 시스템·던전 인스턴스·패킷 큐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14400" y="2734056"/>
            <a:ext cx="7315200" cy="548640"/>
          </a:xfrm>
          <a:prstGeom prst="rect">
            <a:avLst/>
          </a:prstGeom>
          <a:solidFill>
            <a:srgbClr val="162447">
              <a:alpha val="80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2779776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레거시 코드 → 모던 API 마이그레이션 전략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14400" y="3392424"/>
            <a:ext cx="7315200" cy="548640"/>
          </a:xfrm>
          <a:prstGeom prst="rect">
            <a:avLst/>
          </a:prstGeom>
          <a:solidFill>
            <a:srgbClr val="162447">
              <a:alpha val="80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3438144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🔬  Lock-Free 알고리즘 &amp; 메모리 정렬 최적화 노하우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14400" y="4050792"/>
            <a:ext cx="7315200" cy="548640"/>
          </a:xfrm>
          <a:prstGeom prst="rect">
            <a:avLst/>
          </a:prstGeom>
          <a:solidFill>
            <a:srgbClr val="162447">
              <a:alpha val="80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4096512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📘  C++23 최신 표준과 Windows API의 시너지 활용법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모던 Windows 멀티스레딩  —  최흥배 · Claude AI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모던 Windows 멀티스레딩 - 책 소개</dc:title>
  <dc:subject>PptxGenJS Presentation</dc:subject>
  <dc:creator>최흥배</dc:creator>
  <cp:lastModifiedBy>최흥배</cp:lastModifiedBy>
  <cp:revision>1</cp:revision>
  <dcterms:created xsi:type="dcterms:W3CDTF">2026-05-17T14:21:44Z</dcterms:created>
  <dcterms:modified xsi:type="dcterms:W3CDTF">2026-05-17T14:21:44Z</dcterms:modified>
</cp:coreProperties>
</file>