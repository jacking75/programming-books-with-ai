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3d54b304e4cff" /><Relationship Type="http://schemas.openxmlformats.org/officeDocument/2006/relationships/extended-properties" Target="/docProps/app.xml" Id="R7924e943580b4a85" /><Relationship Type="http://schemas.openxmlformats.org/officeDocument/2006/relationships/officeDocument" Target="/ppt/presentation.xml" Id="R4ba0bba56faa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450d3a3444184"/>
  </p:sldMasterIdLst>
  <p:notesMasterIdLst>
    <p:notesMasterId xmlns:r="http://schemas.openxmlformats.org/officeDocument/2006/relationships" r:id="R8211ba10e3254f4b"/>
  </p:notesMasterIdLst>
  <p:sldIdLst>
    <p:sldId xmlns:r="http://schemas.openxmlformats.org/officeDocument/2006/relationships" id="256" r:id="R0269abe4954b49cf"/>
    <p:sldId xmlns:r="http://schemas.openxmlformats.org/officeDocument/2006/relationships" id="257" r:id="R7c98312d2c05415a"/>
    <p:sldId xmlns:r="http://schemas.openxmlformats.org/officeDocument/2006/relationships" id="258" r:id="R0c0c7c894579465a"/>
    <p:sldId xmlns:r="http://schemas.openxmlformats.org/officeDocument/2006/relationships" id="259" r:id="Re8cfff0eb91c4a13"/>
    <p:sldId xmlns:r="http://schemas.openxmlformats.org/officeDocument/2006/relationships" id="260" r:id="R3d9d3ed3988f4990"/>
    <p:sldId xmlns:r="http://schemas.openxmlformats.org/officeDocument/2006/relationships" id="261" r:id="Ra1303f95c3f94628"/>
    <p:sldId xmlns:r="http://schemas.openxmlformats.org/officeDocument/2006/relationships" id="262" r:id="Rcd872767a5424908"/>
    <p:sldId xmlns:r="http://schemas.openxmlformats.org/officeDocument/2006/relationships" id="263" r:id="R25304d12b8db4f8f"/>
    <p:sldId xmlns:r="http://schemas.openxmlformats.org/officeDocument/2006/relationships" id="264" r:id="R4e8ab9c9926442ec"/>
    <p:sldId xmlns:r="http://schemas.openxmlformats.org/officeDocument/2006/relationships" id="265" r:id="Rad2cec21832b4e3b"/>
    <p:sldId xmlns:r="http://schemas.openxmlformats.org/officeDocument/2006/relationships" id="266" r:id="R70dc0aea4a334d80"/>
    <p:sldId xmlns:r="http://schemas.openxmlformats.org/officeDocument/2006/relationships" id="267" r:id="Rbf298b398ef141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e5ba5acebb41c3" /><Relationship Type="http://schemas.openxmlformats.org/officeDocument/2006/relationships/slideMaster" Target="/ppt/slideMasters/slideMaster1.xml" Id="R709450d3a3444184" /><Relationship Type="http://schemas.openxmlformats.org/officeDocument/2006/relationships/notesMaster" Target="/ppt/notesMasters/notesMaster1.xml" Id="R8211ba10e3254f4b" /><Relationship Type="http://schemas.openxmlformats.org/officeDocument/2006/relationships/presProps" Target="/ppt/presProps.xml" Id="R65c3d853d19e425a" /><Relationship Type="http://schemas.openxmlformats.org/officeDocument/2006/relationships/viewProps" Target="/ppt/viewProps.xml" Id="R20c21faa01304840" /><Relationship Type="http://schemas.openxmlformats.org/officeDocument/2006/relationships/tableStyles" Target="/ppt/tableStyles.xml" Id="Rddd16db1c99148af" /><Relationship Type="http://schemas.openxmlformats.org/officeDocument/2006/relationships/slide" Target="/ppt/slides/slide1.xml" Id="R0269abe4954b49cf" /><Relationship Type="http://schemas.openxmlformats.org/officeDocument/2006/relationships/slide" Target="/ppt/slides/slide2.xml" Id="R7c98312d2c05415a" /><Relationship Type="http://schemas.openxmlformats.org/officeDocument/2006/relationships/slide" Target="/ppt/slides/slide3.xml" Id="R0c0c7c894579465a" /><Relationship Type="http://schemas.openxmlformats.org/officeDocument/2006/relationships/slide" Target="/ppt/slides/slide4.xml" Id="Re8cfff0eb91c4a13" /><Relationship Type="http://schemas.openxmlformats.org/officeDocument/2006/relationships/slide" Target="/ppt/slides/slide5.xml" Id="R3d9d3ed3988f4990" /><Relationship Type="http://schemas.openxmlformats.org/officeDocument/2006/relationships/slide" Target="/ppt/slides/slide6.xml" Id="Ra1303f95c3f94628" /><Relationship Type="http://schemas.openxmlformats.org/officeDocument/2006/relationships/slide" Target="/ppt/slides/slide7.xml" Id="Rcd872767a5424908" /><Relationship Type="http://schemas.openxmlformats.org/officeDocument/2006/relationships/slide" Target="/ppt/slides/slide8.xml" Id="R25304d12b8db4f8f" /><Relationship Type="http://schemas.openxmlformats.org/officeDocument/2006/relationships/slide" Target="/ppt/slides/slide9.xml" Id="R4e8ab9c9926442ec" /><Relationship Type="http://schemas.openxmlformats.org/officeDocument/2006/relationships/slide" Target="/ppt/slides/slide10.xml" Id="Rad2cec21832b4e3b" /><Relationship Type="http://schemas.openxmlformats.org/officeDocument/2006/relationships/slide" Target="/ppt/slides/slide11.xml" Id="R70dc0aea4a334d80" /><Relationship Type="http://schemas.openxmlformats.org/officeDocument/2006/relationships/slide" Target="/ppt/slides/slide12.xml" Id="Rbf298b398ef141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54a8ba6ac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f5a10a8ab54c9d" /><Relationship Type="http://schemas.openxmlformats.org/officeDocument/2006/relationships/notesMaster" Target="/ppt/notesMasters/notesMaster1.xml" Id="Reaf5b08c716d42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a0bb0dc5d6427d" /><Relationship Type="http://schemas.openxmlformats.org/officeDocument/2006/relationships/notesMaster" Target="/ppt/notesMasters/notesMaster1.xml" Id="R6efb415fde29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0bd73f6364cfd" /><Relationship Type="http://schemas.openxmlformats.org/officeDocument/2006/relationships/notesMaster" Target="/ppt/notesMasters/notesMaster1.xml" Id="R06a1ccdff3ef4b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83b5af9e048af" /><Relationship Type="http://schemas.openxmlformats.org/officeDocument/2006/relationships/notesMaster" Target="/ppt/notesMasters/notesMaster1.xml" Id="R6e0d3fc0fb5a4f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329e789d5647ed" /><Relationship Type="http://schemas.openxmlformats.org/officeDocument/2006/relationships/notesMaster" Target="/ppt/notesMasters/notesMaster1.xml" Id="Rd0569f6f65e8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5bd34a26084cd0" /><Relationship Type="http://schemas.openxmlformats.org/officeDocument/2006/relationships/notesMaster" Target="/ppt/notesMasters/notesMaster1.xml" Id="R84e382ed893041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d8f8edb373431f" /><Relationship Type="http://schemas.openxmlformats.org/officeDocument/2006/relationships/notesMaster" Target="/ppt/notesMasters/notesMaster1.xml" Id="Redac32bff53448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e855966984258" /><Relationship Type="http://schemas.openxmlformats.org/officeDocument/2006/relationships/notesMaster" Target="/ppt/notesMasters/notesMaster1.xml" Id="R4e89f32d647d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f8f30e28e84b99" /><Relationship Type="http://schemas.openxmlformats.org/officeDocument/2006/relationships/notesMaster" Target="/ppt/notesMasters/notesMaster1.xml" Id="Rbf5ce23d1a8e4c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ba15d6714413d" /><Relationship Type="http://schemas.openxmlformats.org/officeDocument/2006/relationships/notesMaster" Target="/ppt/notesMasters/notesMaster1.xml" Id="Rf41041b3b0964b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97e3caee5a4d6d" /><Relationship Type="http://schemas.openxmlformats.org/officeDocument/2006/relationships/notesMaster" Target="/ppt/notesMasters/notesMaster1.xml" Id="Rbde01480cd3147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97cf5a6b7048cb" /><Relationship Type="http://schemas.openxmlformats.org/officeDocument/2006/relationships/notesMaster" Target="/ppt/notesMasters/notesMaster1.xml" Id="R27f16b9e1b4e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로그는 단순 출력이 아니라 장애 분석, 운영 모니터링, 보안 감사, 밸런스 분석을 가능하게 하는 데이터 자산이라는 메시지로 시작한다.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1장의 핵심을 압축했다. 게임 서버 환경에서 로그의 가치는 사후 분석과 실시간 운영 모두에 걸쳐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README의 ASCII와 Mermaid 파이프라인을 편집 가능한 도형으로 재구성했다.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원문은 td-agent 대신 fluent-package 명칭을 우선 사용하라고 정리한다. 설치 경로와 서비스 이름을 한 장에 묶었다.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플러그인 구조는 이 문서 전체의 뼈대다. 이후 슬라이드의 모든 설계는 이 세 단계로 설명된다.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3장의 첫 예제를 발표용으로 줄였다. pos_file은 실제 로그가 아니라 Fluentd 체크포인트 파일이라는 점이 핵심이다.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3장과 4장의 Serilog 연동 원칙이다. 직접 네트워크 전송보다 파일 기반 JSON + in_tail을 입문/실무 초안으로 권한다.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4장과 5장의 실습 내용을 하나의 운영 그림으로 합쳤다. 태그는 라우팅 계약으로 다룬다.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7, 8장과 부록 플러그인 표의 핵심이다. 저장소는 기술 취향보다 쿼리와 보관 주기에 맞춘다.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10, 11장의 규모별 패턴이다. 대규모에서는 서버가 DB로 직접 밀어넣는 구조가 병목이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12, 13장의 운영 조정 포인트를 묶었다. 숫자는 README의 권장 범위와 표현을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장은 보안과 운영 체크리스트다. 원문 13, 14장의 장애 대응, 모니터링, 암호화, 인증, 보관 정책을 결론으로 묶었다.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b67b77ec84a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8d52f5e19a4d45" /><Relationship Type="http://schemas.openxmlformats.org/officeDocument/2006/relationships/slideLayout" Target="/ppt/slideLayouts/slideLayout1.xml" Id="Re6dd3e1a19964b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d3e1a19964b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444e1d9cc4548" /><Relationship Type="http://schemas.openxmlformats.org/officeDocument/2006/relationships/notesSlide" Target="/ppt/notesSlides/notesSlide1.xml" Id="R5054c594eee0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29aae962f411a" /><Relationship Type="http://schemas.openxmlformats.org/officeDocument/2006/relationships/notesSlide" Target="/ppt/notesSlides/notesSlide2.xml" Id="Ree1e734f64624e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2ebe97da9447d" /><Relationship Type="http://schemas.openxmlformats.org/officeDocument/2006/relationships/notesSlide" Target="/ppt/notesSlides/notesSlide3.xml" Id="R707d826684044b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f52325e574d67" /><Relationship Type="http://schemas.openxmlformats.org/officeDocument/2006/relationships/notesSlide" Target="/ppt/notesSlides/notesSlide4.xml" Id="R3bf68868eaff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d2fa59e8c4d10" /><Relationship Type="http://schemas.openxmlformats.org/officeDocument/2006/relationships/notesSlide" Target="/ppt/notesSlides/notesSlide5.xml" Id="Rc1b2b8a526b149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28b52d3534b42" /><Relationship Type="http://schemas.openxmlformats.org/officeDocument/2006/relationships/notesSlide" Target="/ppt/notesSlides/notesSlide6.xml" Id="R950b4d9c3c4a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c6db83234cb7" /><Relationship Type="http://schemas.openxmlformats.org/officeDocument/2006/relationships/notesSlide" Target="/ppt/notesSlides/notesSlide7.xml" Id="Rd7d1d9da839f46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9e3b51eb749b3" /><Relationship Type="http://schemas.openxmlformats.org/officeDocument/2006/relationships/notesSlide" Target="/ppt/notesSlides/notesSlide8.xml" Id="Rd4134cd1a1be4a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8d0226a004fb9" /><Relationship Type="http://schemas.openxmlformats.org/officeDocument/2006/relationships/notesSlide" Target="/ppt/notesSlides/notesSlide9.xml" Id="Rb591c1f90fb040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6d3a5f4784ad5" /><Relationship Type="http://schemas.openxmlformats.org/officeDocument/2006/relationships/notesSlide" Target="/ppt/notesSlides/notesSlide10.xml" Id="Re603d7f5972746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f911d95e34ef3" /><Relationship Type="http://schemas.openxmlformats.org/officeDocument/2006/relationships/notesSlide" Target="/ppt/notesSlides/notesSlide11.xml" Id="Rdfa0f29893d645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ec20cfd004b24" /><Relationship Type="http://schemas.openxmlformats.org/officeDocument/2006/relationships/notesSlide" Target="/ppt/notesSlides/notesSlide12.xml" Id="R045edcb75b5e48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8CEDE-8A8A-448F-8E11-AD12C926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F83FB-B442-4B46-82ED-E47DC34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E265B-1DA1-4BE7-B151-02A33A2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330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Fluentd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CE256-8B15-45D4-B7EC-6D1372FC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E4C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7E4C7"/>
                </a:solidFill>
                <a:latin typeface="Malgun Gothic"/>
                <a:ea typeface="Malgun Gothic"/>
                <a:cs typeface="Malgun Gothic"/>
              </a:rPr>
              <a:t>GAME SERVER LOGGING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36B70-2A08-4065-8986-5CBF9120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638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Fluentd로 게임 서버 로그 파이프라인을 설계한다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8E8E0-DC97-42B3-B277-8EF1EBC0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581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E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7E3EA"/>
                </a:solidFill>
                <a:latin typeface="Malgun Gothic"/>
                <a:ea typeface="Malgun Gothic"/>
                <a:cs typeface="Malgun Gothic"/>
              </a:rPr>
              <a:t>README 내용을 발표용 기술 브리핑으로 재구성한 12-slide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AC8E-C968-4CF8-A7A0-20C5EDA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F05E2-9D8C-47CF-8549-6C996E2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Collect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77C44-F08C-47F4-A13B-1EF0054A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6B477-212C-471E-BC63-1DBC2639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7D795-01BE-4B39-A63F-FBA6DD49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7DB53-088A-40B4-9789-F053C1CE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E2BF3-44E1-4A7C-9260-D539DA90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66B96-5936-4162-8385-C592AB9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Observe</a:t>
            </a:r>
          </a:p>
        </p:txBody>
      </p:sp>
    </p:spTree>
    <p:extLst>
      <p:ext uri="{BB962C8B-B14F-4D97-AF65-F5344CB8AC3E}">
        <p14:creationId xmlns:p14="http://schemas.microsoft.com/office/powerpoint/2010/main" val="8074058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56DF9-5A12-444F-A658-823FA64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D7F90-BABA-45B6-A838-FDF819D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4ED11-32AA-4A8A-B19E-2E5140E3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B588A-0B58-401C-8D12-4985753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1CEC2-88DB-47ED-90E2-4D2482B7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WHY LOG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F73C5-F631-41C6-8A72-35D389F6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로그는 출력 텍스트가 아니라 운영을 움직이는 데이터 자산이다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CBC43-B665-4153-A0EE-5740EE1E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667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F866A-223A-47EF-A5EA-46CF236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55AC1-DABC-40C2-B4CC-B0855787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859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장애 진단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8B4F4-34CF-4C07-9108-286D589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오류 원인과 재현 단서를 남긴다.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B636D-F94B-4B8D-BB12-CCB9AA2E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57375"/>
            <a:ext cx="4667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F8106-36EE-48C0-9D52-F29767F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24075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50B32-8145-44FF-82A5-48043AB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859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운영 모니터링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B6586-6D18-4567-B067-29C93AE1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49555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접속자, 지연, 처리량 변화를 추적한다.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4E225-B77E-4C16-8A07-A2E4CE7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667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89E00-17BB-4B12-BC31-3456297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088BA-DC98-4932-9EF7-238FA034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9572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보안 감사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6C157-C420-4968-8B45-AFA6C89E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부정 로그인과 비정상 행동을 기록한다.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4CAA5-D203-4D7B-A9FB-B85D96DD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67125"/>
            <a:ext cx="4667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1A7C7-48B8-454A-AE86-7A43545A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33825"/>
            <a:ext cx="114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A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BD34C-76F8-4AEB-921D-AE2009FA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게임 분석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A7E86-860A-4CFF-A448-A88317CA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3053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아이템, 스테이지, 플레이 패턴을 분석한다.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FBC23-1650-4D9F-9A6F-8BC9E80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01F0E-1ADF-498F-89BB-D373A548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22371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03FDA-C9BB-4ABD-96BA-5552D8C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B3C6C-0C56-4878-B941-D832BB2F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DB67A-973D-4C8C-885F-6CF2CE7A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95FD-9B89-4096-AF28-EE315E1B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E63B4-B195-4BEB-9FBC-0733CCFD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PIPELINE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D90D0-6FC5-4A3A-82F8-78647B6B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기본 흐름은 수집, 전송, 저장, 분석으로 고정된다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1CEE3-F1B4-431F-B031-E72A06F5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0E29A-D29D-4CEB-8ADD-1F158E2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Game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A5AD4-1230-4C5B-B3AC-13FA612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Serilog / file / socket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9BF97-56C4-4ABA-9563-7297611D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0680D-5F53-41E8-8605-BA3CE4DD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40F1B-FFCD-414C-9769-A10436E1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Fluentd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F21B5-5B77-4821-A664-99148C7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input +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B3F29-E614-459D-81D8-6626FC59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BEF6E-BFA2-4277-AFC3-F3C4BCC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C6889-E222-4BF5-8700-E6AC2477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20D93-7CEA-4316-B006-B28BA84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MySQL / MongoDB / file / 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09F94-AA29-4A8D-A95B-D9D0E23F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BCE92-67A1-4271-9477-4F5CF537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B0841-F687-4FCC-838B-1248771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AA5B6-387D-4224-AFA6-2248F33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Grafana / BI / alert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E94C3-F10E-41A4-9C09-3504A29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19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E5C5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DF600-DFF4-45D8-A16D-8BCF8C4A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핵심 계약: source에서 읽고, filter에서 구조화하고, match에서 목적지로 보낸다.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165E6-D07E-4DB5-BC89-8DF1B33F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2BC7F-EE89-4FB2-97FF-28E29B14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25214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CEECFD-59D4-4AA2-9BF5-E9B2FF14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2E82E-92BA-4B26-87C2-1BFE5BEC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1157E-C5F8-4522-829D-82CAD8A0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81EDA-86C8-4DBC-84E3-B9275544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843F0-FEF8-447D-B8B5-409303AA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WINDOWS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1DFEF-FC1C-487D-BCDC-9F9CC26F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Windows 실습은 fluent-package와 fluentd.conf를 기준으로 잡는다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60088-4874-459F-8B22-0581AFF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11E38-6868-40CF-9A1D-E43D4DAA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설치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9E424-AA40-4644-898D-95F7D6F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Fluent Package MSI 설치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기본 경로: C:/opt/fluent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설정 파일: etc/fluent/fluentd.conf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서비스: fluentdwinsvc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플러그인 설치: fluent-gem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3CE4-88AE-47A7-AED7-24382D21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BC826-1E5D-45FD-949A-3433431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5025"/>
            <a:ext cx="46101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net start fluentdwinsvc</a:t>
            </a:r>
          </a:p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Start-Service fluentdwinsvc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fluent-gem install fluent-plugin-mongo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8BBE6-747F-47EC-856B-1EF6A0F2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482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td-agent 명칭의 오래된 자료보다 fluent-package, fluentd.conf, fluentdwinsvc 기준으로 실습 문서를 정리한다.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70765-2D54-475B-8A38-E0E54DB3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81AA9-9311-4B48-919A-A1E33CE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32405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99E9B-B54A-4826-B2C4-1DC3227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C9DB3-2D3A-4DFC-AA4E-07F7232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09431-C27D-4058-86CE-E186671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2238E-2641-4573-AE62-B4CDA37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D6D43-30C3-4176-AEA3-ADE44F5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PLUGIN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DA328-ECCC-4536-BC7F-5F022187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Fluentd의 강점은 Input, Filter, Output을 조합하는 구조다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24927-5512-41D9-A3B6-5858538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1BF38-712E-4170-92DE-F92DE80D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15062-35C3-47AA-813C-4355BF4B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051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E9029-C7FA-4EF3-9239-89A7BABC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043F3-0C53-4B1B-8025-6767B0CC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04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9D70C-8AB8-4179-9C31-F0227344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9E581-8609-4B5E-9C08-3DF38D79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A11D2-0668-4220-899A-A903447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forward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BE83A-4CEF-424B-B273-B9FBB5D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47E9F-C129-452E-BAE7-E3E43CA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00FD2-64AD-45BA-857B-46FBBFD7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07A5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07A59"/>
                </a:solidFill>
                <a:latin typeface="Malgun Gothic"/>
                <a:ea typeface="Malgun Gothic"/>
                <a:cs typeface="Malgun Gothic"/>
              </a:rPr>
              <a:t>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C5D69-E877-4339-9812-0474675A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051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E068E-2555-4C98-85B8-619F4FFB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64D2D-7FC7-4E36-BF59-104B069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3FFFC-37EB-4A21-BF0D-4F45CA75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grep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C1F4A-3F4E-4D09-A15D-03A9FB7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957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90164-4747-42B0-9859-525C3D99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record_transformer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CA5850-70AE-42EB-89AC-3B4EDB57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E8C81-A29C-4BF8-AD74-CB0CE43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52625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2C908-487C-41C6-B4FF-D6B19F24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6E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76E00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52211-9DBB-4EE0-9144-F43CD7F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BF32B-FD30-41F0-A0CC-199A97B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D3488-7D3F-4FE2-958E-76A79C3B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04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71418-B00B-4014-BCBA-A0BF08E0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mysql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293F0-4AD6-4925-B54A-F40C9029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957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C3922-B10D-443C-90BB-C5177FC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mongo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049E0C-C66A-4612-9A2C-35C2633C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91025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2B038-928A-4560-9B87-86B0949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s3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584FE-2354-4234-80E1-ACDFF6D7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A847A-53C5-4A62-A239-6E08C7F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2541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008C4-15EA-4DF8-BB35-4A474793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A4D86-421B-49FD-9C14-69070F18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D70AD-F4FF-46ED-9503-62275D3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033EF-4245-42FC-B3DD-CC7FF600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212F-F472-4CC5-AB69-0DCA4488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FIRST COLLECTION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3ECEC-7B99-438F-A22E-85F856AC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첫 실습은 파일 tail과 pos_file의 의미를 이해하는 것이다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F86D1-8987-42FD-ABB6-8DC6BE6C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B06A8-228D-4C75-899B-16A2D8AD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9911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&lt;source&gt;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@type tail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path C:/logs/app.log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pos_file C:/logs/app.log.pos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tag app.demo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&lt;parse&gt;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  @type none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&lt;/parse&gt;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&lt;/source&gt;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&lt;match app.demo&gt;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  @type stdout</a:t>
            </a:r>
          </a:p>
          <a:p xmlns:a="http://schemas.openxmlformats.org/drawingml/2006/main">
            <a:pPr algn="l">
              <a:def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8EEF6"/>
                </a:solidFill>
                <a:latin typeface="Cascadia Mono"/>
                <a:ea typeface="Cascadia Mono"/>
                <a:cs typeface="Cascadia Mono"/>
              </a:rPr>
              <a:t>&lt;/match&gt;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D12B0-565D-4B78-8754-AFC8BDF6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6F780-21E8-475E-A9DD-20248D71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240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D8522-F63E-4171-93F7-F9A5E4D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859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tail 입력은 새로 추가된 로그를 이벤트로 처리한다.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3170C-3619-4E53-8296-FB29B465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7861C-D949-4A75-9775-85100AD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90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59C69-73A9-4559-9F31-EC79B1D4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527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pos_file은 어디까지 읽었는지 저장해 재시작 후 중복과 누락을 줄인다.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E8CF1-BE7F-4830-8523-71D4A72D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AA58A-A9EE-487B-8E4E-7E1FFBC8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A318F-1FCE-4177-9857-0AFC9B5C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95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stdout 출력은 파이프라인 동작을 눈으로 확인하는 가장 빠른 방법이다.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1995F-9D0D-4B41-9195-DEF57A9E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EC87E-5615-4160-B856-28BE41B5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64609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7B2F6-A578-464C-9AC2-4316BC00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67C7A-484F-46E9-99B4-0B242B1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50675-7ED4-4D9A-9118-DDB553E7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45658-65B4-4624-A4BD-E0F1B127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9FCF9-F844-447B-9A18-C792EEC8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SERILOG LINK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C5F44-B66E-4B78-B7D5-B851372F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C# 서버는 JSON 파일을 쓰고 Fluentd가 in_tail로 읽는 구성이 안정적이다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A1490-C16B-4D2F-A888-9DDBC098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8FF02-93EA-4DF7-AB02-BBA03103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ASP.NET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A8125-9B42-4329-A634-66520AE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C3F52-1817-4304-926D-B719E6A8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3345B-F33C-4F37-A4FC-5538B734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Serilog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AFB0A-A83B-414C-B7C7-ACA021CF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84825-8E66-4DD8-A9F8-B242CDF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C32C-D67F-423C-886F-289F963E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JSON log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F7EE0-0FCC-4423-BCC8-7AE931AA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80E0F-C701-4F51-AB73-A3E84A54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33625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79E68-B36F-4012-81C0-E207D7E6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Fluentd in_tail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41177-E84E-47C5-9493-FB89DBC1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94A1D-4237-450D-8008-E1105FE3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33625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4093C-AA65-4E7E-90F5-AE1EC2E3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DB / stdout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AC935-C28F-4115-AD49-CA82DFF9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95750"/>
            <a:ext cx="8477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7DC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CF024-2C46-4390-B22D-2155791B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762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애플리케이션은 Fluentd 장애에 직접 덜 묶인다.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파일 위치 기반 재시작 복구가 쉽다.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- Forward 프로토콜과 raw TCP/UDP 입력은 구분해야 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9AF89-1057-4330-94A2-4CC8CBD3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A7984-2596-49FD-A7FC-E1AF3D3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23246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0E06B-338F-426C-91F9-7F88E7FE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0AC5-3D1A-47A6-A9DA-F451F21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1B86B-7C79-43F5-AA65-AAA4227A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F409E-0F9C-4580-A87E-F446F22A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6CAB1-01B2-4F05-9B1C-7378AAB1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SERVER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D952A-94A7-4675-94A0-4E4771DA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API 서버와 Socket 서버는 같은 파이프라인에 다른 태그로 합류한다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883AD-AFAF-49F1-BD92-2CCED124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571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69482-A902-4D49-9991-874DBF6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API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1D6A2-EEB0-4EE8-AE82-4C59B68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0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Request /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233EE-331C-4BA1-9415-388879D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F6321-F7CF-4220-B4AA-71CAD833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338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game.api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BB541-225A-4DFA-A9E4-E3795220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E1D5E-E65F-4775-AC5D-1DE6D9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571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CA636-248A-40E6-8B03-96206924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Socket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B3098-A626-4CF3-ACF1-BF6BAE70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Connect / Disconnect / Message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493A5-2143-471F-9DC3-F87C1ADE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576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7D950-D8B2-4513-A94E-6DCDC8F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338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2563EB"/>
                </a:solidFill>
                <a:latin typeface="Cascadia Mono"/>
                <a:ea typeface="Cascadia Mono"/>
                <a:cs typeface="Cascadia Mono"/>
              </a:rPr>
              <a:t>game.socket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C6350-810F-4E87-9DBC-7C379DBE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FE71A-519E-42F9-BCDF-3475B845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25717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02A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88B67-A14E-4663-98B7-63DF79B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Fluentd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9D08C-11A6-41E0-B12F-3F8D18EF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0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rPr>
              <a:t>route by tag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FB895-1ADA-435F-9D1F-F312CB79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53913-A584-46E4-AF87-A7320EA3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338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match game.*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6B9C0-59E2-4DEB-BB02-09200C90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96849-594B-42F4-86F8-EC44F550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27706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D9CF6-7F49-40CC-8667-701ECF99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759AD-7E74-4BB7-9940-17F2FAA0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59AC4-4652-413F-86F0-AB3B631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42ACE-D5F8-43F3-BAD3-BC877901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E7A1A-AD91-462D-9D25-965E8ED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STORAGE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3E7AD-4ED0-4492-A07F-85401A99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저장소 선택은 조회 패턴과 보관 정책이 먼저 결정한다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C2316-C862-416B-9550-2AD0C24B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9080D-3E74-4B11-BE84-1A33264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280DF-BF85-4391-88FB-5A4D4324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35A27-CFFD-4256-8260-F105BEE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431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맞는 상황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6D5BB-5FE6-4512-BD34-CBC9CC7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E8F25-EAE0-4B2D-9AD6-F332E69F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포인트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7C3F7-E0F7-43AD-9393-A01D3322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93393-4987-4AF9-BF37-197F87D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A13A6-6907-4ABC-93E5-94F18801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36B36-9F4D-465C-BEB4-63F4F78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696F9-0F23-4147-9850-0A6D220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622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정형 스키마, 인덱스, 집계 쿼리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AE599-DAD9-4B6D-B1F3-A5C41E72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파티션과 인덱싱 전략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C0FFF-8938-4D43-860E-DBCF0D0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4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DBFE2-0489-491E-A8EE-ACC6F6A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4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E6EB8-CC68-46C8-8761-B5DDA40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4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D7C1F-7DDD-4009-954B-066A143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07A5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07A59"/>
                </a:solidFill>
                <a:latin typeface="Malgun Gothic"/>
                <a:ea typeface="Malgun Gothic"/>
                <a:cs typeface="Malgun Gothic"/>
              </a:rPr>
              <a:t>MongoDB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49719-911F-4CFE-8E79-5151F13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이벤트 문서, 유연한 필드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7D408-AC37-4493-9766-9DABA53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TTL 인덱스와 대량 처리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885DA-3854-4E30-B047-30FA886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6C31E-448E-479D-A93F-B432C3C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15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A3CD1-23FA-40E3-871F-EB9F4E28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367AC-7AF6-445C-8102-C9ED42B9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6E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76E00"/>
                </a:solidFill>
                <a:latin typeface="Malgun Gothic"/>
                <a:ea typeface="Malgun Gothic"/>
                <a:cs typeface="Malgun Gothic"/>
              </a:rPr>
              <a:t>S3/GCS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3C4FCC-B339-4BA9-84B3-4C65B4B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6247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장기 보관과 아카이빙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11791-84C1-4F23-8655-9F797B1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압축과 경로 정책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519AF2-6262-4E1F-9516-74EACEE1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47A8D-C3D4-4A32-BBCD-32E3D3D2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36292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7FBDA-2E81-4171-AF6E-F316A88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BD982-A7B8-4BCB-BB4C-82C137C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26BCA-EBA7-434A-90FE-37430DC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57064-CCA4-4858-B1EF-138BACE2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38963-0387-47E8-A82F-8A8AE1AF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OPERATING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DCC69-094F-46C3-8352-A414634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서버가 늘어나면 Agent와 Aggregator를 분리해야 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77BDC-CAA5-41CD-BAD1-CBF06AF3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35F8A-779A-4E05-948B-B1E629C5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289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1-10대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61437-E307-46CC-BE17-9118FBB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86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각 서버 Fluentd -&gt; DB /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7D3C9-D66F-4E70-BA66-6E8330F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FE66A-DE8C-4333-BD03-A1B9BBF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25717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139D3-4729-4DEE-9F9F-9BF3153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50-100대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35BAB-6052-4AE9-94E3-EE203466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8610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Agent -&gt; Aggregator -&gt;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0604-DD85-4A42-8AD0-BD4EDA9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19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1">
                <a:solidFill>
                  <a:srgbClr val="008C95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B6FA9-B2BD-4573-A4AC-B828930E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62150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02A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6FECA-8549-44A9-B9F7-9CE6C67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288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200대+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2940C-D6AF-43A8-8482-A819E2B9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860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E8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DE8FF"/>
                </a:solidFill>
                <a:latin typeface="Malgun Gothic"/>
                <a:ea typeface="Malgun Gothic"/>
                <a:cs typeface="Malgun Gothic"/>
              </a:rPr>
              <a:t>Aggregator cluster + HA + load balancing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4F621-5AE6-4857-A649-6CD54A4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규모가 커질수록 DB로 직접 쓰는 구조보다 중앙 Aggregator에서 retry/failover를 관리하는 구조가 안정적이다.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5A585-D9E9-4C7F-95EC-297D809B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2AB18-5DD1-461A-A978-3D748D9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75936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B9A95-28D8-4C95-8FDE-42AA382E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A47B3-DB2F-4FDE-A41E-1BD17B0A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703B6-F212-4947-8B0C-3953898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FA6FD-CF2A-48F4-A2E7-68F8389C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8F909-7EFA-4B58-8BCA-A4613A9F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PERFORMANCE &amp; RESILIENCE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246B7-2CF8-4F31-89AC-7F02244C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81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성능 최적화는 버퍼, 재시도, 병목 제거의 조합이다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22D2D-C597-47C4-A8A2-F34D3206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C4265-CCA1-4859-A892-620936D8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14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07A5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07A59"/>
                </a:solidFill>
                <a:latin typeface="Malgun Gothic"/>
                <a:ea typeface="Malgun Gothic"/>
                <a:cs typeface="Malgun Gothic"/>
              </a:rPr>
              <a:t>File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CB49D-99EC-4EA3-81DB-452FC0E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955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프로세스 다운 시 유실 위험을 낮춘다.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CEAF6-CDC0-496E-AC70-D538F215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C29CF-22C2-495C-ABBB-06C94448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Chunk 8-32MB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21701-70D8-40D1-A03E-C565C10D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I/O 오버헤드와 전송 지연을 균형화한다.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3AAE5-60D0-4847-81ED-F477952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AC966-3163-45E9-BB21-8A8D4367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33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6E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76E00"/>
                </a:solidFill>
                <a:latin typeface="Malgun Gothic"/>
                <a:ea typeface="Malgun Gothic"/>
                <a:cs typeface="Malgun Gothic"/>
              </a:rPr>
              <a:t>Flush 5-10s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E253D-5274-4A13-90FF-A2F7FF6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148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게임 서버 로그 지연을 낮춘다.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FC717-3AA2-4414-8EFD-BB013E2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5D72-A7C5-41AE-AB71-401FB361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B4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13B45"/>
                </a:solidFill>
                <a:latin typeface="Malgun Gothic"/>
                <a:ea typeface="Malgun Gothic"/>
                <a:cs typeface="Malgun Gothic"/>
              </a:rPr>
              <a:t>Retry Backoff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FD18D-92B6-4D3F-BC8C-414223D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장애 중 저장소 부하를 키우지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E9808-BA03-4D27-90AC-EEEE79D1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9E062-A8D4-471A-B576-987BD47E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790521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CB9F9-C9C6-4F99-9B0B-678C3667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B8D44-5752-4A7D-B578-49AAFC54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C8CE4-F096-48C6-96F3-D8E0410C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E1B5-AA08-4D45-AB1F-ADB029EF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E0952-5523-4FCC-BD85-44772BB8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08C95"/>
                </a:solidFill>
                <a:latin typeface="Malgun Gothic"/>
                <a:ea typeface="Malgun Gothic"/>
                <a:cs typeface="Malgun Gothic"/>
              </a:rPr>
              <a:t>SECURE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5C6B4-771B-48F6-BE7B-751B6BD0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38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운영 단계의 완료 조건은 TLS, 접근 제어, 보관 주기까지 포함한다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959A0-7E30-45E9-9469-728F1B0A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27C2D-799D-4274-93DD-0A2BFE7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02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90AEA-4AD7-4AA2-9EBD-26A7FED1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TLS/mTLS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146B3-544D-402E-9133-F77864F0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Agent -&gt; Aggregator와 Aggregator -&gt; DB 전송 구간 암호화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7EE41-FF69-48C1-A6FF-F6730DD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95500"/>
            <a:ext cx="9048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3DC3A-9BD7-4FAE-B867-F18B35DC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AC45D-4768-4F8F-BFB1-8C4167DE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4819A-910E-4EF3-B59D-60B03106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479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Access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88A00-1B54-4A07-A9FF-0FC4124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forward security, shared key, 허용 네트워크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22099-D22C-4248-A472-F0433231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76550"/>
            <a:ext cx="9048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6E1D2-DA6A-4DB2-8774-EC45293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04CA3-1489-40D0-B9BA-4A020566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BFA80-D04E-4A50-8240-99925482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289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Least Privilege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2966D-2257-4214-8590-CA0232CC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575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서비스 계정과 DB 계정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71779-A69C-49AB-B1D9-C4A8ECF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57600"/>
            <a:ext cx="9048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F895C-35A6-4A96-813E-5883A421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A7A1F-1C56-4213-B846-75AF889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5DA0E-9CC5-4828-A7E0-352FFEB8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00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681BC-D1DA-4A68-B5E4-187EB722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운영 30일, 보안/결제 6-12개월, 감사 3년 이상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F9DA7-F69D-4623-A56D-518A158E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38650"/>
            <a:ext cx="9048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3FAC4-477D-423D-896A-2C47220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67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26556-B869-4909-A30F-21DCDD1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7C8B6-A375-45AF-8791-34415658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910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Monitoring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AB075-B0F3-49FD-945D-5B253075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96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Prometheus metrics와 Grafana alert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34F63-D0F8-4EBC-80B6-86B8E1C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19700"/>
            <a:ext cx="9048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6F0FA-524D-4081-9058-2ED9D485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A6470"/>
                </a:solidFill>
                <a:latin typeface="Malgun Gothic"/>
                <a:ea typeface="Malgun Gothic"/>
                <a:cs typeface="Malgun Gothic"/>
              </a:rPr>
              <a:t>Fluentd 로그 수집과 전송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4B9AD-3FD8-4049-B35F-D4F6033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8765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2026-06-08T14:16:54.7350000Z</dcterms:created>
  <dcterms:modified xsi:type="dcterms:W3CDTF">2026-06-08T14:16:54.7350000Z</dcterms:modified>
</coreProperties>
</file>