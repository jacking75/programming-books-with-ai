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5943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82880"/>
            <a:ext cx="3200400" cy="2743200"/>
          </a:xfrm>
          <a:prstGeom prst="rect">
            <a:avLst/>
          </a:prstGeom>
          <a:solidFill>
            <a:srgbClr val="00C8E0">
              <a:alpha val="12000"/>
            </a:srgbClr>
          </a:solidFill>
          <a:ln w="12700">
            <a:solidFill>
              <a:srgbClr val="00C8E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286000" cy="2286000"/>
          </a:xfrm>
          <a:prstGeom prst="rect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6B35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57200"/>
            <a:ext cx="2377440" cy="29260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TimescaleDB  완벽 가이드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게임 서버를 위한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TimescaleDB 완벽 가이드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+ SQLKata + Docker로 구현하는 게임 서버 시계열 데이터 시스템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029200" cy="0"/>
          </a:xfrm>
          <a:prstGeom prst="line">
            <a:avLst/>
          </a:prstGeom>
          <a:noFill/>
          <a:ln w="19050">
            <a:solidFill>
              <a:srgbClr val="00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저자: 최흥배 · Claude AI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371600" cy="320040"/>
          </a:xfrm>
          <a:prstGeom prst="rect">
            <a:avLst/>
          </a:prstGeom>
          <a:solidFill>
            <a:srgbClr val="1D4E89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/ .NET 9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57400" y="3931920"/>
            <a:ext cx="1371600" cy="320040"/>
          </a:xfrm>
          <a:prstGeom prst="rect">
            <a:avLst/>
          </a:prstGeom>
          <a:solidFill>
            <a:srgbClr val="1D4E89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SQLKata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66160" y="3931920"/>
            <a:ext cx="1371600" cy="320040"/>
          </a:xfrm>
          <a:prstGeom prst="rect">
            <a:avLst/>
          </a:prstGeom>
          <a:solidFill>
            <a:srgbClr val="1D4E89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4920" y="3931920"/>
            <a:ext cx="1371600" cy="320040"/>
          </a:xfrm>
          <a:prstGeom prst="rect">
            <a:avLst/>
          </a:prstGeom>
          <a:solidFill>
            <a:srgbClr val="1D4E89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Chapters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1097280"/>
            <a:ext cx="2011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0C8E0">
                    <a:alpha val="3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Server</a:t>
            </a:r>
            <a:endParaRPr lang="en-US" sz="20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00C8E0">
                    <a:alpha val="3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Monitoring</a:t>
            </a:r>
            <a:endParaRPr lang="en-US" sz="2000" dirty="0"/>
          </a:p>
          <a:p>
            <a:pPr algn="r" indent="0" marL="0">
              <a:buNone/>
            </a:pPr>
            <a:r>
              <a:rPr lang="en-US" sz="2000" dirty="0">
                <a:solidFill>
                  <a:srgbClr val="00C8E0">
                    <a:alpha val="30000"/>
                  </a:srgb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029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책에 대하여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게임 서버의 시계열 데이터 문제를 TimescaleDB로 해결하는 실전 가이드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69748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697480" cy="457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 무엇을 다루는가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MMORPG 급 대용량 게임 서버 로그·메트릭 데이터 관리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TimescaleDB Hypertable, 연속 집계, 압축 실전 활용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C# + SQLKata + Docker 기반 개발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실시간 대시보드·이상 탐지 시스템 구축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플레이어 행동 분석 (코호트, 퍼널, 리텐션)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18688" y="1325880"/>
            <a:ext cx="269748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325880"/>
            <a:ext cx="26974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417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 누구를 위한 책인가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80136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게임 서버 백엔드 개발자 (주니어~시니어)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로그·메트릭 시스템 구축을 처음 경험하는 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MySQL/PostgreSQL로 성능 한계를 느낀 개발자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C# / .NET 환경에서 시계열 DB 도입을 검토 중인 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17336" y="1325880"/>
            <a:ext cx="269748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325880"/>
            <a:ext cx="2697480" cy="4572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417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  무엇을 만드는가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54496" y="1801368"/>
            <a:ext cx="2423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실시간 서버 성능 메트릭 수집 에이전트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대용량 플레이어 이벤트 로그 시스템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SignalR 기반 실시간 대시보드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자동 이상 탐지 및 Slack 알림 시스템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자동화된 데이터 압축·보관 파이프라인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029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목차 — 20개 챕터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파트로 구성된 단계별 학습 로드맵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420624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1207008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075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 기초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  문제 인식 &amp; TimescaleDB 소개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2  개발 환경 구축 (Windows + Docker)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81728" y="1261872"/>
            <a:ext cx="420624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261872"/>
            <a:ext cx="54864" cy="1207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3075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 핵심 개념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18888" y="1609344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3  Hypertable의 이해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4  C# + SQLKata CRUD 마스터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5  시간 함수 완전 정복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96896"/>
            <a:ext cx="420624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96896"/>
            <a:ext cx="54864" cy="12070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426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 데이터 수집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94436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6  서버 성능 메트릭 수집 시스템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7  게임 로그 수집 및 분석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81728" y="2596896"/>
            <a:ext cx="420624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81728" y="2596896"/>
            <a:ext cx="54864" cy="1207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6426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 고급 기능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8888" y="294436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8  연속 집계 (Continuous Aggregates)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9  데이터 압축 &amp; 보관 정책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10 고급 쿼리 최적화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931920"/>
            <a:ext cx="420624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931920"/>
            <a:ext cx="54864" cy="1207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776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 운영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27939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11 백업 &amp; 복구 전략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12 실시간 이상 탐지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13 대용량 마이그레이션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14 멀티 리전 &amp; 확장성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81728" y="3931920"/>
            <a:ext cx="4206240" cy="12070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3931920"/>
            <a:ext cx="54864" cy="1207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9776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  프로젝트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18888" y="427939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15 종합 프로젝트 1 — 실시간 대시보드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16 종합 프로젝트 2 — 플레이어 분석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17 성능 튜닝 케이스 스터디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18 외부 도구 연동 (Grafana 등)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19 보안 &amp; 권한 관리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20 다음 단계로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— 문제 인식 &amp; 환경 구축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 · Chapter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TimescaleDB인가? 실전 사례로 배우는 문제의 본질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393192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5844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358444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갑자기 느려진 게임 서버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90448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45초 → TimescaleDB 0.3초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위기 사례로 배우는 TimescaleDB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3520440"/>
            <a:ext cx="393192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5844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3560" y="358444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환경 구축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90448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+ pgAdmin + Visual Studio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 만에 완성하는 개발 환경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029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1: 갑자기 느려진 게임 서버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6개월, 성공한 MMORPG '던전 크로니클'에 닥친 재앙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2743200" cy="3337560"/>
          </a:xfrm>
          <a:prstGeom prst="rect">
            <a:avLst/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898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출시 1개월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2468880" cy="0"/>
          </a:xfrm>
          <a:prstGeom prst="line">
            <a:avLst/>
          </a:prstGeom>
          <a:noFill/>
          <a:ln w="1016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0195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동접자: 5,000명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2374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이벤트: 1,000만 건/일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크기: 8 GB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76732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응답: 0.05초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27832" y="1298448"/>
            <a:ext cx="2743200" cy="333756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64992" y="13898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3개월 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64992" y="1801368"/>
            <a:ext cx="2468880" cy="0"/>
          </a:xfrm>
          <a:prstGeom prst="line">
            <a:avLst/>
          </a:prstGeom>
          <a:noFill/>
          <a:ln w="1016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90195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동접자: 15,000명 ↑300%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0712" y="252374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이벤트: 3,000만 건/일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0712" y="31455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크기: 120 GB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10712" y="376732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응답: 2.3초 ↑4600%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35624" y="1298448"/>
            <a:ext cx="2743200" cy="333756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72784" y="13898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6개월 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72784" y="1801368"/>
            <a:ext cx="2468880" cy="0"/>
          </a:xfrm>
          <a:prstGeom prst="line">
            <a:avLst/>
          </a:prstGeom>
          <a:noFill/>
          <a:ln w="1016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8504" y="190195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동접자: 50,000명 ↑1000%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18504" y="252374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이벤트: 1억 건/일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18504" y="31455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크기: 580 GB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18504" y="376732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응답: 45초+ ↑90000%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4736592"/>
            <a:ext cx="85039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7365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데이터 50배 증가 → 쿼리 시간 1,560배 증가  |  단순 RDBMS 구조의 한계 명확히 드러남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029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1: TimescaleDB가 해결하는 5가지 핵심 문제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위에 올라탄 시계열 특화 확장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8016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27432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716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  자동 파티셔닝 (Hypertable)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78308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기준 자동 파티셔닝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한 줄: create_hypertable()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 단위 자동 관리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28016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280160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716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 Chunk Pruning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7일치 쿼리 → 해당 Chunk만 스캔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45초 → TimescaleDB 0.3초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150배 빠름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35624" y="128016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35624" y="128016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3716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🗜  자동 데이터 압축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78308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580 GB → 58 GB (10:1 압축)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스토리지 비용 90% 절감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Chunk 자동 압축 정책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0040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0040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2918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 연속 집계 (Continuous Agg.)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" y="37033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6억 건 집계 → 720건 집계 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0.1초 대시보드 응답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5분마다 자동 갱신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7832" y="320040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27832" y="3200400"/>
            <a:ext cx="27432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2918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🕐  데이터 보관 정책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3703320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90일 경과 데이터 자동 삭제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DELETE 불필요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한 줄 정책 설정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029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2: 개발 환경 구축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 만에 완성하는 TimescaleDB 개발 환경 — Windows + Docker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71600"/>
            <a:ext cx="621792" cy="6217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90472" y="1682496"/>
            <a:ext cx="502920" cy="0"/>
          </a:xfrm>
          <a:prstGeom prst="line">
            <a:avLst/>
          </a:prstGeom>
          <a:noFill/>
          <a:ln w="25400">
            <a:solidFill>
              <a:srgbClr val="00C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084832"/>
            <a:ext cx="1508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" y="2148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Desktop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56032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WSL 2 기반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TimescaleDB 컨테이너 실행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42032" y="1371600"/>
            <a:ext cx="621792" cy="6217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3716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9544" y="1682496"/>
            <a:ext cx="502920" cy="0"/>
          </a:xfrm>
          <a:prstGeom prst="line">
            <a:avLst/>
          </a:prstGeom>
          <a:noFill/>
          <a:ln w="25400">
            <a:solidFill>
              <a:srgbClr val="00C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30552" y="2084832"/>
            <a:ext cx="1508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03704" y="2148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TimescaleDB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03704" y="256032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timescale/timescaledb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:latest-pg16 이미지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61104" y="1371600"/>
            <a:ext cx="621792" cy="6217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61104" y="13716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28616" y="1682496"/>
            <a:ext cx="502920" cy="0"/>
          </a:xfrm>
          <a:prstGeom prst="line">
            <a:avLst/>
          </a:prstGeom>
          <a:noFill/>
          <a:ln w="25400">
            <a:solidFill>
              <a:srgbClr val="00C8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9624" y="2084832"/>
            <a:ext cx="1508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22776" y="2148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22776" y="256032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관리 도구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Tool, ERD 뷰어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0176" y="1371600"/>
            <a:ext cx="621792" cy="6217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13716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47688" y="1682496"/>
            <a:ext cx="502920" cy="0"/>
          </a:xfrm>
          <a:prstGeom prst="line">
            <a:avLst/>
          </a:prstGeom>
          <a:noFill/>
          <a:ln w="25400">
            <a:solidFill>
              <a:srgbClr val="00C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68696" y="2084832"/>
            <a:ext cx="1508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41848" y="2148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 Studio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41848" y="256032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.NET 9 콘솔 앱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구조 설계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99248" y="1371600"/>
            <a:ext cx="621792" cy="6217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9248" y="137160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87768" y="2084832"/>
            <a:ext cx="1508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360920" y="2148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NuGet 패키지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60920" y="2560320"/>
            <a:ext cx="1371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Npgsql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SqlKata + Execution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931920"/>
            <a:ext cx="85039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77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 TimescaleDB! — 첫 연결 성공 시 출력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2976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TimescaleDB 버전: 2.13.0   ✓ 현재 시간: 2025-05-18 12:34:56 UTC   ✓ 메시지: Hello TimescaleDB!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 — Hypertable·CRUD·시간 함수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3 · Chapter 4 · Chapter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TimescaleDB를 다루는 개발자의 핵심 무기 세 가지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3520440"/>
            <a:ext cx="274320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358444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35844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Hypertable의 이해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390448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파티셔닝 &amp; Chunk Pruning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28초 → 0.4초 조회 성능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3520440"/>
            <a:ext cx="274320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358444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59352" y="35844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+ SQLKata CRUD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390448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안전한 Fluent API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INSERT 16배 성능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35624" y="3520440"/>
            <a:ext cx="274320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358444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67144" y="35844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함수 완전 정복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45352" y="390448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time_bucket() 집계 마스터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타임존 &amp; first/last 함수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029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3: Hypertable — 시간을 다루는 마법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파티셔닝으로 수천만 건도 0.4초 안에 조회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39319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89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Hypertable 구조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347472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1:  Dec 22~28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487168"/>
            <a:ext cx="3474720" cy="548640"/>
          </a:xfrm>
          <a:prstGeom prst="rect">
            <a:avLst/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8716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2:  Dec 15~21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145536"/>
            <a:ext cx="3474720" cy="54864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4553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3:  Dec 08~14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803904"/>
            <a:ext cx="347472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0390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 4:  Dec 01~07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5262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⬆  자동 생성 · 자동 관리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62272" y="1298448"/>
            <a:ext cx="4361688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E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62272" y="1298448"/>
            <a:ext cx="54864" cy="117043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1344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한 줄로 변환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08576" y="1664208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create_hypertable('player_login_logs', 'login_time');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62272" y="2560320"/>
            <a:ext cx="4361688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E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62272" y="2560320"/>
            <a:ext cx="54864" cy="117043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08576" y="2606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 Pruning — 필요한 Chunk만 스캔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08576" y="2926080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5,400만 건  →  해당 주 300만 건만 읽음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28초  →  0.4초  (약 70배 향상)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62272" y="3822192"/>
            <a:ext cx="4361688" cy="1170432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E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62272" y="3822192"/>
            <a:ext cx="54864" cy="1170432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3867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Chunk 생성 &amp; 크기 조정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08576" y="418795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-- 1일 Chunk 간격 설정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set_chunk_time_interval(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'player_login_logs',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INTERVAL '1 day');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029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4 &amp; 5: SQLKata CRUD + 시간 함수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안전한 쿼리 빌더와 time_bucket의 강력한 조합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4206240" cy="3611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SQLKata — Fluent 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393192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실패한 로그인 조회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results = await db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.Query("player_login_logs")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.Where("login_time", "&gt;=", cutoff)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.Where("login_result", "FAILED")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.WhereIn("device_type",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new[] { "Android", "iOS" })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.OrderByDesc("login_time")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.GetAsync&lt;PlayerLoginLog&gt;();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배치 INSERT (500건 → 150ms)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db.Query("player_login_logs")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.InsertAsync(batchData);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98448"/>
            <a:ext cx="4114800" cy="3611880"/>
          </a:xfrm>
          <a:prstGeom prst="rect">
            <a:avLst/>
          </a:prstGeom>
          <a:solidFill>
            <a:srgbClr val="0D1B2A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time_bucket — 시간대별 집계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810512"/>
            <a:ext cx="388620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5분 단위 동시 접속자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stats = await db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.Query("player_login_logs")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.WhereBetween("login_time",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startTime, endTime)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.SelectRaw(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"time_bucket('5 minutes',"+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login_time) as bucket")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.SelectRaw(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"COUNT(DISTINCT player_id)"+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as ccu")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.GroupByRaw("bucket")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.OrderByRaw("bucket")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.GetAsync();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DAU, ARPU, 매출 추이도 동일 패턴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— 메트릭 &amp; 게임 로그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6 · Chapter 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수천 건 데이터를 효율적으로 저장하는 고성능 수집 파이프라인 구축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393192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5844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358444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성능 메트릭 수집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90448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CPU·메모리·네트워크 1초 주기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1,000건 배치 삽입으로 부하 최소화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3520440"/>
            <a:ext cx="393192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58444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23560" y="358444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로그 수집 &amp; 분석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90448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로그인·아이템·던전·결제 이벤트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JSONB 유연한 컨텍스트 저장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029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6 &amp; 7: 서버 메트릭 수집 + 게임 로그 시스템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성능 모니터링 Agent와 이벤트 로그 파이프라인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42062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📡  Ch6 — 서버 성능 메트릭 수집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수집 항목: CPU, 메모리, 네트워크, 디스크 I/O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주기: 1초마다 Windows 성능 카운터 수집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배치 삽입: 1,000건 단위 → 데이터베이스 부하 최소화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트랜잭션 처리로 데이터 무결성 보장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server_metrics Hypertable에 자동 파티셔닝 저장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실시간 CPU 급증 · 메모리 누수 감지 지원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298448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298448"/>
            <a:ext cx="41148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🎮  Ch7 — 게임 로그 수집 &amp; 분석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로그인/로그아웃 · 아이템 획득/사용/거래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던전 입장/클리어 · 몬스터 처치 · 퀘스트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JSONB로 유연한 추가 컨텍스트 저장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플레이어 행동 패턴 분석 쿼리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아이템 경제 흐름 추적 (골드 인플레이션 감지)</a:t>
            </a:r>
            <a:endParaRPr lang="en-US" sz="11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다중 계정 의심 IP 자동 탐지 (어뷰징 방지)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기능 — 집계·압축·최적화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8 · Chapter 9 · Chapter 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대시보드, 스토리지 비용 90% 절감, 수억 건에서 1초 쿼리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3520440"/>
            <a:ext cx="274320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35844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집계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390448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45초 → 0.1초 대시보드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자동 갱신 정책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3520440"/>
            <a:ext cx="274320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35844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압축 &amp; 보관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390448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580 GB → 58 GB (90% 절감)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압축·삭제 파이프라인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35624" y="3520440"/>
            <a:ext cx="274320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35844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31152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고급 쿼리 최적화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45352" y="390448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EXPLAIN ANALYZE 실전 활용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Chunk Exclusion &amp; 복합 인덱스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029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8: 연속 집계 (Continuous Aggregates)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대시보드의 비밀 — 45초 → 0.1초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85039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Hypertable  →  Background Job 자동 집계  →  Materialized View  →  대시보드 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359152"/>
            <a:ext cx="4114800" cy="26060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 집계 전 — 원본 테이블 직접 조회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6억 건 스캔 후 집계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쿼리 실행 시간: 45초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대시보드 로딩 불가 (타임아웃)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DB 부하 급증 → 게임 서버 영향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2359152"/>
            <a:ext cx="4114800" cy="260604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423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 연속 집계 뷰 조회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미리 집계된 720건만 읽음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쿼리 실행 시간: 0.1초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5분마다 자동 갱신 (정책 설정)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DB 부하 없이 실시간성 유지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029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9 &amp; 10: 데이터 압축 + 고급 쿼리 최적화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스토리지 90% 절감 &amp; EXPLAIN ANALYZE 실전 활용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41605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🗜  Ch9 — 데이터 압축 &amp; 보관 정책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효과 비교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34747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128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전:  580 GB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347472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2834640"/>
            <a:ext cx="3090672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34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압축 후:  58 GB  (90% 절감)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컬럼 기반 압축 + 델타 인코딩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7일 경과 Chunk 자동 압축 정책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90일 경과 데이터 자동 삭제 정책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압축 상태에서도 정상 쿼리 가능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단 2줄로 설정 완료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1298448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298448"/>
            <a:ext cx="41605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389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 Ch10 — 고급 쿼리 최적화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EXPLAIN ANALYZE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216712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 분석으로 병목 식별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예상·실제 비용 비교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Chunk Exclusion 극대화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9900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WHERE 절에 정확한 시간 범위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필요 Chunk만 스캔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복합 인덱스 전략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81304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(player_id, login_time DESC)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조합 패턴으로 설계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■  파티션 프루닝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463600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수억 건 → 1초 이내 쿼리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집계와 병행 활용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— 백업·탐지·마이그레이션·확장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11 · 12 · 13 · 14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서비스를 안전하게 운영하기 위한 4가지 필수 역량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3520440"/>
            <a:ext cx="196596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566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38862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&amp; 복구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423367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PITR 30분 복구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3520440"/>
            <a:ext cx="196596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3566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42032" y="38862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탐지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423367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자동 알림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81144" y="3520440"/>
            <a:ext cx="196596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3566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72584" y="38862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2584" y="423367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 이전 전략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11696" y="3520440"/>
            <a:ext cx="1965960" cy="1371600"/>
          </a:xfrm>
          <a:prstGeom prst="rect">
            <a:avLst/>
          </a:prstGeom>
          <a:solidFill>
            <a:srgbClr val="0A203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35661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03136" y="38862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리전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3136" y="423367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 복제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029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11~14: 백업·이상탐지·마이그레이션·멀티리전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게임 서버 운영에 필수적인 4가지 시스템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420624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  Ch11  백업 &amp; 복구 전략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pg_dump 전체 백업 / WAL 아카이빙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Point-in-Time Recovery (PITR)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 안에 서비스 완전 복구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자동화 스크립트 구현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27448" y="132588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325880"/>
            <a:ext cx="42062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🚨  Ch12  실시간 이상 탐지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82880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정적·동적·변화율 임계값 세 가지 패턴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90% 초과 → Slack 알림 즉시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접속자 급감 → Discord 긴급 알림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평균 기반 오탐 최소화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4612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246120"/>
            <a:ext cx="4206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🚚  Ch13  대용량 마이그레이션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/ MongoDB → TimescaleDB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 이전: 쌍방 쓰기 패턴 적용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벌크 로드 후 증분 동기화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검증 체크리스트 포함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27448" y="3246120"/>
            <a:ext cx="42062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3246120"/>
            <a:ext cx="420624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3337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 Ch14  멀티 리전 &amp; 확장성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374904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 복제 (Primary → Standby)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부하 분산 (Read Replica)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리전별 레이턴시 최소화 전략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기반 클러스터 구성 실습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프로젝트 &amp; 실전 활용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15 · 16 · 17 · 18 · 19 · 20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것을 모두 연결하여 실제 운영 가능한 완성 시스템을 구축한다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3493008"/>
            <a:ext cx="2743200" cy="713232"/>
          </a:xfrm>
          <a:prstGeom prst="rect">
            <a:avLst/>
          </a:prstGeom>
          <a:solidFill>
            <a:srgbClr val="0A20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5387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33272" y="353872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대시보드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84048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SignalR + Chart.js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27832" y="3493008"/>
            <a:ext cx="2743200" cy="713232"/>
          </a:xfrm>
          <a:prstGeom prst="rect">
            <a:avLst/>
          </a:prstGeom>
          <a:solidFill>
            <a:srgbClr val="0A20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35387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41064" y="353872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행동 분석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19272" y="384048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코호트·퍼널·리텐션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35624" y="3493008"/>
            <a:ext cx="2743200" cy="713232"/>
          </a:xfrm>
          <a:prstGeom prst="rect">
            <a:avLst/>
          </a:prstGeom>
          <a:solidFill>
            <a:srgbClr val="0A20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353872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17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48856" y="3538728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튜닝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27064" y="3840480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케이스 스터디 실전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4297680"/>
            <a:ext cx="2743200" cy="713232"/>
          </a:xfrm>
          <a:prstGeom prst="rect">
            <a:avLst/>
          </a:prstGeom>
          <a:solidFill>
            <a:srgbClr val="0A20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3434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33272" y="434340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도구 연동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64515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 · Kafka · Redis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27832" y="4297680"/>
            <a:ext cx="2743200" cy="713232"/>
          </a:xfrm>
          <a:prstGeom prst="rect">
            <a:avLst/>
          </a:prstGeom>
          <a:solidFill>
            <a:srgbClr val="0A20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43434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19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941064" y="434340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&amp; 권한 관리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9272" y="464515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 · SSL · 감사 로그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35624" y="4297680"/>
            <a:ext cx="2743200" cy="713232"/>
          </a:xfrm>
          <a:prstGeom prst="rect">
            <a:avLst/>
          </a:prstGeom>
          <a:solidFill>
            <a:srgbClr val="0A203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43434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 20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48856" y="434340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단계로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27064" y="464515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 체크리스트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029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15~20: 종합 프로젝트 &amp; 실전 마스터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이론에서 운영까지 — 완전한 모니터링 시스템 완성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98448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898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70078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게임 서버 대시보드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176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ASP.NET Core Web API 백엔드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5968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SignalR 실시간 업데이트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54096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Chart.js 시각화 통합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438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SQLKata 최적화 쿼리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27832" y="1298448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298448"/>
            <a:ext cx="2743200" cy="54864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3898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Ch16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170078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행동 분석 시스템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4992" y="2212848"/>
            <a:ext cx="164592" cy="1645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176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코호트 분석 (D1/D7/D30 리텐션)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2633472"/>
            <a:ext cx="164592" cy="1645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25968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퍼널 분석 — 이탈 지점 찾기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64992" y="3054096"/>
            <a:ext cx="164592" cy="1645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세그멘테이션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64992" y="3474720"/>
            <a:ext cx="164592" cy="164592"/>
          </a:xfrm>
          <a:prstGeom prst="ellipse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3438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ARPU · 전환율 자동 계산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35624" y="1298448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35624" y="1298448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13898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Ch17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45352" y="170078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튜닝 케이스 스터디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2784" y="2212848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9672" y="2176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급격한 성능 저하 대응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72784" y="2633472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25968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집계 갱신 지연 해결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2784" y="3054096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9672" y="30175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쿼리 EXPLAIN 분석 실습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72784" y="3474720"/>
            <a:ext cx="164592" cy="16459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9672" y="3438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설계 패턴 비교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" y="3730752"/>
            <a:ext cx="274320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Ch18  외부 도구 연동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41422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 · Prometheus · Redis · Kafka + TimescaleDB 통합 파이프라인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27832" y="3730752"/>
            <a:ext cx="274320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64992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Ch19  보안 &amp; 권한 관리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364992" y="41422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기반 접근 제어 · SSL/TLS · Row Level Security · 감사 로그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35624" y="3730752"/>
            <a:ext cx="2743200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72784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Ch20  다음 단계로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272784" y="41422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내용 정리 · 프로덕션 체크리스트 · 지속 성장 학습 로드맵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54864" cy="50292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시스템 아키텍처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책을 마치면 갖게 되는 실전 GameMonitoring 솔루션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1828800" cy="11155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44168"/>
            <a:ext cx="1737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클라이언트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(50,000명 동접)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542032"/>
            <a:ext cx="1828800" cy="11155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587752"/>
            <a:ext cx="17373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(C# ASP.NET)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10대 서버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1298448"/>
            <a:ext cx="1920240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344168"/>
            <a:ext cx="18288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메트릭 수집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(C# Service)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1초마다 수집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14600" y="2542032"/>
            <a:ext cx="1920240" cy="11155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2587752"/>
            <a:ext cx="18288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로거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(배치 삽입)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1,000건 단위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1719072"/>
            <a:ext cx="2194560" cy="192024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764792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TimescaleDB</a:t>
            </a:r>
            <a:endParaRPr lang="en-US" sz="1050" dirty="0"/>
          </a:p>
          <a:p>
            <a:pPr algn="ctr" indent="0" marL="0">
              <a:buNone/>
            </a:pP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Hypertable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Continuous Agg.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압축/삭제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60920" y="1298448"/>
            <a:ext cx="146304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1344168"/>
            <a:ext cx="1371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SignalR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60920" y="2542032"/>
            <a:ext cx="146304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2587752"/>
            <a:ext cx="1371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탐지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&amp; Slack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알림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48840" y="182880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48840" y="3090672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182880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0" y="3090672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1828800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3090672"/>
            <a:ext cx="3474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22192"/>
            <a:ext cx="850392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책을 마치면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2336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초당 수천 건 데이터를 효율적으로 저장   ✓ 수억 건에서 빠른 조회 실현   ✓ 실시간 모니터링 대시보드 독립 구축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스토리지 비용 90% 절감   ✓ 자동화된 이상 탐지 &amp; 알림 시스템   ✓ 플레이어 행동 분석 인사이트 도출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371600"/>
          </a:xfrm>
          <a:prstGeom prst="rect">
            <a:avLst/>
          </a:prstGeom>
          <a:solidFill>
            <a:srgbClr val="00C8E0">
              <a:alpha val="8000"/>
            </a:srgbClr>
          </a:solidFill>
          <a:ln w="12700">
            <a:solidFill>
              <a:srgbClr val="00C8E0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E0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"데이터는 새로운 석유다.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정제하지 않으면 쓸모없다."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657600" cy="0"/>
          </a:xfrm>
          <a:prstGeom prst="line">
            <a:avLst/>
          </a:prstGeom>
          <a:noFill/>
          <a:ln w="12700">
            <a:solidFill>
              <a:srgbClr val="00C8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TimescaleDB로 데이터를 정제하고,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있는 인사이트를 게임에 반영하세요.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456432"/>
            <a:ext cx="502920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5478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 온라인 게임 서버를 위한 TimescaleDB 완벽 가이드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91363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저자: 최흥배 · Claude AI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Chapters | C# · SQLKata · Docker · Windows 11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3493008"/>
            <a:ext cx="1280160" cy="347472"/>
          </a:xfrm>
          <a:prstGeom prst="rect">
            <a:avLst/>
          </a:prstGeom>
          <a:solidFill>
            <a:srgbClr val="1D4E89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4930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TimescaleDB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35240" y="3493008"/>
            <a:ext cx="1280160" cy="347472"/>
          </a:xfrm>
          <a:prstGeom prst="rect">
            <a:avLst/>
          </a:prstGeom>
          <a:solidFill>
            <a:srgbClr val="1D4E89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34930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.NET 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1280160" cy="347472"/>
          </a:xfrm>
          <a:prstGeom prst="rect">
            <a:avLst/>
          </a:prstGeom>
          <a:solidFill>
            <a:srgbClr val="1D4E89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9319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SQLKata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35240" y="3931920"/>
            <a:ext cx="1280160" cy="347472"/>
          </a:xfrm>
          <a:prstGeom prst="rect">
            <a:avLst/>
          </a:prstGeom>
          <a:solidFill>
            <a:srgbClr val="1D4E89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39319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4370832"/>
            <a:ext cx="1280160" cy="347472"/>
          </a:xfrm>
          <a:prstGeom prst="rect">
            <a:avLst/>
          </a:prstGeom>
          <a:solidFill>
            <a:srgbClr val="1D4E89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43708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SignalR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35240" y="4370832"/>
            <a:ext cx="1280160" cy="347472"/>
          </a:xfrm>
          <a:prstGeom prst="rect">
            <a:avLst/>
          </a:prstGeom>
          <a:solidFill>
            <a:srgbClr val="1D4E89"/>
          </a:solidFill>
          <a:ln w="12700">
            <a:solidFill>
              <a:srgbClr val="00C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43708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pgAdmin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온라인 게임 서버를 위한 TimescaleDB 완벽 가이드</dc:title>
  <dc:subject>PptxGenJS Presentation</dc:subject>
  <dc:creator>최흥배, Claude AI</dc:creator>
  <cp:lastModifiedBy>최흥배, Claude AI</cp:lastModifiedBy>
  <cp:revision>1</cp:revision>
  <dcterms:created xsi:type="dcterms:W3CDTF">2026-05-18T13:34:48Z</dcterms:created>
  <dcterms:modified xsi:type="dcterms:W3CDTF">2026-05-18T13:34:48Z</dcterms:modified>
</cp:coreProperties>
</file>