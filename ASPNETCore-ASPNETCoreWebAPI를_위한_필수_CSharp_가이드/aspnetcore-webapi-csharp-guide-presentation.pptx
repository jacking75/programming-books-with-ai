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a0b3291c1e4530" /><Relationship Type="http://schemas.openxmlformats.org/officeDocument/2006/relationships/extended-properties" Target="/docProps/app.xml" Id="R10955a656770421c" /><Relationship Type="http://schemas.openxmlformats.org/officeDocument/2006/relationships/officeDocument" Target="/ppt/presentation.xml" Id="R8e8fc2869d55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deb911882b4baa"/>
  </p:sldMasterIdLst>
  <p:notesMasterIdLst>
    <p:notesMasterId xmlns:r="http://schemas.openxmlformats.org/officeDocument/2006/relationships" r:id="R867028cee038447d"/>
  </p:notesMasterIdLst>
  <p:sldIdLst>
    <p:sldId xmlns:r="http://schemas.openxmlformats.org/officeDocument/2006/relationships" id="256" r:id="R0a1f8dbcc70241c3"/>
    <p:sldId xmlns:r="http://schemas.openxmlformats.org/officeDocument/2006/relationships" id="257" r:id="Rc340533619f4482b"/>
    <p:sldId xmlns:r="http://schemas.openxmlformats.org/officeDocument/2006/relationships" id="258" r:id="R087b5572308d4770"/>
    <p:sldId xmlns:r="http://schemas.openxmlformats.org/officeDocument/2006/relationships" id="259" r:id="R35303b5e137c4187"/>
    <p:sldId xmlns:r="http://schemas.openxmlformats.org/officeDocument/2006/relationships" id="260" r:id="R3810aea40cdb4eae"/>
    <p:sldId xmlns:r="http://schemas.openxmlformats.org/officeDocument/2006/relationships" id="261" r:id="Rbc892c29cbec4f8d"/>
    <p:sldId xmlns:r="http://schemas.openxmlformats.org/officeDocument/2006/relationships" id="262" r:id="Rb0d96bded79245e5"/>
    <p:sldId xmlns:r="http://schemas.openxmlformats.org/officeDocument/2006/relationships" id="263" r:id="R276aa00031fc4234"/>
    <p:sldId xmlns:r="http://schemas.openxmlformats.org/officeDocument/2006/relationships" id="264" r:id="R6d57269ef6d84c5f"/>
    <p:sldId xmlns:r="http://schemas.openxmlformats.org/officeDocument/2006/relationships" id="265" r:id="R67a5a9b8a19145cf"/>
    <p:sldId xmlns:r="http://schemas.openxmlformats.org/officeDocument/2006/relationships" id="266" r:id="R32e9f87d9e4f4403"/>
    <p:sldId xmlns:r="http://schemas.openxmlformats.org/officeDocument/2006/relationships" id="267" r:id="R6a527b94bc6b4b2c"/>
    <p:sldId xmlns:r="http://schemas.openxmlformats.org/officeDocument/2006/relationships" id="268" r:id="R3bff0914129c47e7"/>
    <p:sldId xmlns:r="http://schemas.openxmlformats.org/officeDocument/2006/relationships" id="269" r:id="Rd662aa1583c04a01"/>
    <p:sldId xmlns:r="http://schemas.openxmlformats.org/officeDocument/2006/relationships" id="270" r:id="Rf9112a4ff192414f"/>
    <p:sldId xmlns:r="http://schemas.openxmlformats.org/officeDocument/2006/relationships" id="271" r:id="R27719e3bdb704f3a"/>
    <p:sldId xmlns:r="http://schemas.openxmlformats.org/officeDocument/2006/relationships" id="272" r:id="R31944b2773664a64"/>
    <p:sldId xmlns:r="http://schemas.openxmlformats.org/officeDocument/2006/relationships" id="273" r:id="Rbc12592383994796"/>
    <p:sldId xmlns:r="http://schemas.openxmlformats.org/officeDocument/2006/relationships" id="274" r:id="R65b9c5e04d9f49f1"/>
    <p:sldId xmlns:r="http://schemas.openxmlformats.org/officeDocument/2006/relationships" id="275" r:id="Rd0a75330d1894fc9"/>
    <p:sldId xmlns:r="http://schemas.openxmlformats.org/officeDocument/2006/relationships" id="276" r:id="R1bf8dbceb7344ab2"/>
    <p:sldId xmlns:r="http://schemas.openxmlformats.org/officeDocument/2006/relationships" id="277" r:id="R846429c0a7244762"/>
    <p:sldId xmlns:r="http://schemas.openxmlformats.org/officeDocument/2006/relationships" id="278" r:id="R06d63ab04a924100"/>
    <p:sldId xmlns:r="http://schemas.openxmlformats.org/officeDocument/2006/relationships" id="279" r:id="R1716ba18b94d49f4"/>
    <p:sldId xmlns:r="http://schemas.openxmlformats.org/officeDocument/2006/relationships" id="280" r:id="R748379b5e1504819"/>
    <p:sldId xmlns:r="http://schemas.openxmlformats.org/officeDocument/2006/relationships" id="281" r:id="R16b2548089d048c4"/>
    <p:sldId xmlns:r="http://schemas.openxmlformats.org/officeDocument/2006/relationships" id="282" r:id="R65d9865cb9244c3d"/>
    <p:sldId xmlns:r="http://schemas.openxmlformats.org/officeDocument/2006/relationships" id="283" r:id="R7c4ab98b97fd4a16"/>
    <p:sldId xmlns:r="http://schemas.openxmlformats.org/officeDocument/2006/relationships" id="284" r:id="R2985e7839a0546b1"/>
    <p:sldId xmlns:r="http://schemas.openxmlformats.org/officeDocument/2006/relationships" id="285" r:id="Rcc1aa26ba21e430f"/>
    <p:sldId xmlns:r="http://schemas.openxmlformats.org/officeDocument/2006/relationships" id="286" r:id="R67685f923c0e4ed3"/>
    <p:sldId xmlns:r="http://schemas.openxmlformats.org/officeDocument/2006/relationships" id="287" r:id="R794d1b99474b4d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20354ccdd44e86" /><Relationship Type="http://schemas.openxmlformats.org/officeDocument/2006/relationships/slideMaster" Target="/ppt/slideMasters/slideMaster1.xml" Id="Rcadeb911882b4baa" /><Relationship Type="http://schemas.openxmlformats.org/officeDocument/2006/relationships/notesMaster" Target="/ppt/notesMasters/notesMaster1.xml" Id="R867028cee038447d" /><Relationship Type="http://schemas.openxmlformats.org/officeDocument/2006/relationships/presProps" Target="/ppt/presProps.xml" Id="Rdf52f4cde9384011" /><Relationship Type="http://schemas.openxmlformats.org/officeDocument/2006/relationships/viewProps" Target="/ppt/viewProps.xml" Id="Rd4b9e2757f0a4b39" /><Relationship Type="http://schemas.openxmlformats.org/officeDocument/2006/relationships/tableStyles" Target="/ppt/tableStyles.xml" Id="Rd091a63588db48aa" /><Relationship Type="http://schemas.openxmlformats.org/officeDocument/2006/relationships/slide" Target="/ppt/slides/slide1.xml" Id="R0a1f8dbcc70241c3" /><Relationship Type="http://schemas.openxmlformats.org/officeDocument/2006/relationships/slide" Target="/ppt/slides/slide2.xml" Id="Rc340533619f4482b" /><Relationship Type="http://schemas.openxmlformats.org/officeDocument/2006/relationships/slide" Target="/ppt/slides/slide3.xml" Id="R087b5572308d4770" /><Relationship Type="http://schemas.openxmlformats.org/officeDocument/2006/relationships/slide" Target="/ppt/slides/slide4.xml" Id="R35303b5e137c4187" /><Relationship Type="http://schemas.openxmlformats.org/officeDocument/2006/relationships/slide" Target="/ppt/slides/slide5.xml" Id="R3810aea40cdb4eae" /><Relationship Type="http://schemas.openxmlformats.org/officeDocument/2006/relationships/slide" Target="/ppt/slides/slide6.xml" Id="Rbc892c29cbec4f8d" /><Relationship Type="http://schemas.openxmlformats.org/officeDocument/2006/relationships/slide" Target="/ppt/slides/slide7.xml" Id="Rb0d96bded79245e5" /><Relationship Type="http://schemas.openxmlformats.org/officeDocument/2006/relationships/slide" Target="/ppt/slides/slide8.xml" Id="R276aa00031fc4234" /><Relationship Type="http://schemas.openxmlformats.org/officeDocument/2006/relationships/slide" Target="/ppt/slides/slide9.xml" Id="R6d57269ef6d84c5f" /><Relationship Type="http://schemas.openxmlformats.org/officeDocument/2006/relationships/slide" Target="/ppt/slides/slide10.xml" Id="R67a5a9b8a19145cf" /><Relationship Type="http://schemas.openxmlformats.org/officeDocument/2006/relationships/slide" Target="/ppt/slides/slide11.xml" Id="R32e9f87d9e4f4403" /><Relationship Type="http://schemas.openxmlformats.org/officeDocument/2006/relationships/slide" Target="/ppt/slides/slide12.xml" Id="R6a527b94bc6b4b2c" /><Relationship Type="http://schemas.openxmlformats.org/officeDocument/2006/relationships/slide" Target="/ppt/slides/slide13.xml" Id="R3bff0914129c47e7" /><Relationship Type="http://schemas.openxmlformats.org/officeDocument/2006/relationships/slide" Target="/ppt/slides/slide14.xml" Id="Rd662aa1583c04a01" /><Relationship Type="http://schemas.openxmlformats.org/officeDocument/2006/relationships/slide" Target="/ppt/slides/slide15.xml" Id="Rf9112a4ff192414f" /><Relationship Type="http://schemas.openxmlformats.org/officeDocument/2006/relationships/slide" Target="/ppt/slides/slide16.xml" Id="R27719e3bdb704f3a" /><Relationship Type="http://schemas.openxmlformats.org/officeDocument/2006/relationships/slide" Target="/ppt/slides/slide17.xml" Id="R31944b2773664a64" /><Relationship Type="http://schemas.openxmlformats.org/officeDocument/2006/relationships/slide" Target="/ppt/slides/slide18.xml" Id="Rbc12592383994796" /><Relationship Type="http://schemas.openxmlformats.org/officeDocument/2006/relationships/slide" Target="/ppt/slides/slide19.xml" Id="R65b9c5e04d9f49f1" /><Relationship Type="http://schemas.openxmlformats.org/officeDocument/2006/relationships/slide" Target="/ppt/slides/slide20.xml" Id="Rd0a75330d1894fc9" /><Relationship Type="http://schemas.openxmlformats.org/officeDocument/2006/relationships/slide" Target="/ppt/slides/slide21.xml" Id="R1bf8dbceb7344ab2" /><Relationship Type="http://schemas.openxmlformats.org/officeDocument/2006/relationships/slide" Target="/ppt/slides/slide22.xml" Id="R846429c0a7244762" /><Relationship Type="http://schemas.openxmlformats.org/officeDocument/2006/relationships/slide" Target="/ppt/slides/slide23.xml" Id="R06d63ab04a924100" /><Relationship Type="http://schemas.openxmlformats.org/officeDocument/2006/relationships/slide" Target="/ppt/slides/slide24.xml" Id="R1716ba18b94d49f4" /><Relationship Type="http://schemas.openxmlformats.org/officeDocument/2006/relationships/slide" Target="/ppt/slides/slide25.xml" Id="R748379b5e1504819" /><Relationship Type="http://schemas.openxmlformats.org/officeDocument/2006/relationships/slide" Target="/ppt/slides/slide26.xml" Id="R16b2548089d048c4" /><Relationship Type="http://schemas.openxmlformats.org/officeDocument/2006/relationships/slide" Target="/ppt/slides/slide27.xml" Id="R65d9865cb9244c3d" /><Relationship Type="http://schemas.openxmlformats.org/officeDocument/2006/relationships/slide" Target="/ppt/slides/slide28.xml" Id="R7c4ab98b97fd4a16" /><Relationship Type="http://schemas.openxmlformats.org/officeDocument/2006/relationships/slide" Target="/ppt/slides/slide29.xml" Id="R2985e7839a0546b1" /><Relationship Type="http://schemas.openxmlformats.org/officeDocument/2006/relationships/slide" Target="/ppt/slides/slide30.xml" Id="Rcc1aa26ba21e430f" /><Relationship Type="http://schemas.openxmlformats.org/officeDocument/2006/relationships/slide" Target="/ppt/slides/slide31.xml" Id="R67685f923c0e4ed3" /><Relationship Type="http://schemas.openxmlformats.org/officeDocument/2006/relationships/slide" Target="/ppt/slides/slide32.xml" Id="R794d1b99474b4d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75c8c237740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7d57c978824898" /><Relationship Type="http://schemas.openxmlformats.org/officeDocument/2006/relationships/notesMaster" Target="/ppt/notesMasters/notesMaster1.xml" Id="Rd1b0fce5829b49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7ceac8cff44e76" /><Relationship Type="http://schemas.openxmlformats.org/officeDocument/2006/relationships/notesMaster" Target="/ppt/notesMasters/notesMaster1.xml" Id="Rda4bcfda01c14f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8c3c9426aa4708" /><Relationship Type="http://schemas.openxmlformats.org/officeDocument/2006/relationships/notesMaster" Target="/ppt/notesMasters/notesMaster1.xml" Id="Reddcdf981a2749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32183bc0014f6b" /><Relationship Type="http://schemas.openxmlformats.org/officeDocument/2006/relationships/notesMaster" Target="/ppt/notesMasters/notesMaster1.xml" Id="R6e3c50d4b2b941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8799bbce6541dc" /><Relationship Type="http://schemas.openxmlformats.org/officeDocument/2006/relationships/notesMaster" Target="/ppt/notesMasters/notesMaster1.xml" Id="Rea685d38cfd14a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99b64ff937492e" /><Relationship Type="http://schemas.openxmlformats.org/officeDocument/2006/relationships/notesMaster" Target="/ppt/notesMasters/notesMaster1.xml" Id="R984294ad3009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56a20019e14b9d" /><Relationship Type="http://schemas.openxmlformats.org/officeDocument/2006/relationships/notesMaster" Target="/ppt/notesMasters/notesMaster1.xml" Id="Rf3c97a0aa60f42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76c23890104e9a" /><Relationship Type="http://schemas.openxmlformats.org/officeDocument/2006/relationships/notesMaster" Target="/ppt/notesMasters/notesMaster1.xml" Id="Ra86702028d1145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b62d0b53604470" /><Relationship Type="http://schemas.openxmlformats.org/officeDocument/2006/relationships/notesMaster" Target="/ppt/notesMasters/notesMaster1.xml" Id="R37ee769380954e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2c321df6784822" /><Relationship Type="http://schemas.openxmlformats.org/officeDocument/2006/relationships/notesMaster" Target="/ppt/notesMasters/notesMaster1.xml" Id="Rc70b09bbf9b04b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0cd7460e32470a" /><Relationship Type="http://schemas.openxmlformats.org/officeDocument/2006/relationships/notesMaster" Target="/ppt/notesMasters/notesMaster1.xml" Id="Reaf1f0cd2f0c46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0db369ca714abc" /><Relationship Type="http://schemas.openxmlformats.org/officeDocument/2006/relationships/notesMaster" Target="/ppt/notesMasters/notesMaster1.xml" Id="R8881d1f4012d4d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6983d9c8f94f29" /><Relationship Type="http://schemas.openxmlformats.org/officeDocument/2006/relationships/notesMaster" Target="/ppt/notesMasters/notesMaster1.xml" Id="R2374da48743d40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7b870d147b415c" /><Relationship Type="http://schemas.openxmlformats.org/officeDocument/2006/relationships/notesMaster" Target="/ppt/notesMasters/notesMaster1.xml" Id="R43a2ef6f710a47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18e81f22f04cc5" /><Relationship Type="http://schemas.openxmlformats.org/officeDocument/2006/relationships/notesMaster" Target="/ppt/notesMasters/notesMaster1.xml" Id="R776096bc955d4b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6b5bb7270e45bd" /><Relationship Type="http://schemas.openxmlformats.org/officeDocument/2006/relationships/notesMaster" Target="/ppt/notesMasters/notesMaster1.xml" Id="R412b24d44efe40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60dfb9ab724326" /><Relationship Type="http://schemas.openxmlformats.org/officeDocument/2006/relationships/notesMaster" Target="/ppt/notesMasters/notesMaster1.xml" Id="Rb930c310f527402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278f51e9d324861" /><Relationship Type="http://schemas.openxmlformats.org/officeDocument/2006/relationships/notesMaster" Target="/ppt/notesMasters/notesMaster1.xml" Id="R0b43d3879ed24b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75930b08f94894" /><Relationship Type="http://schemas.openxmlformats.org/officeDocument/2006/relationships/notesMaster" Target="/ppt/notesMasters/notesMaster1.xml" Id="Rc84189425b9e4b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3cc3b665b44557" /><Relationship Type="http://schemas.openxmlformats.org/officeDocument/2006/relationships/notesMaster" Target="/ppt/notesMasters/notesMaster1.xml" Id="R1a66e5471b3548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a711054b9541c6" /><Relationship Type="http://schemas.openxmlformats.org/officeDocument/2006/relationships/notesMaster" Target="/ppt/notesMasters/notesMaster1.xml" Id="R9c5a40dad44d44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5a50321ba043bb" /><Relationship Type="http://schemas.openxmlformats.org/officeDocument/2006/relationships/notesMaster" Target="/ppt/notesMasters/notesMaster1.xml" Id="Refad9890340f40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686bfd8bc74754" /><Relationship Type="http://schemas.openxmlformats.org/officeDocument/2006/relationships/notesMaster" Target="/ppt/notesMasters/notesMaster1.xml" Id="R93fa7ef82e7b4b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b828824fb534c6b" /><Relationship Type="http://schemas.openxmlformats.org/officeDocument/2006/relationships/notesMaster" Target="/ppt/notesMasters/notesMaster1.xml" Id="Ra59d2f4e2d9649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1d221da5e824060" /><Relationship Type="http://schemas.openxmlformats.org/officeDocument/2006/relationships/notesMaster" Target="/ppt/notesMasters/notesMaster1.xml" Id="Rc3459463ef5343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f41304e5b134951" /><Relationship Type="http://schemas.openxmlformats.org/officeDocument/2006/relationships/notesMaster" Target="/ppt/notesMasters/notesMaster1.xml" Id="R70feec7006c64a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06942354409454c" /><Relationship Type="http://schemas.openxmlformats.org/officeDocument/2006/relationships/notesMaster" Target="/ppt/notesMasters/notesMaster1.xml" Id="Ra3a737f117f7400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2ff9802dd64bf5" /><Relationship Type="http://schemas.openxmlformats.org/officeDocument/2006/relationships/notesMaster" Target="/ppt/notesMasters/notesMaster1.xml" Id="R012d78b058174e7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4c4ec5112494146" /><Relationship Type="http://schemas.openxmlformats.org/officeDocument/2006/relationships/notesMaster" Target="/ppt/notesMasters/notesMaster1.xml" Id="R5ca38e9094c345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69ad90ecc9b454e" /><Relationship Type="http://schemas.openxmlformats.org/officeDocument/2006/relationships/notesMaster" Target="/ppt/notesMasters/notesMaster1.xml" Id="R2297f111d9e947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13a43b50e1946dc" /><Relationship Type="http://schemas.openxmlformats.org/officeDocument/2006/relationships/notesMaster" Target="/ppt/notesMasters/notesMaster1.xml" Id="Rf008ab0411c1416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ea9ee848f3e4a3f" /><Relationship Type="http://schemas.openxmlformats.org/officeDocument/2006/relationships/notesMaster" Target="/ppt/notesMasters/notesMaster1.xml" Id="R3aae948fe71c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발표는 ASP.NET Core Web API를 구현할 때 자주 만나는 C# 문법을 실전 관점에서 정리합니다.</a:t>
            </a:r>
          </a:p>
          <a:p xmlns:a="http://schemas.openxmlformats.org/drawingml/2006/main">
            <a:r>
              <a:t>원본 문서의 모든 장은 뒤 슬라이드의 발표자 노트에 포함되어 있으므로, 발표자는 슬라이드의 핵심 문장을 따라가면서 노트로 세부 설명을 보강하면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장표에서는 발표 전체의 관점을 잡습니다. 각 문법은 독립된 지식이 아니라 Web API에서 요청을 받고, 검증하고, 서비스에 위임하고, 응답으로 돌려주는 흐름 안에서 의미가 생깁니다.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 문서는 총 27개 장으로 구성되어 있습니다. 발표에서는 각 장을 하나 이상의 슬라이드로 다루고, 세부 설명은 발표자 노트에서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1. 기본 문법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Web API 개발의 출발점은 타입, null, 값 표현을 컴파일 시점에 안전하게 고정하는 것이다.</a:t>
            </a:r>
          </a:p>
          <a:p xmlns:a="http://schemas.openxmlformats.org/drawingml/2006/main">
            <a:r>
              <a:t>2. 개념 포인트: 정적 타입과 var는 대립이 아니라 표현 방식의 차이다. / 금액은 decimal, 시간은 UTC 기준 DateTime/DateTimeOffset을 우선한다. / Nullable Reference Types는 런타임 예외를 설계 시점 경고로 끌어올린다.</a:t>
            </a:r>
          </a:p>
          <a:p xmlns:a="http://schemas.openxmlformats.org/drawingml/2006/main">
            <a:r>
              <a:t>3. Web API 적용: DTO와 모델의 필수 값은 초기화하고, null 가능성은 string?처럼 명시한다.</a:t>
            </a:r>
          </a:p>
          <a:p xmlns:a="http://schemas.openxmlformats.org/drawingml/2006/main">
            <a:r>
              <a:t>4. 주의점: double로 금액을 다루거나 NRT를 끄면 API 경계에서 오류가 늦게 발견된다.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### 1.1 변수와 데이터 타입</a:t>
            </a:r>
          </a:p>
          <a:p xmlns:a="http://schemas.openxmlformats.org/drawingml/2006/main">
            <a:r>
              <a:t>C#은 **정적 타입(statically-typed) 언어**다. 컴파일 시점에 모든 변수의 타입이 결정되며, 이로 인해 런타임 이전에 타입 관련 오류를 잡아낼 수 있다. 변수를 선언할 때는 타입을 명시하는 방법과 `var` 키워드로 컴파일러가 타입을 추론하도록 하는 방법 두 가지가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주요 기본 타입은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`string`: 문자열을 저장한다. 참조 타입이며 불변(immutable)이다.</a:t>
            </a:r>
          </a:p>
          <a:p xmlns:a="http://schemas.openxmlformats.org/drawingml/2006/main">
            <a:r>
              <a:t>- `int`: 32비트 정수 (범위: 약 -21억 ~ +21억)이다.</a:t>
            </a:r>
          </a:p>
          <a:p xmlns:a="http://schemas.openxmlformats.org/drawingml/2006/main">
            <a:r>
              <a:t>- `long`: 64비트 정수로, 더 큰 수를 담는다.</a:t>
            </a:r>
          </a:p>
          <a:p xmlns:a="http://schemas.openxmlformats.org/drawingml/2006/main">
            <a:r>
              <a:t>- `decimal`: 128비트 고정 소수점 숫자로, 금융 계산처럼 정밀도가 중요한 경우에 사용한다. 리터럴 뒤에 `m` 접미사를 붙여야 한다.</a:t>
            </a:r>
          </a:p>
          <a:p xmlns:a="http://schemas.openxmlformats.org/drawingml/2006/main">
            <a:r>
              <a:t>- `double`, `float`: 부동 소수점 숫자이며, 정밀도보다 속도가 중요한 과학/공학 계산에 사용한다.</a:t>
            </a:r>
          </a:p>
          <a:p xmlns:a="http://schemas.openxmlformats.org/drawingml/2006/main">
            <a:r>
              <a:t>- `bool`: `true` 또는 `false`만 가질 수 있는 불리언 타입이다.</a:t>
            </a:r>
          </a:p>
          <a:p xmlns:a="http://schemas.openxmlformats.org/drawingml/2006/main">
            <a:r>
              <a:t>- `DateTime`, `DateTimeOffset`: 날짜와 시간을 표현한다. Web API에서는 UTC 기반인 `DateTime.UtcNow`를 권장한다.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`var` 키워드는 **변수의 실제 타입을 제거하는 것이 아니라**, 컴파일러에게 우변의 표현식으로부터 타입을 추론하라고 지시하는 것이다. 따라서 `var`를 사용해도 내부적으로는 강력한 정적 타입이 유지된다.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명시적 타입 선언</a:t>
            </a:r>
          </a:p>
          <a:p xmlns:a="http://schemas.openxmlformats.org/drawingml/2006/main">
            <a:r>
              <a:t>string name = "홍길동";</a:t>
            </a:r>
          </a:p>
          <a:p xmlns:a="http://schemas.openxmlformats.org/drawingml/2006/main">
            <a:r>
              <a:t>int age = 30;</a:t>
            </a:r>
          </a:p>
          <a:p xmlns:a="http://schemas.openxmlformats.org/drawingml/2006/main">
            <a:r>
              <a:t>decimal price = 19.99m;</a:t>
            </a:r>
          </a:p>
          <a:p xmlns:a="http://schemas.openxmlformats.org/drawingml/2006/main">
            <a:r>
              <a:t>bool isActive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타입 추론</a:t>
            </a:r>
          </a:p>
          <a:p xmlns:a="http://schemas.openxmlformats.org/drawingml/2006/main">
            <a:r>
              <a:t>var email = "test@example.com"; // string으로 추론</a:t>
            </a:r>
          </a:p>
          <a:p xmlns:a="http://schemas.openxmlformats.org/drawingml/2006/main">
            <a:r>
              <a:t>var count = 10; // int로 추론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Web API에서 금액 필드는 반드시 `decimal`을 사용하는 것이 원칙이다. `double`은 이진 부동소수점 오차 때문에 `0.1 + 0.2 != 0.3` 같은 문제를 일으킬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1.2 Null 처리</a:t>
            </a:r>
          </a:p>
          <a:p xmlns:a="http://schemas.openxmlformats.org/drawingml/2006/main">
            <a:r>
              <a:t>C# 8.0부터 도입된 **Nullable Reference Types(NRT, 널 허용 참조 형식)** 은 참조 타입에도 '이 변수가 null이 될 수 있는가'를 컴파일러가 추적하도록 한다. 게임 서버나 Web API처럼 수많은 요청이 오가는 환경에서는 `NullReferenceException` 하나가 전체 요청을 실패시킬 수 있으므로, null 안정성은 매우 중요하다.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`string`: null을 허용하지 않는다고 선언한다. null 대입 시 컴파일러 경고가 발생한다.</a:t>
            </a:r>
          </a:p>
          <a:p xmlns:a="http://schemas.openxmlformats.org/drawingml/2006/main">
            <a:r>
              <a:t>- `string?`: null을 허용한다고 선언한다.</a:t>
            </a:r>
          </a:p>
          <a:p xmlns:a="http://schemas.openxmlformats.org/drawingml/2006/main">
            <a:r>
              <a:t>- `??` (null 병합 연산자, null-coalescing operator): 좌측이 null이면 우측 값을 반환한다.</a:t>
            </a:r>
          </a:p>
          <a:p xmlns:a="http://schemas.openxmlformats.org/drawingml/2006/main">
            <a:r>
              <a:t>- `??=` (null 병합 대입 연산자): 좌변이 null일 때만 우변 값을 대입한다.</a:t>
            </a:r>
          </a:p>
          <a:p xmlns:a="http://schemas.openxmlformats.org/drawingml/2006/main">
            <a:r>
              <a:t>- `?.` (null 조건 연산자, null-conditional operator): 좌변이 null이면 전체 식이 null이 되고, 아니면 멤버 접근을 수행한다. "안전한 내비게이션"이라고도 부른다.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nullable 타입</a:t>
            </a:r>
          </a:p>
          <a:p xmlns:a="http://schemas.openxmlformats.org/drawingml/2006/main">
            <a:r>
              <a:t>string? optionalName = null; // null 허용</a:t>
            </a:r>
          </a:p>
          <a:p xmlns:a="http://schemas.openxmlformats.org/drawingml/2006/main">
            <a:r>
              <a:t>string requiredName = "필수값"; // null 불가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null 병합 연산자</a:t>
            </a:r>
          </a:p>
          <a:p xmlns:a="http://schemas.openxmlformats.org/drawingml/2006/main">
            <a:r>
              <a:t>string displayName = optionalName ?? "기본이름";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null 조건 연산자</a:t>
            </a:r>
          </a:p>
          <a:p xmlns:a="http://schemas.openxmlformats.org/drawingml/2006/main">
            <a:r>
              <a:t>int? length = optionalName?.Length;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예제에서 `optionalName?.Length`의 반환 타입이 `int`가 아닌 `int?`라는 점에 주목해야 한다. 체인 중간에 null이 발생하면 결과 자체가 null이 되기 때문이다.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프로젝트 파일(`.csproj`)에 `&lt;Nullable&gt;enable&lt;/Nullable&gt;`을 추가하면 프로젝트 전체에 NRT가 적용된다. 팀 프로젝트에서는 반드시 켜두는 것을 권장한다.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2. 클래스와 객체지향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클래스는 Web API의 모델, 서비스, 컨트롤러를 담는 기본 설계 단위다.</a:t>
            </a:r>
          </a:p>
          <a:p xmlns:a="http://schemas.openxmlformats.org/drawingml/2006/main">
            <a:r>
              <a:t>2. 개념 포인트: 접근 제한자는 객체의 책임과 노출 범위를 통제한다. / 생성자 주입과 readonly 필드는 DI 기반 서비스의 표준 패턴이다. / 프로퍼티와 init은 DTO의 상태 변경 범위를 줄여준다.</a:t>
            </a:r>
          </a:p>
          <a:p xmlns:a="http://schemas.openxmlformats.org/drawingml/2006/main">
            <a:r>
              <a:t>3. Web API 적용: 서비스 의존성은 생성자에서 받고, DTO는 필요한 기본값을 선언해 null 경고를 없앤다.</a:t>
            </a:r>
          </a:p>
          <a:p xmlns:a="http://schemas.openxmlformats.org/drawingml/2006/main">
            <a:r>
              <a:t>4. 주의점: public 필드 남발은 캡슐화를 깨고 테스트/변경 비용을 키운다.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### 2.1 클래스 정의</a:t>
            </a:r>
          </a:p>
          <a:p xmlns:a="http://schemas.openxmlformats.org/drawingml/2006/main">
            <a:r>
              <a:t>클래스는 객체의 **설계도**다. Web API에서는 데이터를 담는 모델(Model), 비즈니스 로직을 수행하는 서비스(Service), HTTP 요청을 처리하는 컨트롤러(Controller)가 모두 클래스로 구현된다. 클래스는 참조 타입이므로 힙(heap)에 할당되고, 변수는 객체의 주소만 담는다.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접근 제한자(access modifier)는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`public`: 어디서든 접근 가능하다.</a:t>
            </a:r>
          </a:p>
          <a:p xmlns:a="http://schemas.openxmlformats.org/drawingml/2006/main">
            <a:r>
              <a:t>- `private`: 해당 클래스 내부에서만 접근 가능하다 (기본값).</a:t>
            </a:r>
          </a:p>
          <a:p xmlns:a="http://schemas.openxmlformats.org/drawingml/2006/main">
            <a:r>
              <a:t>- `protected`: 해당 클래스와 파생 클래스에서 접근 가능하다.</a:t>
            </a:r>
          </a:p>
          <a:p xmlns:a="http://schemas.openxmlformats.org/drawingml/2006/main">
            <a:r>
              <a:t>- `internal`: 동일 어셈블리(프로젝트) 내에서만 접근 가능하다.</a:t>
            </a:r>
          </a:p>
          <a:p xmlns:a="http://schemas.openxmlformats.org/drawingml/2006/main">
            <a:r>
              <a:t>- `protected internal`: 동일 어셈블리 또는 파생 클래스에서 접근 가능하다.</a:t>
            </a:r>
          </a:p>
          <a:p xmlns:a="http://schemas.openxmlformats.org/drawingml/2006/main">
            <a:r>
              <a:t>- `private protected`: 동일 어셈블리의 파생 클래스에서만 접근 가능하다.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Product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Id { get; set; }</a:t>
            </a:r>
          </a:p>
          <a:p xmlns:a="http://schemas.openxmlformats.org/drawingml/2006/main">
            <a:r>
              <a:t>    public string Name { get; set; } = string.Empty;</a:t>
            </a:r>
          </a:p>
          <a:p xmlns:a="http://schemas.openxmlformats.org/drawingml/2006/main">
            <a:r>
              <a:t>    public decimal Price { get; set; }</a:t>
            </a:r>
          </a:p>
          <a:p xmlns:a="http://schemas.openxmlformats.org/drawingml/2006/main">
            <a:r>
              <a:t>    public DateTime CreatedAt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`Name` 프로퍼티가 `= string.Empty`로 초기화된 이유는 NRT가 활성화된 상태에서 null 경고를 피하기 위함이다. `string`은 null을 허용하지 않으므로 어떤 초기값이든 반드시 지정해야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 생성자</a:t>
            </a:r>
          </a:p>
          <a:p xmlns:a="http://schemas.openxmlformats.org/drawingml/2006/main">
            <a:r>
              <a:t>생성자(constructor)는 객체가 생성될 때 **단 한 번** 호출되어 초기 상태를 구성한다. ASP.NET Core의 의존성 주입(DI) 시스템은 대부분 **생성자 주입(constructor injection)** 방식으로 동작하므로, 서비스 클래스의 생성자에 필요한 의존성을 매개변수로 선언하는 것이 관례다.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UserService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readonly ILogger&lt;UserService&gt; _logger;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// 생성자 - 의존성 주입에 필수</a:t>
            </a:r>
          </a:p>
          <a:p xmlns:a="http://schemas.openxmlformats.org/drawingml/2006/main">
            <a:r>
              <a:t>    public UserService(ILogger&lt;UserService&gt; logger)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_logger = logger;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`readonly` 키워드는 해당 필드가 **생성자에서만 값을 지정할 수 있음**을 의미한다. DI로 주입된 서비스는 인스턴스 생애 동안 바뀌면 안 되므로 `readonly`를 붙이는 것이 표준 패턴이다. 필드명 앞의 언더스코어(`_`)는 Microsoft의 네이밍 규칙에 따른 관례다.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**기본 생성자(primary constructor, C# 12)** 문법도 있는데, 간단한 경우에 코드를 더 짧게 만들어준다.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UserService(ILogger&lt;UserService&gt; logger)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readonly ILogger&lt;UserService&gt; _logger = logger;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>  </a:t>
            </a:r>
          </a:p>
          <a:p xmlns:a="http://schemas.openxmlformats.org/drawingml/2006/main">
            <a:r>
              <a:t>### 2.3 프로퍼티</a:t>
            </a:r>
          </a:p>
          <a:p xmlns:a="http://schemas.openxmlformats.org/drawingml/2006/main">
            <a:r>
              <a:t>프로퍼티(property)는 외부에서 보기에는 필드처럼 보이지만, 내부적으로는 `get`/`set` 메서드로 동작한다. 캡슐화를 유지하면서도 필드처럼 편하게 접근할 수 있게 해주는 C#의 핵심 기능이다.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**자동 프로퍼티(auto-implemented property)**: `{ get; set; }`처럼 본문 없이 선언하면 컴파일러가 자동으로 백킹 필드(backing field)를 생성한다.</a:t>
            </a:r>
          </a:p>
          <a:p xmlns:a="http://schemas.openxmlformats.org/drawingml/2006/main">
            <a:r>
              <a:t>- `init` 접근자(C# 9+): 생성자나 객체 초기화 구문에서만 값을 설정할 수 있고, 이후에는 읽기 전용이 된다. **불변(immutable) 객체**를 만들기에 이상적이다.</a:t>
            </a:r>
          </a:p>
          <a:p xmlns:a="http://schemas.openxmlformats.org/drawingml/2006/main">
            <a:r>
              <a:t>- 읽기 전용 자동 프로퍼티 (`{ get; }`): 필드 초기화 또는 생성자에서만 값 설정이 가능하다.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CreateProductRequest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// 자동 프로퍼티</a:t>
            </a:r>
          </a:p>
          <a:p xmlns:a="http://schemas.openxmlformats.org/drawingml/2006/main">
            <a:r>
              <a:t>    public string Name { get; set; } = string.Empty;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// init - 생성 시에만 설정 가능</a:t>
            </a:r>
          </a:p>
          <a:p xmlns:a="http://schemas.openxmlformats.org/drawingml/2006/main">
            <a:r>
              <a:t>    public DateTime RequestedAt { get; init; } = DateTime.UtcNow;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// 읽기 전용</a:t>
            </a:r>
          </a:p>
          <a:p xmlns:a="http://schemas.openxmlformats.org/drawingml/2006/main">
            <a:r>
              <a:t>    public string Type { get; } = "Product";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DTO(Data Transfer Object)에는 `init`을 사용하여 한 번 생성된 요청 데이터가 실수로 변경되지 않도록 방어하는 것이 안전하다.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3. 컬렉션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컬렉션 선택은 데이터의 크기 변화, 조회 방식, 동시성 요구에 따라 달라진다.</a:t>
            </a:r>
          </a:p>
          <a:p xmlns:a="http://schemas.openxmlformats.org/drawingml/2006/main">
            <a:r>
              <a:t>2. 개념 포인트: List&lt;T&gt;는 동적 크기, 배열은 고정 크기와 빠른 인덱스 접근에 적합하다. / IEnumerable&lt;T&gt;와 IReadOnlyList&lt;T&gt;는 노출 범위를 줄이는 인터페이스다. / Dictionary는 키 기반 조회를 평균 O(1)로 처리한다.</a:t>
            </a:r>
          </a:p>
          <a:p xmlns:a="http://schemas.openxmlformats.org/drawingml/2006/main">
            <a:r>
              <a:t>3. Web API 적용: 조회 실패 가능성이 있으면 Dictionary 인덱서보다 TryGetValue를 우선한다.</a:t>
            </a:r>
          </a:p>
          <a:p xmlns:a="http://schemas.openxmlformats.org/drawingml/2006/main">
            <a:r>
              <a:t>4. 주의점: 멀티스레드 캐시에는 Dictionary가 아니라 ConcurrentDictionary를 검토한다.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### 3.1 List와 배열</a:t>
            </a:r>
          </a:p>
          <a:p xmlns:a="http://schemas.openxmlformats.org/drawingml/2006/main">
            <a:r>
              <a:t>배열(`T[]`)은 **고정 크기** 연속 메모리 공간이고, `List&lt;T&gt;`는 내부적으로 배열을 사용하지만 **동적 크기 조절**이 가능한 컬렉션이다. 원소를 자주 추가/삭제한다면 `List&lt;T&gt;`를, 크기가 고정되고 성능이 극도로 중요하다면 배열을 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`List&lt;T&gt;`: 가장 많이 사용되는 동적 컬렉션이다. `Add`, `Remove`, `Insert` 등의 메서드를 제공한다.</a:t>
            </a:r>
          </a:p>
          <a:p xmlns:a="http://schemas.openxmlformats.org/drawingml/2006/main">
            <a:r>
              <a:t>- `T[]`: 크기가 고정된 배열이다. 인덱서 접근이 가장 빠르다.</a:t>
            </a:r>
          </a:p>
          <a:p xmlns:a="http://schemas.openxmlformats.org/drawingml/2006/main">
            <a:r>
              <a:t>- `IEnumerable&lt;T&gt;`: 순회(foreach) 가능한 모든 컬렉션의 최상위 인터페이스다. 실제 구현이 아닌 추상화를 매개변수 타입으로 사용하면 유연성이 높아진다.</a:t>
            </a:r>
          </a:p>
          <a:p xmlns:a="http://schemas.openxmlformats.org/drawingml/2006/main">
            <a:r>
              <a:t>- `IReadOnlyList&lt;T&gt;`, `IReadOnlyCollection&lt;T&gt;`: 읽기 전용으로 노출하고 싶을 때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List - 동적 크기</a:t>
            </a:r>
          </a:p>
          <a:p xmlns:a="http://schemas.openxmlformats.org/drawingml/2006/main">
            <a:r>
              <a:t>List&lt;string&gt; names = new List&lt;string&gt; { "김", "이", "박" };</a:t>
            </a:r>
          </a:p>
          <a:p xmlns:a="http://schemas.openxmlformats.org/drawingml/2006/main">
            <a:r>
              <a:t>names.Add("최");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배열 - 고정 크기</a:t>
            </a:r>
          </a:p>
          <a:p xmlns:a="http://schemas.openxmlformats.org/drawingml/2006/main">
            <a:r>
              <a:t>string[] colors = new[] { "red", "green", "blue"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컬렉션 초기화 (C# 12)</a:t>
            </a:r>
          </a:p>
          <a:p xmlns:a="http://schemas.openxmlformats.org/drawingml/2006/main">
            <a:r>
              <a:t>List&lt;int&gt; numbers = [1, 2, 3, 4, 5];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C# 12의 **컬렉션 표현식(collection expression)** `[1, 2, 3]`은 대입받는 변수의 타입에 따라 `List&lt;int&gt;`, `int[]`, `IEnumerable&lt;int&gt;` 등으로 자동 변환된다. 문법이 간결해지고 배열과 리스트 간 변환이 매끄러워졌다.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3.2 Dictionary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`Dictionary&lt;TKey, TValue&gt;`는 **해시 테이블**을 기반으로 한 키-값 쌍 컬렉션이다. 평균 O(1)로 조회가 가능해 캐시, 룩업 테이블, 설정값 저장에 자주 사용된다. 키로 사용하는 타입은 `GetHashCode()`와 `Equals()`가 올바르게 구현되어 있어야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인덱서 `[key]`는 키가 존재하지 않으면 `KeyNotFoundException`을 던진다.</a:t>
            </a:r>
          </a:p>
          <a:p xmlns:a="http://schemas.openxmlformats.org/drawingml/2006/main">
            <a:r>
              <a:t>- `TryGetValue`는 예외 없이 존재 여부와 값을 동시에 반환한다. **예외는 비용이 크므로** 조회 후 분기를 태우는 경우에는 `TryGetValue`가 권장된다.</a:t>
            </a:r>
          </a:p>
          <a:p xmlns:a="http://schemas.openxmlformats.org/drawingml/2006/main">
            <a:r>
              <a:t>- `ContainsKey` + 인덱서 조합은 해시 조회를 두 번 하게 되므로 비효율적이다. `TryGetValue`가 한 번의 조회로 끝낸다.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Dictionary&lt;string, int&gt; ages = new()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["홍길동"] = 30,</a:t>
            </a:r>
          </a:p>
          <a:p xmlns:a="http://schemas.openxmlformats.org/drawingml/2006/main">
            <a:r>
              <a:t>    ["김철수"] = 25</a:t>
            </a:r>
          </a:p>
          <a:p xmlns:a="http://schemas.openxmlformats.org/drawingml/2006/main">
            <a: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값 가져오기</a:t>
            </a:r>
          </a:p>
          <a:p xmlns:a="http://schemas.openxmlformats.org/drawingml/2006/main">
            <a:r>
              <a:t>if (ages.TryGetValue("홍길동", out int age))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Console.WriteLine(age);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멀티스레드 환경에서 동시에 읽고 쓰려면 `Dictionary&lt;T,V&gt;` 대신 `ConcurrentDictionary&lt;T,V&gt;`를 사용해야 한다. 게임 서버의 세션 관리나 Web API의 인메모리 캐시에서 자주 만나는 타입이다.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4. LINQ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LINQ는 컬렉션과 데이터 소스 질의를 같은 문법으로 표현하게 해준다.</a:t>
            </a:r>
          </a:p>
          <a:p xmlns:a="http://schemas.openxmlformats.org/drawingml/2006/main">
            <a:r>
              <a:t>2. 개념 포인트: Where, Select, OrderBy, GroupBy는 데이터 흐름을 선언적으로 만든다. / 지연 실행은 ToList/foreach 전까지 실제 연산을 미룬다. / EF Core에서는 LINQ가 SQL로 번역되므로 생성 SQL 확인이 중요하다.</a:t>
            </a:r>
          </a:p>
          <a:p xmlns:a="http://schemas.openxmlformats.org/drawingml/2006/main">
            <a:r>
              <a:t>3. Web API 적용: 필터링과 projection을 DB에서 끝내도록 ToListAsync 위치를 의식한다.</a:t>
            </a:r>
          </a:p>
          <a:p xmlns:a="http://schemas.openxmlformats.org/drawingml/2006/main">
            <a:r>
              <a:t>4. 주의점: 깔끔한 LINQ도 N+1 쿼리나 과도한 메모리 로딩을 만들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LINQ(Language Integrated Query)는 **컬렉션, 데이터베이스, XML, JSON 등 다양한 데이터 소스를 동일한 문법으로 질의할 수 있게 해주는 기능**이다. SQL처럼 데이터를 필터링하고 변환하는 연산을 코드 수준에서 선언적으로 표현할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주요 연산자는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`Where(조건)`: 조건에 맞는 원소만 남긴다 (SQL의 `WHERE`).</a:t>
            </a:r>
          </a:p>
          <a:p xmlns:a="http://schemas.openxmlformats.org/drawingml/2006/main">
            <a:r>
              <a:t>- `Select(변환)`: 각 원소를 다른 형태로 변환한다 (SQL의 `SELECT`).</a:t>
            </a:r>
          </a:p>
          <a:p xmlns:a="http://schemas.openxmlformats.org/drawingml/2006/main">
            <a:r>
              <a:t>- `OrderBy` / `OrderByDescending`: 정렬한다. 복수 정렬은 `ThenBy`를 연이어 쓴다.</a:t>
            </a:r>
          </a:p>
          <a:p xmlns:a="http://schemas.openxmlformats.org/drawingml/2006/main">
            <a:r>
              <a:t>- `GroupBy`: 키 기준으로 묶는다.</a:t>
            </a:r>
          </a:p>
          <a:p xmlns:a="http://schemas.openxmlformats.org/drawingml/2006/main">
            <a:r>
              <a:t>- `FirstOrDefault` / `SingleOrDefault`: 첫 번째 원소 또는 유일한 원소를 가져오되, 없으면 기본값(참조 타입은 null) 반환한다. `First`, `Single`은 없을 때 예외를 던진다.</a:t>
            </a:r>
          </a:p>
          <a:p xmlns:a="http://schemas.openxmlformats.org/drawingml/2006/main">
            <a:r>
              <a:t>- `Any` / `All`: 하나라도 있는지 / 모두가 조건을 만족하는지 검사한다.</a:t>
            </a:r>
          </a:p>
          <a:p xmlns:a="http://schemas.openxmlformats.org/drawingml/2006/main">
            <a:r>
              <a:t>- `Count` / `Sum` / `Average` / `Min` / `Max`: 집계 함수다.</a:t>
            </a:r>
          </a:p>
          <a:p xmlns:a="http://schemas.openxmlformats.org/drawingml/2006/main">
            <a:r>
              <a:t>- `ToList()` / `ToArray()` / `ToDictionary()`: 지연 실행을 종료하고 실제 컬렉션을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LINQ의 중요한 특성 중 하나는 **지연 실행(deferred execution)** 이다. `Where`, `Select` 등은 호출되는 순간 실행되지 않고, `ToList()`나 `foreach`로 열거될 때 비로소 실행된다. Entity Framework에서는 이 원리를 이용해 `Where`/`Select`를 SQL로 번역해 DB에서 실행한다.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List&lt;Product&gt; products = GetProducts();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Where - 필터링</a:t>
            </a:r>
          </a:p>
          <a:p xmlns:a="http://schemas.openxmlformats.org/drawingml/2006/main">
            <a:r>
              <a:t>var expensive = products.Where(p =&gt; p.Price &gt; 100);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Select - 변환</a:t>
            </a:r>
          </a:p>
          <a:p xmlns:a="http://schemas.openxmlformats.org/drawingml/2006/main">
            <a:r>
              <a:t>var names = products.Select(p =&gt; p.Name);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OrderBy - 정렬</a:t>
            </a:r>
          </a:p>
          <a:p xmlns:a="http://schemas.openxmlformats.org/drawingml/2006/main">
            <a:r>
              <a:t>var sorted = products.OrderBy(p =&gt; p.Price);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FirstOrDefault - 첫 항목 또는 기본값</a:t>
            </a:r>
          </a:p>
          <a:p xmlns:a="http://schemas.openxmlformats.org/drawingml/2006/main">
            <a:r>
              <a:t>var first = products.FirstOrDefault(p =&gt; p.Id == 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Any - 존재 여부</a:t>
            </a:r>
          </a:p>
          <a:p xmlns:a="http://schemas.openxmlformats.org/drawingml/2006/main">
            <a:r>
              <a:t>bool hasExpensive = products.Any(p =&gt; p.Price &gt; 1000);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메서드 체이닝</a:t>
            </a:r>
          </a:p>
          <a:p xmlns:a="http://schemas.openxmlformats.org/drawingml/2006/main">
            <a:r>
              <a:t>var result = products</a:t>
            </a:r>
          </a:p>
          <a:p xmlns:a="http://schemas.openxmlformats.org/drawingml/2006/main">
            <a:r>
              <a:t>    .Where(p =&gt; p.Price &gt; 50)</a:t>
            </a:r>
          </a:p>
          <a:p xmlns:a="http://schemas.openxmlformats.org/drawingml/2006/main">
            <a:r>
              <a:t>    .OrderBy(p =&gt; p.Name)</a:t>
            </a:r>
          </a:p>
          <a:p xmlns:a="http://schemas.openxmlformats.org/drawingml/2006/main">
            <a:r>
              <a:t>    .Select(p =&gt; new { p.Name, p.Price })</a:t>
            </a:r>
          </a:p>
          <a:p xmlns:a="http://schemas.openxmlformats.org/drawingml/2006/main">
            <a:r>
              <a:t>    .ToList();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`new { p.Name, p.Price }`는 **익명 형식(anonymous type)** 으로, 임시로 필요한 데이터 구조를 이름 없이 바로 만들어 쓰는 방법이다.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EF Core에서는 DB에 쿼리를 보내는 시점(예: `ToListAsync()`)에 어떤 SQL이 생성되는지 반드시 로그로 확인해야 한다. LINQ로는 깔끔해 보여도 내부적으로는 N+1 쿼리나 풀스캔이 발생할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5. 비동기 프로그래밍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async/await는 Web API가 I/O 대기 중 스레드를 붙잡지 않게 하는 핵심 도구다.</a:t>
            </a:r>
          </a:p>
          <a:p xmlns:a="http://schemas.openxmlformats.org/drawingml/2006/main">
            <a:r>
              <a:t>2. 개념 포인트: async는 비동기 메서드임을 표시하고 await가 실제 대기 지점을 만든다. / 반환 값이 있으면 Task&lt;T&gt;, 없으면 Task를 사용한다. / ValueTask&lt;T&gt;는 성능 최적화가 필요한 특수 상황에서만 신중히 쓴다.</a:t>
            </a:r>
          </a:p>
          <a:p xmlns:a="http://schemas.openxmlformats.org/drawingml/2006/main">
            <a:r>
              <a:t>3. Web API 적용: 컨트롤러부터 EF Core 호출까지 async 체인을 끊지 않는다.</a:t>
            </a:r>
          </a:p>
          <a:p xmlns:a="http://schemas.openxmlformats.org/drawingml/2006/main">
            <a:r>
              <a:t>4. 주의점: Web API 코드에서 async void는 예외 추적을 어렵게 하므로 피한다.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Web API는 I/O 바운드 작업(DB 조회, 외부 API 호출, 파일 입출력)이 매우 많다. 이런 작업을 동기적으로 처리하면 스레드가 대기 상태로 묶여 서버의 처리량이 급격히 떨어진다. `async/await`는 **스레드를 점유하지 않고 I/O 완료를 기다리는** 방식으로 이 문제를 해결한다.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5.1 async/await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`async`: 해당 메서드가 비동기 메서드임을 나타내는 키워드다. `async` 키워드만으로는 비동기가 되지 않으며, 내부에 `await`가 있어야 의미가 있다.</a:t>
            </a:r>
          </a:p>
          <a:p xmlns:a="http://schemas.openxmlformats.org/drawingml/2006/main">
            <a:r>
              <a:t>- `await`: `Task`가 완료될 때까지 기다리되, **스레드는 반환**한다. 완료되면 이어서 실행된다.</a:t>
            </a:r>
          </a:p>
          <a:p xmlns:a="http://schemas.openxmlformats.org/drawingml/2006/main">
            <a:r>
              <a:t>- `Task`: 반환값이 없는 비동기 작업을 나타낸다 (`void`의 비동기 버전이라고 생각하면 된다).</a:t>
            </a:r>
          </a:p>
          <a:p xmlns:a="http://schemas.openxmlformats.org/drawingml/2006/main">
            <a:r>
              <a:t>- `Task&lt;T&gt;`: 결과 타입이 `T`인 비동기 작업을 나타낸다.</a:t>
            </a:r>
          </a:p>
          <a:p xmlns:a="http://schemas.openxmlformats.org/drawingml/2006/main">
            <a:r>
              <a:t>- `ValueTask&lt;T&gt;`: 자주 동기적으로 완료되는 경우에 힙 할당을 줄이기 위해 사용한다 (성능 최적화용이다).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async Task&lt;List&lt;User&gt;&gt; GetUsersAsync()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// 비동기 데이터베이스 조회</a:t>
            </a:r>
          </a:p>
          <a:p xmlns:a="http://schemas.openxmlformats.org/drawingml/2006/main">
            <a:r>
              <a:t>    var users = await _dbContext.Users.ToListAsync();</a:t>
            </a:r>
          </a:p>
          <a:p xmlns:a="http://schemas.openxmlformats.org/drawingml/2006/main">
            <a:r>
              <a:t>    return users;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async Task&lt;User?&gt; GetUserByIdAsync(int id)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return await _dbContext.Users</a:t>
            </a:r>
          </a:p>
          <a:p xmlns:a="http://schemas.openxmlformats.org/drawingml/2006/main">
            <a:r>
              <a:t>        .FirstOrDefaultAsync(u =&gt; u.Id == id);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메서드 이름에 `Async` 접미사를 붙이는 것은 .NET의 강력한 관례다. 호출자는 이름만 보고 비동기 여부를 알 수 있어야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5.2 Task 반환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값을 반환하는 비동기 메서드</a:t>
            </a:r>
          </a:p>
          <a:p xmlns:a="http://schemas.openxmlformats.org/drawingml/2006/main">
            <a:r>
              <a:t>public async Task&lt;string&gt; FetchDataAsync()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await Task.Delay(1000);</a:t>
            </a:r>
          </a:p>
          <a:p xmlns:a="http://schemas.openxmlformats.org/drawingml/2006/main">
            <a:r>
              <a:t>    return "데이터";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반환값이 없는 비동기 메서드</a:t>
            </a:r>
          </a:p>
          <a:p xmlns:a="http://schemas.openxmlformats.org/drawingml/2006/main">
            <a:r>
              <a:t>public async Task SaveDataAsync(string data)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await _repository.SaveAsync(data);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**반드시 피해야 할 안티패턴**들이다.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`async void`: 예외를 캐치할 수 없고 완료 추적이 불가능하다. 이벤트 핸들러가 아닌 이상 사용하지 말아야 한다.</a:t>
            </a:r>
          </a:p>
          <a:p xmlns:a="http://schemas.openxmlformats.org/drawingml/2006/main">
            <a:r>
              <a:t>- `.Result`, `.Wait()`: 동기로 기다리는 호출로, ASP.NET 환경에서는 **데드락**을 일으킬 수 있다.</a:t>
            </a:r>
          </a:p>
          <a:p xmlns:a="http://schemas.openxmlformats.org/drawingml/2006/main">
            <a:r>
              <a:t>- `Task.Run`으로 감싸기: 이미 비동기인 메서드를 `Task.Run`으로 감싸는 것은 스레드풀 스레드 하나를 더 소비할 뿐 이득이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`ConfigureAwait(false)`는 라이브러리 코드에서 유용하지만, ASP.NET Core는 더 이상 동기화 컨텍스트를 사용하지 않으므로 애플리케이션 코드에서는 붙일 필요가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6. 인터페이스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인터페이스는 컨트롤러가 구현 세부사항 대신 계약에 의존하게 만든다.</a:t>
            </a:r>
          </a:p>
          <a:p xmlns:a="http://schemas.openxmlformats.org/drawingml/2006/main">
            <a:r>
              <a:t>2. 개념 포인트: DI 컨테이너는 인터페이스와 구현체를 연결한다. / 컨트롤러는 IUserService 같은 계약만 알고 호출한다. / 테스트에서는 같은 계약으로 mock/fake를 주입할 수 있다.</a:t>
            </a:r>
          </a:p>
          <a:p xmlns:a="http://schemas.openxmlformats.org/drawingml/2006/main">
            <a:r>
              <a:t>3. Web API 적용: 비즈니스 로직은 인터페이스 뒤의 서비스로 빼고, 컨트롤러는 HTTP 조정자 역할에 집중한다.</a:t>
            </a:r>
          </a:p>
          <a:p xmlns:a="http://schemas.openxmlformats.org/drawingml/2006/main">
            <a:r>
              <a:t>4. 주의점: 의미 없는 인터페이스 남발은 구조를 복잡하게 만들 뿐이다.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인터페이스(interface)는 **"무엇을 할 수 있는가"에 대한 계약**이다. 구현 세부사항은 담지 않고 어떤 메서드와 프로퍼티가 있어야 하는지만 기술한다. 의존성 주입, 단위 테스트의 목(mock) 객체, 다형성을 위한 핵심 도구다.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인터페이스를 사용해야 하는 이유는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**느슨한 결합(loose coupling)**: 컨트롤러가 `ProductService` 구체 클래스 대신 `IProductService` 인터페이스에 의존하면, 구현을 교체해도 컨트롤러 코드는 변경할 필요가 없다.</a:t>
            </a:r>
          </a:p>
          <a:p xmlns:a="http://schemas.openxmlformats.org/drawingml/2006/main">
            <a:r>
              <a:t>- **테스트 용이성**: 단위 테스트에서 실제 DB에 접근하는 대신 인터페이스의 가짜 구현을 주입할 수 있다.</a:t>
            </a:r>
          </a:p>
          <a:p xmlns:a="http://schemas.openxmlformats.org/drawingml/2006/main">
            <a:r>
              <a:t>- **다중 구현**: 한 인터페이스를 상황에 따라 다른 구현으로 갈아끼울 수 있다 (예: `ICacheService`를 메모리 / Redis 버전으로 교체).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C# 네이밍 관례상 인터페이스는 **대문자 `I`로 시작**한다 (`IProductService`, `IRepository` 등).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인터페이스 정의</a:t>
            </a:r>
          </a:p>
          <a:p xmlns:a="http://schemas.openxmlformats.org/drawingml/2006/main">
            <a:r>
              <a:t>public interface IProductService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Task&lt;List&lt;Product&gt;&gt; GetAllAsync();</a:t>
            </a:r>
          </a:p>
          <a:p xmlns:a="http://schemas.openxmlformats.org/drawingml/2006/main">
            <a:r>
              <a:t>    Task&lt;Product?&gt; GetByIdAsync(int id);</a:t>
            </a:r>
          </a:p>
          <a:p xmlns:a="http://schemas.openxmlformats.org/drawingml/2006/main">
            <a:r>
              <a:t>    Task&lt;Product&gt; CreateAsync(Product product);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구현</a:t>
            </a:r>
          </a:p>
          <a:p xmlns:a="http://schemas.openxmlformats.org/drawingml/2006/main">
            <a:r>
              <a:t>public class ProductService : IProductService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readonly AppDbContext _context;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ProductService(AppDbContext context)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_context = context;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Task&lt;List&lt;Product&gt;&gt; GetAllAsync()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await _context.Products.ToListAsync();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Task&lt;Product?&gt; GetByIdAsync(int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await _context.Products.FindAsync(id);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Task&lt;Product&gt; CreateAsync(Product product)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_context.Products.Add(product);</a:t>
            </a:r>
          </a:p>
          <a:p xmlns:a="http://schemas.openxmlformats.org/drawingml/2006/main">
            <a:r>
              <a:t>        await _context.SaveChangesAsync();</a:t>
            </a:r>
          </a:p>
          <a:p xmlns:a="http://schemas.openxmlformats.org/drawingml/2006/main">
            <a:r>
              <a:t>        return product;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`Program.cs`에서 DI 컨테이너에 등록하면 실제 연결이 이루어진다.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builder.Services.AddScoped&lt;IProductService, ProductService&gt;();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등록할 때 수명(lifetime)은 세 가지가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`Singleton`: 애플리케이션 전체에서 하나의 인스턴스가 사용된다.</a:t>
            </a:r>
          </a:p>
          <a:p xmlns:a="http://schemas.openxmlformats.org/drawingml/2006/main">
            <a:r>
              <a:t>- `Scoped`: HTTP 요청마다 새로 생성된다 (Web API의 기본 선택지다).</a:t>
            </a:r>
          </a:p>
          <a:p xmlns:a="http://schemas.openxmlformats.org/drawingml/2006/main">
            <a:r>
              <a:t>- `Transient`: 요청할 때마다 새로 생성된다.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7. 레코드 (C# 9+)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레코드는 값 중심 데이터를 간결하고 불변에 가깝게 표현한다.</a:t>
            </a:r>
          </a:p>
          <a:p xmlns:a="http://schemas.openxmlformats.org/drawingml/2006/main">
            <a:r>
              <a:t>2. 개념 포인트: record는 값 동등성을 기본으로 제공한다. / with 표현식은 일부 값만 바꾼 사본을 만든다. / DTO, 응답 모델, 간단한 값 객체에 잘 맞는다.</a:t>
            </a:r>
          </a:p>
          <a:p xmlns:a="http://schemas.openxmlformats.org/drawingml/2006/main">
            <a:r>
              <a:t>3. Web API 적용: 요청/응답 DTO는 record나 init 프로퍼티로 불필요한 변경을 줄인다.</a:t>
            </a:r>
          </a:p>
          <a:p xmlns:a="http://schemas.openxmlformats.org/drawingml/2006/main">
            <a:r>
              <a:t>4. 주의점: 엔티티처럼 식별성과 생명주기가 중요한 객체에는 class가 더 자연스러울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`record`는 **값 기반 동등성(value equality)** 을 가지는 참조 타입이다. 일반 클래스는 참조 동등성(같은 메모리 주소를 가리켜야 같음)을 가지지만, 레코드는 **모든 프로퍼티 값이 같으면 동등**하다고 판단한다.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레코드의 주요 특징은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**불변성(immutability)**: 기본적으로 `init` 접근자를 사용해 생성 후 변경 불가능하다.</a:t>
            </a:r>
          </a:p>
          <a:p xmlns:a="http://schemas.openxmlformats.org/drawingml/2006/main">
            <a:r>
              <a:t>- **값 기반 동등성**: `Equals`, `GetHashCode`, `==`, `!=`가 프로퍼티 값 기준으로 자동 생성된다.</a:t>
            </a:r>
          </a:p>
          <a:p xmlns:a="http://schemas.openxmlformats.org/drawingml/2006/main">
            <a:r>
              <a:t>- **`with` 표현식**: 일부 프로퍼티만 변경한 복사본을 쉽게 만들 수 있다.</a:t>
            </a:r>
          </a:p>
          <a:p xmlns:a="http://schemas.openxmlformats.org/drawingml/2006/main">
            <a:r>
              <a:t>- **분해(deconstruction)**: 위치 매개변수 레코드는 자동으로 분해 가능하다.</a:t>
            </a:r>
          </a:p>
          <a:p xmlns:a="http://schemas.openxmlformats.org/drawingml/2006/main">
            <a:r>
              <a:t>- **예쁜 `ToString`**: 디버깅에 유용한 문자열 표현이 자동 생성된다.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간결한 레코드 정의</a:t>
            </a:r>
          </a:p>
          <a:p xmlns:a="http://schemas.openxmlformats.org/drawingml/2006/main">
            <a:r>
              <a:t>public record ProductDto(int Id, string Name, decimal Price);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프로퍼티가 있는 레코드</a:t>
            </a:r>
          </a:p>
          <a:p xmlns:a="http://schemas.openxmlformats.org/drawingml/2006/main">
            <a:r>
              <a:t>public record CreateProductRequest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string Name { get; init; } = string.Empty;</a:t>
            </a:r>
          </a:p>
          <a:p xmlns:a="http://schemas.openxmlformats.org/drawingml/2006/main">
            <a:r>
              <a:t>    public decimal Price { get; init;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dto = new ProductDto(1, "노트북", 1500000m);</a:t>
            </a:r>
          </a:p>
          <a:p xmlns:a="http://schemas.openxmlformats.org/drawingml/2006/main">
            <a:r>
              <a:t>var updated = dto with { Price = 1400000m }; // 복사 후 수정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**레코드를 언제 쓸 것인가**: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DTO (Data Transfer Object): API 요청/응답 모델에 가장 잘 맞는다.</a:t>
            </a:r>
          </a:p>
          <a:p xmlns:a="http://schemas.openxmlformats.org/drawingml/2006/main">
            <a:r>
              <a:t>- 값 객체(Value Object): 도메인 주도 설계(DDD)의 값 객체 구현에 적합하다.</a:t>
            </a:r>
          </a:p>
          <a:p xmlns:a="http://schemas.openxmlformats.org/drawingml/2006/main">
            <a:r>
              <a:t>- 이벤트 메시지: 메시징 시스템에서 불변 이벤트를 표현할 때 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**레코드를 피해야 할 때**: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EF Core 엔티티: 일반적으로 `class`를 사용하는 것이 권장된다. 레코드의 값 동등성은 엔티티의 ID 기반 동등성과 충돌할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8. 패턴 매칭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패턴 매칭은 조건 분기를 타입과 값의 형태에 맞춰 읽기 쉽게 정리한다.</a:t>
            </a:r>
          </a:p>
          <a:p xmlns:a="http://schemas.openxmlformats.org/drawingml/2006/main">
            <a:r>
              <a:t>2. 개념 포인트: is 패턴은 타입 확인과 변수 바인딩을 동시에 처리한다. / switch 식은 여러 조건을 한 표현식으로 압축한다. / property/list 패턴은 복잡한 객체 조건을 명확히 드러낸다.</a:t>
            </a:r>
          </a:p>
          <a:p xmlns:a="http://schemas.openxmlformats.org/drawingml/2006/main">
            <a:r>
              <a:t>3. Web API 적용: 상태 코드, enum, 요청 모델 분기처럼 규칙이 보이는 곳에 적용한다.</a:t>
            </a:r>
          </a:p>
          <a:p xmlns:a="http://schemas.openxmlformats.org/drawingml/2006/main">
            <a:r>
              <a:t>4. 주의점: 분기가 많아지면 패턴보다 정책 객체나 전략 분리가 나을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패턴 매칭은 **값의 모양(shape)을 검사하고 분기하는 선언적 문법**이다. C#은 버전이 올라갈수록 패턴 매칭이 강력해졌다.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**상수 패턴**: `x is 0`처럼 상수와 비교한다.</a:t>
            </a:r>
          </a:p>
          <a:p xmlns:a="http://schemas.openxmlformats.org/drawingml/2006/main">
            <a:r>
              <a:t>- **타입 패턴**: `obj is Product product`처럼 타입을 검사하고 변수로 바인딩한다.</a:t>
            </a:r>
          </a:p>
          <a:p xmlns:a="http://schemas.openxmlformats.org/drawingml/2006/main">
            <a:r>
              <a:t>- **관계 패턴**: `&lt; 100`, `&gt;= 0`처럼 비교 연산자를 쓴다 (C# 9+).</a:t>
            </a:r>
          </a:p>
          <a:p xmlns:a="http://schemas.openxmlformats.org/drawingml/2006/main">
            <a:r>
              <a:t>- **논리 패턴**: `and`, `or`, `not`을 조합한다 (C# 9+).</a:t>
            </a:r>
          </a:p>
          <a:p xmlns:a="http://schemas.openxmlformats.org/drawingml/2006/main">
            <a:r>
              <a:t>- **프로퍼티 패턴**: `{ Price: &gt; 1000, Status: "Active" }` 형태로 객체의 프로퍼티를 검사한다.</a:t>
            </a:r>
          </a:p>
          <a:p xmlns:a="http://schemas.openxmlformats.org/drawingml/2006/main">
            <a:r>
              <a:t>- **`switch` 표현식**: 문이 아닌 **표현식**으로 값을 반환한다. `_`는 기본 케이스다.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switch 표현식</a:t>
            </a:r>
          </a:p>
          <a:p xmlns:a="http://schemas.openxmlformats.org/drawingml/2006/main">
            <a:r>
              <a:t>string GetCategory(decimal price) =&gt; price switch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&lt; 10000 =&gt; "저가",</a:t>
            </a:r>
          </a:p>
          <a:p xmlns:a="http://schemas.openxmlformats.org/drawingml/2006/main">
            <a:r>
              <a:t>    &lt; 100000 =&gt; "중가",</a:t>
            </a:r>
          </a:p>
          <a:p xmlns:a="http://schemas.openxmlformats.org/drawingml/2006/main">
            <a:r>
              <a:t>    _ =&gt; "고가"</a:t>
            </a:r>
          </a:p>
          <a:p xmlns:a="http://schemas.openxmlformats.org/drawingml/2006/main">
            <a: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is 패턴</a:t>
            </a:r>
          </a:p>
          <a:p xmlns:a="http://schemas.openxmlformats.org/drawingml/2006/main">
            <a:r>
              <a:t>if (obj is Product product)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Console.WriteLine(product.Name);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null 체크</a:t>
            </a:r>
          </a:p>
          <a:p xmlns:a="http://schemas.openxmlformats.org/drawingml/2006/main">
            <a:r>
              <a:t>if (user is not null)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Console.WriteLine(user.Name);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`is not null`은 `!= null`과 비슷하지만 **항상 정확한 null 검사**를 보장한다. `==`는 연산자 오버로딩이 가능하지만 `is`는 그렇지 않아, 의도치 않은 동작을 방지할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복잡한 `if-else` 체인은 `switch` 표현식으로 바꾸면 가독성이 크게 향상된다. 게임 서버에서 상태 전이 로직을 표현할 때 특히 효과적이다.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9. 예외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예외 처리는 실패를 숨기는 기술이 아니라 API 응답 계약으로 바꾸는 기술이다.</a:t>
            </a:r>
          </a:p>
          <a:p xmlns:a="http://schemas.openxmlformats.org/drawingml/2006/main">
            <a:r>
              <a:t>2. 개념 포인트: try/catch/finally는 예외 흐름과 정리 작업을 구분한다. / 사용자 정의 예외는 비즈니스 실패의 의미를 표현한다. / 전역 예외 처리 미들웨어는 응답 형식을 일관되게 만든다.</a:t>
            </a:r>
          </a:p>
          <a:p xmlns:a="http://schemas.openxmlformats.org/drawingml/2006/main">
            <a:r>
              <a:t>3. Web API 적용: 컨트롤러마다 catch를 반복하기보다 미들웨어나 필터에서 공통 처리한다.</a:t>
            </a:r>
          </a:p>
          <a:p xmlns:a="http://schemas.openxmlformats.org/drawingml/2006/main">
            <a:r>
              <a:t>4. 주의점: 예외를 삼키거나 500으로만 돌려주면 클라이언트가 복구할 정보를 잃는다.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예외(exception)는 **예상치 못한 오류 상황**을 나타낸다. 정상적인 제어 흐름에는 예외를 사용하지 않는 것이 원칙이다(예외는 비용이 크다).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`try`: 예외가 발생할 가능성이 있는 블록을 감싼다.</a:t>
            </a:r>
          </a:p>
          <a:p xmlns:a="http://schemas.openxmlformats.org/drawingml/2006/main">
            <a:r>
              <a:t>- `catch`: 발생한 예외를 처리한다. 구체적인 예외부터 일반적인 예외 순으로 배치한다.</a:t>
            </a:r>
          </a:p>
          <a:p xmlns:a="http://schemas.openxmlformats.org/drawingml/2006/main">
            <a:r>
              <a:t>- `finally`: 예외 발생 여부와 관계없이 항상 실행되는 블록이다. 리소스 정리에 사용하지만, `using`이 있으면 대부분 필요 없다.</a:t>
            </a:r>
          </a:p>
          <a:p xmlns:a="http://schemas.openxmlformats.org/drawingml/2006/main">
            <a:r>
              <a:t>- `throw`: 예외를 던진다.</a:t>
            </a:r>
          </a:p>
          <a:p xmlns:a="http://schemas.openxmlformats.org/drawingml/2006/main">
            <a:r>
              <a:t>- `throw;` (세미콜론만): 잡은 예외를 원래 스택 트레이스를 보존하며 다시 던진다. `throw ex;`는 스택 정보를 잃기 때문에 피해야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async Task&lt;Product&gt; GetProductAsync(int id)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try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var product = await _context.Products.FindAsync(id);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(product is null)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throw new NotFoundException($"Product {id} not found");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product;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catch (DbUpdateException ex)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_logger.LogError(ex, "Database error");</a:t>
            </a:r>
          </a:p>
          <a:p xmlns:a="http://schemas.openxmlformats.org/drawingml/2006/main">
            <a:r>
              <a:t>        throw;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**자주 쓰는 예외 타입**들은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`ArgumentNullException`: 매개변수가 null이면 안 될 때 던진다.</a:t>
            </a:r>
          </a:p>
          <a:p xmlns:a="http://schemas.openxmlformats.org/drawingml/2006/main">
            <a:r>
              <a:t>- `ArgumentException`, `ArgumentOutOfRangeException`: 매개변수 값이 잘못되었을 때 던진다.</a:t>
            </a:r>
          </a:p>
          <a:p xmlns:a="http://schemas.openxmlformats.org/drawingml/2006/main">
            <a:r>
              <a:t>- `InvalidOperationException`: 객체가 해당 연산을 수행할 수 없는 상태일 때 던진다.</a:t>
            </a:r>
          </a:p>
          <a:p xmlns:a="http://schemas.openxmlformats.org/drawingml/2006/main">
            <a:r>
              <a:t>- `NotImplementedException`: 아직 구현되지 않은 메서드에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**Web API 모범 사례**: 전역 예외 처리 미들웨어(`UseExceptionHandler` 또는 커스텀 미들웨어)를 사용해 예외를 일관된 JSON 응답으로 변환하고, .NET 8+의 `IExceptionHandler` 인터페이스를 활용하는 것이 권장된다.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10. 특성(Attributes)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Attributes는 코드에 메타데이터를 붙여 프레임워크 동작을 선언한다.</a:t>
            </a:r>
          </a:p>
          <a:p xmlns:a="http://schemas.openxmlformats.org/drawingml/2006/main">
            <a:r>
              <a:t>2. 개념 포인트: ApiController, Route, HttpGet 같은 특성은 라우팅과 바인딩을 설정한다. / Required, Range 등은 모델 검증 규칙이 된다. / 커스텀 Attribute로 반복 규칙을 선언형으로 만들 수 있다.</a:t>
            </a:r>
          </a:p>
          <a:p xmlns:a="http://schemas.openxmlformats.org/drawingml/2006/main">
            <a:r>
              <a:t>3. Web API 적용: 컨트롤러와 DTO에 의도를 드러내는 특성을 붙여 프레임워크 기능을 활용한다.</a:t>
            </a:r>
          </a:p>
          <a:p xmlns:a="http://schemas.openxmlformats.org/drawingml/2006/main">
            <a:r>
              <a:t>4. 주의점: 특성은 숨은 실행 경로를 만들 수 있으므로 팀 규칙과 문서화가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특성(Attribute)은 **메타데이터**다. 코드의 동작을 직접 바꾸는 대신, 컴파일러나 런타임, 프레임워크가 읽어 해석한다. ASP.NET Core는 라우팅, 모델 바인딩, 검증, 직렬화 등 거의 모든 부분에서 특성을 활용한다.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자주 쓰는 Web API 특성들은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`[ApiController]`: 컨트롤러에 API 전용 기능(자동 모델 검증, 문제 세부 사항 응답 등)을 활성화한다.</a:t>
            </a:r>
          </a:p>
          <a:p xmlns:a="http://schemas.openxmlformats.org/drawingml/2006/main">
            <a:r>
              <a:t>- `[Route("api/[controller]")]`: 라우팅 템플릿을 지정한다. `[controller]`는 컨트롤러 이름(접미사 `Controller` 제거)으로 치환된다.</a:t>
            </a:r>
          </a:p>
          <a:p xmlns:a="http://schemas.openxmlformats.org/drawingml/2006/main">
            <a:r>
              <a:t>- `[HttpGet]`, `[HttpPost]`, `[HttpPut]`, `[HttpDelete]`, `[HttpPatch]`: HTTP 메서드를 지정한다.</a:t>
            </a:r>
          </a:p>
          <a:p xmlns:a="http://schemas.openxmlformats.org/drawingml/2006/main">
            <a:r>
              <a:t>- `[FromBody]`: 매개변수를 요청 본문(JSON 등)에서 바인딩한다.</a:t>
            </a:r>
          </a:p>
          <a:p xmlns:a="http://schemas.openxmlformats.org/drawingml/2006/main">
            <a:r>
              <a:t>- `[FromQuery]`: 쿼리 문자열에서 바인딩한다.</a:t>
            </a:r>
          </a:p>
          <a:p xmlns:a="http://schemas.openxmlformats.org/drawingml/2006/main">
            <a:r>
              <a:t>- `[FromRoute]`: URL 라우트에서 바인딩한다.</a:t>
            </a:r>
          </a:p>
          <a:p xmlns:a="http://schemas.openxmlformats.org/drawingml/2006/main">
            <a:r>
              <a:t>- `[FromHeader]`: 헤더에서 바인딩한다.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검증(Validation) 특성들은 `System.ComponentModel.DataAnnotations` 네임스페이스에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`[Required]`: 필수 값임을 지정한다.</a:t>
            </a:r>
          </a:p>
          <a:p xmlns:a="http://schemas.openxmlformats.org/drawingml/2006/main">
            <a:r>
              <a:t>- `[StringLength(max)]`, `[MinLength]`, `[MaxLength]`: 문자열 길이를 제한한다.</a:t>
            </a:r>
          </a:p>
          <a:p xmlns:a="http://schemas.openxmlformats.org/drawingml/2006/main">
            <a:r>
              <a:t>- `[Range(min, max)]`: 숫자 범위를 제한한다.</a:t>
            </a:r>
          </a:p>
          <a:p xmlns:a="http://schemas.openxmlformats.org/drawingml/2006/main">
            <a:r>
              <a:t>- `[RegularExpression("^...$")]`: 정규식 패턴을 검사한다.</a:t>
            </a:r>
          </a:p>
          <a:p xmlns:a="http://schemas.openxmlformats.org/drawingml/2006/main">
            <a:r>
              <a:t>- `[EmailAddress]`, `[Url]`, `[Phone]`: 형식 검증이다.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[ApiController]</a:t>
            </a:r>
          </a:p>
          <a:p xmlns:a="http://schemas.openxmlformats.org/drawingml/2006/main">
            <a:r>
              <a:t>[Route("api/[controller]")]</a:t>
            </a:r>
          </a:p>
          <a:p xmlns:a="http://schemas.openxmlformats.org/drawingml/2006/main">
            <a:r>
              <a:t>public class ProductsController : ControllerBase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[HttpGet]</a:t>
            </a:r>
          </a:p>
          <a:p xmlns:a="http://schemas.openxmlformats.org/drawingml/2006/main">
            <a:r>
              <a:t>    public async Task&lt;ActionResult&lt;List&lt;Product&gt;&gt;&gt; GetAll()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// ...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[HttpGet("{id}")]</a:t>
            </a:r>
          </a:p>
          <a:p xmlns:a="http://schemas.openxmlformats.org/drawingml/2006/main">
            <a:r>
              <a:t>    public async Task&lt;ActionResult&lt;Product&gt;&gt; GetById(int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// ...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[HttpPost]</a:t>
            </a:r>
          </a:p>
          <a:p xmlns:a="http://schemas.openxmlformats.org/drawingml/2006/main">
            <a:r>
              <a:t>    public async Task&lt;ActionResult&lt;Product&gt;&gt; Create(</a:t>
            </a:r>
          </a:p>
          <a:p xmlns:a="http://schemas.openxmlformats.org/drawingml/2006/main">
            <a:r>
              <a:t>        [FromBody] CreateProductRequest request)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// ...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검증 특성</a:t>
            </a:r>
          </a:p>
          <a:p xmlns:a="http://schemas.openxmlformats.org/drawingml/2006/main">
            <a:r>
              <a:t>public class CreateProductRequest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[Required(ErrorMessage = "이름은 필수입니다")]</a:t>
            </a:r>
          </a:p>
          <a:p xmlns:a="http://schemas.openxmlformats.org/drawingml/2006/main">
            <a:r>
              <a:t>    [StringLength(100)]</a:t>
            </a:r>
          </a:p>
          <a:p xmlns:a="http://schemas.openxmlformats.org/drawingml/2006/main">
            <a:r>
              <a:t>    public string Name { get; set; } = string.Empty;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[Range(0, 1000000)]</a:t>
            </a:r>
          </a:p>
          <a:p xmlns:a="http://schemas.openxmlformats.org/drawingml/2006/main">
            <a:r>
              <a:t>    public decimal Price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`[ApiController]`가 붙은 컨트롤러는 모델 검증이 실패하면 **자동으로 400 Bad Request**를 반환해 준다. 이 덕분에 컨트롤러 메서드 안에서 `if (!ModelState.IsValid)`를 일일이 쓸 필요가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11. 확장 메서드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확장 메서드는 기존 타입을 수정하지 않고 도메인에 맞는 호출 문법을 제공한다.</a:t>
            </a:r>
          </a:p>
          <a:p xmlns:a="http://schemas.openxmlformats.org/drawingml/2006/main">
            <a:r>
              <a:t>2. 개념 포인트: static 클래스와 this 매개변수로 정의한다. / 문자열/컬렉션/DTO 변환 같은 반복 코드를 줄인다. / LINQ도 확장 메서드 모델 위에 세워져 있다.</a:t>
            </a:r>
          </a:p>
          <a:p xmlns:a="http://schemas.openxmlformats.org/drawingml/2006/main">
            <a:r>
              <a:t>3. Web API 적용: 널/빈 문자열 처리, 매핑 보조 함수처럼 작고 명확한 동작에 사용한다.</a:t>
            </a:r>
          </a:p>
          <a:p xmlns:a="http://schemas.openxmlformats.org/drawingml/2006/main">
            <a:r>
              <a:t>4. 주의점: 너무 많은 확장 메서드는 실제 소유 타입과 책임을 흐리게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확장 메서드(extension method)는 **기존 타입을 수정하지 않고 새 메서드를 추가**할 수 있는 기능이다. 특히 남이 만든 타입(BCL, 서드파티 라이브러리)에 편의 메서드를 붙일 때 강력하다.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규칙은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반드시 **정적 클래스(`static class`)** 내부에 정의해야 한다.</a:t>
            </a:r>
          </a:p>
          <a:p xmlns:a="http://schemas.openxmlformats.org/drawingml/2006/main">
            <a:r>
              <a:t>- **정적 메서드**여야 한다.</a:t>
            </a:r>
          </a:p>
          <a:p xmlns:a="http://schemas.openxmlformats.org/drawingml/2006/main">
            <a:r>
              <a:t>- 첫 매개변수에 `this` 키워드를 붙이면, 그 매개변수의 타입에 대한 확장 메서드가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LINQ 자체가 확장 메서드로 구현되어 있다. `IEnumerable&lt;T&gt;`에 `Where`, `Select` 같은 메서드가 **원래는 없었지만**, `System.Linq.Enumerable` 정적 클래스의 확장 메서드로 제공된다.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static class StringExtensions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static bool IsValidEmail(this string email)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email.Contains("@") &amp;&amp; email.Contains(".");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string email = "test@example.com";</a:t>
            </a:r>
          </a:p>
          <a:p xmlns:a="http://schemas.openxmlformats.org/drawingml/2006/main">
            <a:r>
              <a:t>bool valid = email.IsValidEmail();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**주의 사항**: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동일한 시그니처의 **인스턴스 메서드가 우선**한다. 확장 메서드는 인스턴스 메서드가 없을 때만 고려된다.</a:t>
            </a:r>
          </a:p>
          <a:p xmlns:a="http://schemas.openxmlformats.org/drawingml/2006/main">
            <a:r>
              <a:t>- 네임스페이스를 `using`으로 가져와야 확장 메서드가 보인다.</a:t>
            </a:r>
          </a:p>
          <a:p xmlns:a="http://schemas.openxmlformats.org/drawingml/2006/main">
            <a:r>
              <a:t>- 과도한 확장 메서드는 가독성을 해칠 수 있다. "이 타입에 자연스럽게 있었어야 하는가?"를 기준으로 판단한다.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IQueryable에 페이징, 정렬 등을 확장 메서드로 제공하면 코드 재사용성이 매우 높아진다 (24.2절의 `Paginate` 예제 참조).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12. 실전 Web API 컨트롤러 예제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실전 컨트롤러는 라우팅, 검증, 서비스 호출, ActionResult 응답을 한 흐름으로 엮는다.</a:t>
            </a:r>
          </a:p>
          <a:p xmlns:a="http://schemas.openxmlformats.org/drawingml/2006/main">
            <a:r>
              <a:t>2. 개념 포인트: 컨트롤러는 HTTP 요청을 받아 서비스로 위임한다. / ActionResult&lt;T&gt;는 성공과 실패 응답을 타입으로 표현한다. / CreatedAtAction, NotFound, BadRequest는 REST 응답 의도를 드러낸다.</a:t>
            </a:r>
          </a:p>
          <a:p xmlns:a="http://schemas.openxmlformats.org/drawingml/2006/main">
            <a:r>
              <a:t>3. Web API 적용: 컨트롤러에는 비즈니스 계산을 넣지 말고 서비스와 DTO 경계를 분리한다.</a:t>
            </a:r>
          </a:p>
          <a:p xmlns:a="http://schemas.openxmlformats.org/drawingml/2006/main">
            <a:r>
              <a:t>4. 주의점: 컨트롤러가 길어지면 테스트가 어려워지고 HTTP와 도메인 로직이 섞인다.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지금까지 배운 내용을 종합한 완전한 컨트롤러다. 의존성 주입, 비동기, LINQ, 특성, 검증, 레코드, 패턴 매칭이 모두 녹아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컨트롤러의 각 액션이 반환하는 `ActionResult&lt;T&gt;`는 **200/201 같은 성공 응답의 데이터** 또는 **`NotFound()`, `BadRequest()` 같은 상태 코드 전용 결과**를 유연하게 반환할 수 있게 해주는 특별한 타입이다. `ControllerBase`는 `Controller`와 달리 뷰 관련 기능이 없는 API 전용 기반 클래스다.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[ApiController]</a:t>
            </a:r>
          </a:p>
          <a:p xmlns:a="http://schemas.openxmlformats.org/drawingml/2006/main">
            <a:r>
              <a:t>[Route("api/[controller]")]</a:t>
            </a:r>
          </a:p>
          <a:p xmlns:a="http://schemas.openxmlformats.org/drawingml/2006/main">
            <a:r>
              <a:t>public class ProductsController : ControllerBase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readonly IProductService _productService;</a:t>
            </a:r>
          </a:p>
          <a:p xmlns:a="http://schemas.openxmlformats.org/drawingml/2006/main">
            <a:r>
              <a:t>    private readonly ILogger&lt;ProductsController&gt; _logger;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ProductsController(</a:t>
            </a:r>
          </a:p>
          <a:p xmlns:a="http://schemas.openxmlformats.org/drawingml/2006/main">
            <a:r>
              <a:t>        IProductService productService,</a:t>
            </a:r>
          </a:p>
          <a:p xmlns:a="http://schemas.openxmlformats.org/drawingml/2006/main">
            <a:r>
              <a:t>        ILogger&lt;ProductsController&gt; logger)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_productService = productService;</a:t>
            </a:r>
          </a:p>
          <a:p xmlns:a="http://schemas.openxmlformats.org/drawingml/2006/main">
            <a:r>
              <a:t>        _logger = logger;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[HttpGet]</a:t>
            </a:r>
          </a:p>
          <a:p xmlns:a="http://schemas.openxmlformats.org/drawingml/2006/main">
            <a:r>
              <a:t>    public async Task&lt;ActionResult&lt;List&lt;ProductDto&gt;&gt;&gt; GetAll(</a:t>
            </a:r>
          </a:p>
          <a:p xmlns:a="http://schemas.openxmlformats.org/drawingml/2006/main">
            <a:r>
              <a:t>        [FromQuery] decimal? minPrice = null)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try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var products = await _productService.GetAllAsync();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if (minPrice.HasValue)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  products = products</a:t>
            </a:r>
          </a:p>
          <a:p xmlns:a="http://schemas.openxmlformats.org/drawingml/2006/main">
            <a:r>
              <a:t>                    .Where(p =&gt; p.Price &gt;= minPrice.Value)</a:t>
            </a:r>
          </a:p>
          <a:p xmlns:a="http://schemas.openxmlformats.org/drawingml/2006/main">
            <a:r>
              <a:t>                    .ToList();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var dtos = products</a:t>
            </a:r>
          </a:p>
          <a:p xmlns:a="http://schemas.openxmlformats.org/drawingml/2006/main">
            <a:r>
              <a:t>                .Select(p =&gt; new ProductDto(p.Id, p.Name, p.Price))</a:t>
            </a:r>
          </a:p>
          <a:p xmlns:a="http://schemas.openxmlformats.org/drawingml/2006/main">
            <a:r>
              <a:t>                .ToList();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return Ok(dtos);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catch (Exception ex)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_logger.LogError(ex, "제품 목록 조회 실패");</a:t>
            </a:r>
          </a:p>
          <a:p xmlns:a="http://schemas.openxmlformats.org/drawingml/2006/main">
            <a:r>
              <a:t>            return StatusCode(500, "서버 오류가 발생했습니다");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[HttpGet("{id}")]</a:t>
            </a:r>
          </a:p>
          <a:p xmlns:a="http://schemas.openxmlformats.org/drawingml/2006/main">
            <a:r>
              <a:t>    public async Task&lt;ActionResult&lt;ProductDto&gt;&gt; GetById(int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var product = await _productService.GetByIdAsync(id);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(product is null)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NotFound($"제품 {id}를 찾을 수 없습니다");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Ok(new ProductDto(product.Id, product.Name, product.Price));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[HttpPost]</a:t>
            </a:r>
          </a:p>
          <a:p xmlns:a="http://schemas.openxmlformats.org/drawingml/2006/main">
            <a:r>
              <a:t>    public async Task&lt;ActionResult&lt;ProductDto&gt;&gt; Create(</a:t>
            </a:r>
          </a:p>
          <a:p xmlns:a="http://schemas.openxmlformats.org/drawingml/2006/main">
            <a:r>
              <a:t>        [FromBody] CreateProductRequest request)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(!ModelState.IsValid)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BadRequest(ModelState);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var product = new Product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Name = request.Name,</a:t>
            </a:r>
          </a:p>
          <a:p xmlns:a="http://schemas.openxmlformats.org/drawingml/2006/main">
            <a:r>
              <a:t>            Price = request.Price,</a:t>
            </a:r>
          </a:p>
          <a:p xmlns:a="http://schemas.openxmlformats.org/drawingml/2006/main">
            <a:r>
              <a:t>            CreatedAt = DateTime.UtcNow</a:t>
            </a:r>
          </a:p>
          <a:p xmlns:a="http://schemas.openxmlformats.org/drawingml/2006/main">
            <a:r>
              <a:t>        };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var created = await _productService.CreateAsync(product);</a:t>
            </a:r>
          </a:p>
          <a:p xmlns:a="http://schemas.openxmlformats.org/drawingml/2006/main">
            <a:r>
              <a:t>        var dto = new ProductDto(created.Id, created.Name, created.Price);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CreatedAtAction(</a:t>
            </a:r>
          </a:p>
          <a:p xmlns:a="http://schemas.openxmlformats.org/drawingml/2006/main">
            <a:r>
              <a:t>            nameof(GetById),</a:t>
            </a:r>
          </a:p>
          <a:p xmlns:a="http://schemas.openxmlformats.org/drawingml/2006/main">
            <a:r>
              <a:t>            new { id = created.Id },</a:t>
            </a:r>
          </a:p>
          <a:p xmlns:a="http://schemas.openxmlformats.org/drawingml/2006/main">
            <a:r>
              <a:t>            dto);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[HttpPut("{id}")]</a:t>
            </a:r>
          </a:p>
          <a:p xmlns:a="http://schemas.openxmlformats.org/drawingml/2006/main">
            <a:r>
              <a:t>    public async Task&lt;ActionResult&gt; Update(</a:t>
            </a:r>
          </a:p>
          <a:p xmlns:a="http://schemas.openxmlformats.org/drawingml/2006/main">
            <a:r>
              <a:t>        int id,</a:t>
            </a:r>
          </a:p>
          <a:p xmlns:a="http://schemas.openxmlformats.org/drawingml/2006/main">
            <a:r>
              <a:t>        [FromBody] UpdateProductRequest request)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var existing = await _productService.GetByIdAsync(id);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(existing is null)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NotFound();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existing.Name = request.Name;</a:t>
            </a:r>
          </a:p>
          <a:p xmlns:a="http://schemas.openxmlformats.org/drawingml/2006/main">
            <a:r>
              <a:t>        existing.Price = request.Price;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await _productService.UpdateAsync(existing);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NoContent();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[HttpDelete("{id}")]</a:t>
            </a:r>
          </a:p>
          <a:p xmlns:a="http://schemas.openxmlformats.org/drawingml/2006/main">
            <a:r>
              <a:t>    public async Task&lt;ActionResult&gt; Delete(int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var product = await _productService.GetByIdAsync(id);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(product is null)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NotFound();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await _productService.DeleteAsync(id);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NoContent();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주요 응답 헬퍼 메서드는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`Ok(data)`: 200 OK와 본문을 반환한다.</a:t>
            </a:r>
          </a:p>
          <a:p xmlns:a="http://schemas.openxmlformats.org/drawingml/2006/main">
            <a:r>
              <a:t>- `CreatedAtAction(액션명, 라우트값, data)`: 201 Created와 함께 `Location` 헤더를 설정한다. REST의 자원 생성 규약에 맞다.</a:t>
            </a:r>
          </a:p>
          <a:p xmlns:a="http://schemas.openxmlformats.org/drawingml/2006/main">
            <a:r>
              <a:t>- `NoContent()`: 204 No Content를 반환한다. 업데이트/삭제 성공 시 흔하게 쓰인다.</a:t>
            </a:r>
          </a:p>
          <a:p xmlns:a="http://schemas.openxmlformats.org/drawingml/2006/main">
            <a:r>
              <a:t>- `NotFound()`, `BadRequest()`, `Unauthorized()`, `Forbid()`, `Conflict()`: 각각의 상태 코드 응답이다.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`nameof(GetById)`를 사용하면 메서드명을 리팩터링해도 자동으로 반영된다. 하드코딩된 문자열을 피하는 습관이 유지보수를 훨씬 쉽게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13. 제네릭 (Generics)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제네릭은 타입 안전성을 유지하면서 재사용 가능한 구조를 만든다.</a:t>
            </a:r>
          </a:p>
          <a:p xmlns:a="http://schemas.openxmlformats.org/drawingml/2006/main">
            <a:r>
              <a:t>2. 개념 포인트: Generic class는 여러 타입에 대해 같은 자료구조나 응답 래퍼를 제공한다. / Generic method는 타입별 중복 구현을 줄인다. / where 제약 조건은 사용할 수 있는 타입의 능력을 제한한다.</a:t>
            </a:r>
          </a:p>
          <a:p xmlns:a="http://schemas.openxmlformats.org/drawingml/2006/main">
            <a:r>
              <a:t>3. Web API 적용: ApiResponse&lt;T&gt;, Repository&lt;T&gt;처럼 공통 패턴을 타입 안전하게 표현한다.</a:t>
            </a:r>
          </a:p>
          <a:p xmlns:a="http://schemas.openxmlformats.org/drawingml/2006/main">
            <a:r>
              <a:t>4. 주의점: 제네릭이 복잡해지면 호출자가 이해해야 할 타입 조건도 함께 늘어난다.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제네릭은 **타입을 매개변수화**하는 기능이다. `List&lt;T&gt;`의 `T`처럼 실제 타입을 나중에 결정할 수 있게 해 주어, 하나의 코드를 다양한 타입에 재사용할 수 있게 만든다. Repository 패턴, 캐시, 응답 래퍼 등 ASP.NET Core의 거의 모든 재사용 코드는 제네릭을 기반으로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제네릭의 장점은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**타입 안정성**: 박싱/언박싱 없이 컴파일 시점에 타입 오류를 잡는다.</a:t>
            </a:r>
          </a:p>
          <a:p xmlns:a="http://schemas.openxmlformats.org/drawingml/2006/main">
            <a:r>
              <a:t>- **성능**: `object`로 모든 타입을 받는 방식에 비해 빠르다 (값 타입의 박싱 비용이 없다).</a:t>
            </a:r>
          </a:p>
          <a:p xmlns:a="http://schemas.openxmlformats.org/drawingml/2006/main">
            <a:r>
              <a:t>- **코드 재사용**: 같은 로직을 타입마다 복제할 필요가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13.1 제네릭 클래스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`where T : class` 같은 **제약 조건(constraint)** 은 제네릭 타입 매개변수에 제한을 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`where T : class`: 참조 타입만 허용한다.</a:t>
            </a:r>
          </a:p>
          <a:p xmlns:a="http://schemas.openxmlformats.org/drawingml/2006/main">
            <a:r>
              <a:t>- `where T : struct`: 값 타입만 허용한다.</a:t>
            </a:r>
          </a:p>
          <a:p xmlns:a="http://schemas.openxmlformats.org/drawingml/2006/main">
            <a:r>
              <a:t>- `where T : new()`: 매개변수 없는 공개 생성자를 가져야 한다.</a:t>
            </a:r>
          </a:p>
          <a:p xmlns:a="http://schemas.openxmlformats.org/drawingml/2006/main">
            <a:r>
              <a:t>- `where T : BaseEntity`: 특정 기본 클래스를 상속해야 한다.</a:t>
            </a:r>
          </a:p>
          <a:p xmlns:a="http://schemas.openxmlformats.org/drawingml/2006/main">
            <a:r>
              <a:t>- `where T : IEntity`: 특정 인터페이스를 구현해야 한다.</a:t>
            </a:r>
          </a:p>
          <a:p xmlns:a="http://schemas.openxmlformats.org/drawingml/2006/main">
            <a:r>
              <a:t>- `where T : notnull`: null이 될 수 없는 타입이어야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제네릭 Repository</a:t>
            </a:r>
          </a:p>
          <a:p xmlns:a="http://schemas.openxmlformats.org/drawingml/2006/main">
            <a:r>
              <a:t>public interface IRepository&lt;T&gt; where T : class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Task&lt;List&lt;T&gt;&gt; GetAllAsync();</a:t>
            </a:r>
          </a:p>
          <a:p xmlns:a="http://schemas.openxmlformats.org/drawingml/2006/main">
            <a:r>
              <a:t>    Task&lt;T?&gt; GetByIdAsync(int id);</a:t>
            </a:r>
          </a:p>
          <a:p xmlns:a="http://schemas.openxmlformats.org/drawingml/2006/main">
            <a:r>
              <a:t>    Task&lt;T&gt; AddAsync(T entity);</a:t>
            </a:r>
          </a:p>
          <a:p xmlns:a="http://schemas.openxmlformats.org/drawingml/2006/main">
            <a:r>
              <a:t>    Task UpdateAsync(T entity);</a:t>
            </a:r>
          </a:p>
          <a:p xmlns:a="http://schemas.openxmlformats.org/drawingml/2006/main">
            <a:r>
              <a:t>    Task DeleteAsync(int id);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Repository&lt;T&gt; : IRepository&lt;T&gt; where T : class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readonly DbContext _context;</a:t>
            </a:r>
          </a:p>
          <a:p xmlns:a="http://schemas.openxmlformats.org/drawingml/2006/main">
            <a:r>
              <a:t>    private readonly DbSet&lt;T&gt; _dbSet;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Repository(DbContext context)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_context = context;</a:t>
            </a:r>
          </a:p>
          <a:p xmlns:a="http://schemas.openxmlformats.org/drawingml/2006/main">
            <a:r>
              <a:t>        _dbSet = context.Set&lt;T&gt;();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Task&lt;List&lt;T&gt;&gt; GetAllAsync()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await _dbSet.ToListAsync();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Task&lt;T?&gt; GetByIdAsync(int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await _dbSet.FindAsync(id);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13.2 제네릭 메서드</a:t>
            </a:r>
          </a:p>
          <a:p xmlns:a="http://schemas.openxmlformats.org/drawingml/2006/main">
            <a:r>
              <a:t>제네릭은 클래스 전체뿐 아니라 **개별 메서드**에도 적용 가능하다. 정적 팩토리 메서드에서 자주 활용된다.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ApiResponse&lt;T&gt;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bool Success { get; set; }</a:t>
            </a:r>
          </a:p>
          <a:p xmlns:a="http://schemas.openxmlformats.org/drawingml/2006/main">
            <a:r>
              <a:t>    public T? Data { get; set; }</a:t>
            </a:r>
          </a:p>
          <a:p xmlns:a="http://schemas.openxmlformats.org/drawingml/2006/main">
            <a:r>
              <a:t>    public string? Error { get; set;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static ApiResponse&lt;T&gt; SuccessResult(T data)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new ApiResponse&lt;T&gt;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Success = true,</a:t>
            </a:r>
          </a:p>
          <a:p xmlns:a="http://schemas.openxmlformats.org/drawingml/2006/main">
            <a:r>
              <a:t>            Data = data</a:t>
            </a:r>
          </a:p>
          <a:p xmlns:a="http://schemas.openxmlformats.org/drawingml/2006/main">
            <a:r>
              <a:t>        };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static ApiResponse&lt;T&gt; ErrorResult(string error)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new ApiResponse&lt;T&gt;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Success = false,</a:t>
            </a:r>
          </a:p>
          <a:p xmlns:a="http://schemas.openxmlformats.org/drawingml/2006/main">
            <a:r>
              <a:t>            Error = error</a:t>
            </a:r>
          </a:p>
          <a:p xmlns:a="http://schemas.openxmlformats.org/drawingml/2006/main">
            <a:r>
              <a:t>        };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response = ApiResponse&lt;Product&gt;.SuccessResult(product);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`ApiResponse&lt;T&gt;` 같은 래퍼는 Web API의 **일관된 응답 구조**를 제공한다. 클라이언트는 성공/실패 플래그와 데이터를 공통 구조로 받기 때문에 파싱이 편해진다.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14. 람다 식과 델리게이트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람다와 델리게이트는 동작을 값처럼 전달해 필터링과 콜백을 유연하게 만든다.</a:t>
            </a:r>
          </a:p>
          <a:p xmlns:a="http://schemas.openxmlformats.org/drawingml/2006/main">
            <a:r>
              <a:t>2. 개념 포인트: Func는 값을 반환하는 함수, Action은 반환 없는 동작을 표현한다. / 람다는 LINQ와 이벤트 처리의 핵심 문법이다. / 표현식 본문 멤버는 짧은 멤버를 간결하게 만든다.</a:t>
            </a:r>
          </a:p>
          <a:p xmlns:a="http://schemas.openxmlformats.org/drawingml/2006/main">
            <a:r>
              <a:t>3. Web API 적용: 조건, 변환, 검증 규칙을 매개변수로 전달할 때 사용한다.</a:t>
            </a:r>
          </a:p>
          <a:p xmlns:a="http://schemas.openxmlformats.org/drawingml/2006/main">
            <a:r>
              <a:t>4. 주의점: 긴 람다는 이름 있는 메서드로 빼야 의도가 살아난다.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델리게이트(delegate)는 **메서드에 대한 참조를 담는 타입**이다. C++의 함수 포인터나 Go의 함수 타입과 개념이 비슷하지만, 타입 안전성과 인스턴스 메서드 지원이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**람다 식(lambda expression)** 은 이름 없이 즉석에서 정의하는 작은 함수다. LINQ의 `Where(p =&gt; p.Price &gt; 100)`에서 `p =&gt; p.Price &gt; 100`이 람다다. `=&gt;`는 "~로 간다"(goes to)로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14.1 Func와 Action</a:t>
            </a:r>
          </a:p>
          <a:p xmlns:a="http://schemas.openxmlformats.org/drawingml/2006/main">
            <a:r>
              <a:t>`Func`와 `Action`은 **내장된 제네릭 델리게이트 타입**이다. 커스텀 델리게이트 타입을 직접 정의하는 일은 거의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`Func&lt;T1, ..., TResult&gt;`: **값을 반환**하는 메서드다. 마지막 타입 매개변수가 반환 타입이다.</a:t>
            </a:r>
          </a:p>
          <a:p xmlns:a="http://schemas.openxmlformats.org/drawingml/2006/main">
            <a:r>
              <a:t>- `Action&lt;T1, ...&gt;`: **반환값이 없는**(void) 메서드다.</a:t>
            </a:r>
          </a:p>
          <a:p xmlns:a="http://schemas.openxmlformats.org/drawingml/2006/main">
            <a:r>
              <a:t>- `Predicate&lt;T&gt;`: `Func&lt;T, bool&gt;`과 같다. 주로 필터링 조건에 사용된다.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Func&lt;입력, 반환&gt; - 값을 반환</a:t>
            </a:r>
          </a:p>
          <a:p xmlns:a="http://schemas.openxmlformats.org/drawingml/2006/main">
            <a:r>
              <a:t>Func&lt;int, int, int&gt; add = (a, b) =&gt; a + b;</a:t>
            </a:r>
          </a:p>
          <a:p xmlns:a="http://schemas.openxmlformats.org/drawingml/2006/main">
            <a:r>
              <a:t>int result = add(5, 3); //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Action&lt;입력&gt; - 반환값 없음</a:t>
            </a:r>
          </a:p>
          <a:p xmlns:a="http://schemas.openxmlformats.org/drawingml/2006/main">
            <a:r>
              <a:t>Action&lt;string&gt; log = message =&gt; Console.WriteLine(message);</a:t>
            </a:r>
          </a:p>
          <a:p xmlns:a="http://schemas.openxmlformats.org/drawingml/2006/main">
            <a:r>
              <a:t>log("로그 메시지");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서비스에서 사용</a:t>
            </a:r>
          </a:p>
          <a:p xmlns:a="http://schemas.openxmlformats.org/drawingml/2006/main">
            <a:r>
              <a:t>public class CacheService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async Task&lt;T&gt; GetOrAddAsync&lt;T&gt;(</a:t>
            </a:r>
          </a:p>
          <a:p xmlns:a="http://schemas.openxmlformats.org/drawingml/2006/main">
            <a:r>
              <a:t>        string key,</a:t>
            </a:r>
          </a:p>
          <a:p xmlns:a="http://schemas.openxmlformats.org/drawingml/2006/main">
            <a:r>
              <a:t>        Func&lt;Task&lt;T&gt;&gt; factory,</a:t>
            </a:r>
          </a:p>
          <a:p xmlns:a="http://schemas.openxmlformats.org/drawingml/2006/main">
            <a:r>
              <a:t>        TimeSpan expiration)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(_cache.TryGetValue(key, out T cached))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cached;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var value = await factory();</a:t>
            </a:r>
          </a:p>
          <a:p xmlns:a="http://schemas.openxmlformats.org/drawingml/2006/main">
            <a:r>
              <a:t>        _cache.Set(key, value, expiration);</a:t>
            </a:r>
          </a:p>
          <a:p xmlns:a="http://schemas.openxmlformats.org/drawingml/2006/main">
            <a:r>
              <a:t>        return value;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product = await _cacheService.GetOrAddAsync(</a:t>
            </a:r>
          </a:p>
          <a:p xmlns:a="http://schemas.openxmlformats.org/drawingml/2006/main">
            <a:r>
              <a:t>    "product:1",</a:t>
            </a:r>
          </a:p>
          <a:p xmlns:a="http://schemas.openxmlformats.org/drawingml/2006/main">
            <a:r>
              <a:t>    async () =&gt; await _productService.GetByIdAsync(1),</a:t>
            </a:r>
          </a:p>
          <a:p xmlns:a="http://schemas.openxmlformats.org/drawingml/2006/main">
            <a:r>
              <a:t>    TimeSpan.FromMinutes(5)</a:t>
            </a:r>
          </a:p>
          <a:p xmlns:a="http://schemas.openxmlformats.org/drawingml/2006/main">
            <a:r>
              <a:t>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캐시 예제는 매우 실전적인 패턴이다. **"캐시에 있으면 돌려주고, 없으면 생성해서 저장한다"** 는 로직을 일반화하기 위해 값 생성 방법(`factory`)을 델리게이트로 받는다. 호출자가 어떻게 값을 만들지 외부에서 주입하므로 유연하다.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14.2 표현식 본문 멤버</a:t>
            </a:r>
          </a:p>
          <a:p xmlns:a="http://schemas.openxmlformats.org/drawingml/2006/main">
            <a:r>
              <a:t>**표현식 본문 멤버(expression-bodied member)** 는 한 줄짜리 메서드나 프로퍼티를 `=&gt;` 문법으로 간결하게 표현한다. 중괄호와 `return`을 생략할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Product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decimal Price { get; set; }</a:t>
            </a:r>
          </a:p>
          <a:p xmlns:a="http://schemas.openxmlformats.org/drawingml/2006/main">
            <a:r>
              <a:t>    public decimal Tax { get; set;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// 표현식 본문 프로퍼티</a:t>
            </a:r>
          </a:p>
          <a:p xmlns:a="http://schemas.openxmlformats.org/drawingml/2006/main">
            <a:r>
              <a:t>    public decimal TotalPrice =&gt; Price + Tax;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// 표현식 본문 메서드</a:t>
            </a:r>
          </a:p>
          <a:p xmlns:a="http://schemas.openxmlformats.org/drawingml/2006/main">
            <a:r>
              <a:t>    public decimal GetDiscount(decimal rate) =&gt; Price * rate;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**주의**: 표현식 본문 프로퍼티(`=&gt;`)는 **매번 계산**되는 계산된 프로퍼티다. `Price`가 변할 때마다 `TotalPrice`도 자동으로 바뀐다. 캐시된 값을 원한다면 필드나 메서드로 분리해야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15. 열거형 (Enum)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Enum은 제한된 상태 집합을 코드와 데이터 계약에서 명확히 표현한다.</a:t>
            </a:r>
          </a:p>
          <a:p xmlns:a="http://schemas.openxmlformats.org/drawingml/2006/main">
            <a:r>
              <a:t>2. 개념 포인트: 숫자나 문자열 상수보다 가능한 값을 제한한다. / Flags enum은 조합 가능한 옵션을 표현한다. / API 경계에서는 직렬화 형식을 신중히 정한다.</a:t>
            </a:r>
          </a:p>
          <a:p xmlns:a="http://schemas.openxmlformats.org/drawingml/2006/main">
            <a:r>
              <a:t>3. Web API 적용: 주문 상태, 사용자 권한, 처리 단계처럼 정해진 값에 사용한다.</a:t>
            </a:r>
          </a:p>
          <a:p xmlns:a="http://schemas.openxmlformats.org/drawingml/2006/main">
            <a:r>
              <a:t>4. 주의점: DB 저장값이나 JSON 문자열과의 호환성은 변경 전에 확인해야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`enum`은 **이름이 있는 정수 상수의 집합**이다. "주문 상태"처럼 제한된 선택지를 표현할 때 매직 넘버(`0`, `1`, `2`)나 매직 문자열(`"Pending"`, `"Shipped"`)을 쓰는 것보다 훨씬 안전하고 가독성이 좋다.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기본 타입은 `int`이지만 `byte`, `short`, `long` 등으로 명시할 수 있다. 값을 지정하지 않으면 0부터 순차적으로 할당된다.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enum OrderStatus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Pending = 0,</a:t>
            </a:r>
          </a:p>
          <a:p xmlns:a="http://schemas.openxmlformats.org/drawingml/2006/main">
            <a:r>
              <a:t>    Processing = 1,</a:t>
            </a:r>
          </a:p>
          <a:p xmlns:a="http://schemas.openxmlformats.org/drawingml/2006/main">
            <a:r>
              <a:t>    Shipped = 2,</a:t>
            </a:r>
          </a:p>
          <a:p xmlns:a="http://schemas.openxmlformats.org/drawingml/2006/main">
            <a:r>
              <a:t>    Delivered = 3,</a:t>
            </a:r>
          </a:p>
          <a:p xmlns:a="http://schemas.openxmlformats.org/drawingml/2006/main">
            <a:r>
              <a:t>    Cancelled = 4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enum UserRole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User,</a:t>
            </a:r>
          </a:p>
          <a:p xmlns:a="http://schemas.openxmlformats.org/drawingml/2006/main">
            <a:r>
              <a:t>    Admin,</a:t>
            </a:r>
          </a:p>
          <a:p xmlns:a="http://schemas.openxmlformats.org/drawingml/2006/main">
            <a:r>
              <a:t>    SuperAdmin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Order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Id { get; set; }</a:t>
            </a:r>
          </a:p>
          <a:p xmlns:a="http://schemas.openxmlformats.org/drawingml/2006/main">
            <a:r>
              <a:t>    public OrderStatus Status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order = new Order { Status = OrderStatus.Pending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(order.Status == OrderStatus.Pending)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order.Status = OrderStatus.Processing;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Enum을 문자열로</a:t>
            </a:r>
          </a:p>
          <a:p xmlns:a="http://schemas.openxmlformats.org/drawingml/2006/main">
            <a:r>
              <a:t>string statusName = order.Status.ToString(); // "Processing"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문자열을 Enum으로</a:t>
            </a:r>
          </a:p>
          <a:p xmlns:a="http://schemas.openxmlformats.org/drawingml/2006/main">
            <a:r>
              <a:t>if (Enum.TryParse&lt;OrderStatus&gt;("Shipped", out var status))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order.Status = status;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**플래그 enum**은 비트 마스크를 활용해 여러 값을 조합할 수 있게 한다. `[Flags]` 특성을 붙이고 값을 2의 거듭제곱으로 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[Flags]</a:t>
            </a:r>
          </a:p>
          <a:p xmlns:a="http://schemas.openxmlformats.org/drawingml/2006/main">
            <a:r>
              <a:t>public enum Permissions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None = 0,</a:t>
            </a:r>
          </a:p>
          <a:p xmlns:a="http://schemas.openxmlformats.org/drawingml/2006/main">
            <a:r>
              <a:t>    Read = 1,</a:t>
            </a:r>
          </a:p>
          <a:p xmlns:a="http://schemas.openxmlformats.org/drawingml/2006/main">
            <a:r>
              <a:t>    Write = 2,</a:t>
            </a:r>
          </a:p>
          <a:p xmlns:a="http://schemas.openxmlformats.org/drawingml/2006/main">
            <a:r>
              <a:t>    Delete = 4,</a:t>
            </a:r>
          </a:p>
          <a:p xmlns:a="http://schemas.openxmlformats.org/drawingml/2006/main">
            <a:r>
              <a:t>    All = Read | Write | Delete  // 7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 perms = Permissions.Read | Permissions.Write;</a:t>
            </a:r>
          </a:p>
          <a:p xmlns:a="http://schemas.openxmlformats.org/drawingml/2006/main">
            <a:r>
              <a:t>bool canWrite = perms.HasFlag(Permissions.Write); // true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Web API에서 enum을 JSON으로 직렬화할 때 기본은 숫자로 나간다. 가독성을 위해 **문자열로 직렬화**하려면 `JsonStringEnumConverter`를 등록한다.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builder.Services.ConfigureHttpJsonOptions(opt =&gt;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opt.SerializerOptions.Converters.Add(</a:t>
            </a:r>
          </a:p>
          <a:p xmlns:a="http://schemas.openxmlformats.org/drawingml/2006/main">
            <a:r>
              <a:t>        new System.Text.Json.Serialization.JsonStringEnumConverter());</a:t>
            </a:r>
          </a:p>
          <a:p xmlns:a="http://schemas.openxmlformats.org/drawingml/2006/main">
            <a:r>
              <a:t>});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16. 네임스페이스와 using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네임스페이스와 using은 큰 Web API 프로젝트의 코드 위치와 의존성을 정리한다.</a:t>
            </a:r>
          </a:p>
          <a:p xmlns:a="http://schemas.openxmlformats.org/drawingml/2006/main">
            <a:r>
              <a:t>2. 개념 포인트: 네임스페이스는 도메인/계층별 코드를 구분한다. / 파일 범위 네임스페이스는 들여쓰기를 줄인다. / global using은 반복 import를 중앙화한다.</a:t>
            </a:r>
          </a:p>
          <a:p xmlns:a="http://schemas.openxmlformats.org/drawingml/2006/main">
            <a:r>
              <a:t>3. Web API 적용: Controllers, Services, Models, DTOs처럼 역할별 구조를 일관되게 유지한다.</a:t>
            </a:r>
          </a:p>
          <a:p xmlns:a="http://schemas.openxmlformats.org/drawingml/2006/main">
            <a:r>
              <a:t>4. 주의점: global using을 남발하면 파일의 실제 의존성이 보이지 않을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네임스페이스는 **타입을 논리적으로 묶어 이름 충돌을 방지**하는 장치다. `MyApi.Models.Product`와 `MyApi.Dtos.Product`는 이름이 같아도 서로 다른 타입이다. 대규모 프로젝트에서 필수적이다.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프로젝트 구조 관례는 보통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`MyApi.Models` 또는 `MyApi.Entities`: 도메인 엔티티</a:t>
            </a:r>
          </a:p>
          <a:p xmlns:a="http://schemas.openxmlformats.org/drawingml/2006/main">
            <a:r>
              <a:t>- `MyApi.Dtos`: 요청/응답 DTO</a:t>
            </a:r>
          </a:p>
          <a:p xmlns:a="http://schemas.openxmlformats.org/drawingml/2006/main">
            <a:r>
              <a:t>- `MyApi.Services`: 비즈니스 로직</a:t>
            </a:r>
          </a:p>
          <a:p xmlns:a="http://schemas.openxmlformats.org/drawingml/2006/main">
            <a:r>
              <a:t>- `MyApi.Controllers`: API 엔드포인트</a:t>
            </a:r>
          </a:p>
          <a:p xmlns:a="http://schemas.openxmlformats.org/drawingml/2006/main">
            <a:r>
              <a:t>- `MyApi.Data`: EF Core 컨텍스트와 마이그레이션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16.1 네임스페이스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namespace MyApi.Models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class Product {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namespace MyApi.Services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interface IProductService { }</a:t>
            </a:r>
          </a:p>
          <a:p xmlns:a="http://schemas.openxmlformats.org/drawingml/2006/main">
            <a:r>
              <a:t>    public class ProductService : IProductService {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namespace MyApi.Controllers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using MyApi.Models;</a:t>
            </a:r>
          </a:p>
          <a:p xmlns:a="http://schemas.openxmlformats.org/drawingml/2006/main">
            <a:r>
              <a:t>    using MyApi.Services;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class ProductsController {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16.2 파일 범위 네임스페이스 (C# 10)</a:t>
            </a:r>
          </a:p>
          <a:p xmlns:a="http://schemas.openxmlformats.org/drawingml/2006/main">
            <a:r>
              <a:t>C# 10부터는 **파일 전체에 하나의 네임스페이스만 있는 경우** 중괄호를 생략할 수 있다. 들여쓰기가 한 단계 줄어들어 가독성이 좋아진다. 현대의 .NET 프로젝트는 대부분 이 방식을 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전체 파일에 적용</a:t>
            </a:r>
          </a:p>
          <a:p xmlns:a="http://schemas.openxmlformats.org/drawingml/2006/main">
            <a:r>
              <a:t>namespace MyApi.Models;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Product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Id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Category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Id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16.3 Global using (C# 10)</a:t>
            </a:r>
          </a:p>
          <a:p xmlns:a="http://schemas.openxmlformats.org/drawingml/2006/main">
            <a:r>
              <a:t>**전역 using(global using)** 은 한 번 선언하면 프로젝트 전체에서 해당 네임스페이스가 자동으로 `using`된 것으로 간주한다. `System`, `System.Linq`처럼 거의 모든 파일에서 사용하는 네임스페이스를 반복 선언하지 않아도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GlobalUsings.cs 파일</a:t>
            </a:r>
          </a:p>
          <a:p xmlns:a="http://schemas.openxmlformats.org/drawingml/2006/main">
            <a:r>
              <a:t>global using System;</a:t>
            </a:r>
          </a:p>
          <a:p xmlns:a="http://schemas.openxmlformats.org/drawingml/2006/main">
            <a:r>
              <a:t>global using System.Collections.Generic;</a:t>
            </a:r>
          </a:p>
          <a:p xmlns:a="http://schemas.openxmlformats.org/drawingml/2006/main">
            <a:r>
              <a:t>global using System.Linq;</a:t>
            </a:r>
          </a:p>
          <a:p xmlns:a="http://schemas.openxmlformats.org/drawingml/2006/main">
            <a:r>
              <a:t>global using System.Threading.Tasks;</a:t>
            </a:r>
          </a:p>
          <a:p xmlns:a="http://schemas.openxmlformats.org/drawingml/2006/main">
            <a:r>
              <a:t>global using Microsoft.AspNetCore.Mvc;</a:t>
            </a:r>
          </a:p>
          <a:p xmlns:a="http://schemas.openxmlformats.org/drawingml/2006/main">
            <a:r>
              <a:t>global using Microsoft.EntityFrameworkCore;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`.csproj`에 `&lt;ImplicitUsings&gt;enable&lt;/ImplicitUsings&gt;`을 켜면 SDK가 프로젝트 유형에 맞는 기본 네임스페이스들을 자동으로 global using해준다. .NET 6 이후 템플릿의 기본 설정이다.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17. Nullable 참조 형식 심화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Nullable 심화 문법은 API 경계의 null 가능성을 더 정밀하게 표현한다.</a:t>
            </a:r>
          </a:p>
          <a:p xmlns:a="http://schemas.openxmlformats.org/drawingml/2006/main">
            <a:r>
              <a:t>2. 개념 포인트: Nullable context는 프로젝트 또는 파일 단위로 제어된다. / is not null, ?? throw 같은 패턴은 방어 코드를 짧게 만든다. / null-forgiving 연산자는 경고만 억제하므로 근거가 있어야 한다.</a:t>
            </a:r>
          </a:p>
          <a:p xmlns:a="http://schemas.openxmlformats.org/drawingml/2006/main">
            <a:r>
              <a:t>3. Web API 적용: 외부 입력은 null 가능으로 받고 검증 후 non-null 흐름으로 좁힌다.</a:t>
            </a:r>
          </a:p>
          <a:p xmlns:a="http://schemas.openxmlformats.org/drawingml/2006/main">
            <a:r>
              <a:t>4. 주의점: ! 연산자는 런타임 안전장치가 아니라 컴파일러 설득 장치다.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1.2절에서 기본을 다뤘으니, 여기서는 조금 더 깊이 들어간다.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17.1 Null 허용 컨텍스트</a:t>
            </a:r>
          </a:p>
          <a:p xmlns:a="http://schemas.openxmlformats.org/drawingml/2006/main">
            <a:r>
              <a:t>`#nullable enable` 디렉티브는 해당 파일(또는 범위)에서 NRT를 켠다. 프로젝트 수준에서 끄고 특정 파일에서만 키거나, 그 반대 용도로 쓸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NRT가 켜진 상태에서 nullable 경고는 다음 상황에서 발생한다.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null 가능 참조를 null 불가 변수에 대입할 때</a:t>
            </a:r>
          </a:p>
          <a:p xmlns:a="http://schemas.openxmlformats.org/drawingml/2006/main">
            <a:r>
              <a:t>- null 가능 참조의 멤버에 null 체크 없이 접근할 때</a:t>
            </a:r>
          </a:p>
          <a:p xmlns:a="http://schemas.openxmlformats.org/drawingml/2006/main">
            <a:r>
              <a:t>- 생성자에서 null 불가 참조 프로퍼티를 초기화하지 않을 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#nullable enable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User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Id { get; set; }</a:t>
            </a:r>
          </a:p>
          <a:p xmlns:a="http://schemas.openxmlformats.org/drawingml/2006/main">
            <a:r>
              <a:t>    public string Name { get; set; } // 경고: null 불가능이지만 초기화 안됨</a:t>
            </a:r>
          </a:p>
          <a:p xmlns:a="http://schemas.openxmlformats.org/drawingml/2006/main">
            <a:r>
              <a:t>    public string? Email { get; set; } // null 허용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// 올바른 방법</a:t>
            </a:r>
          </a:p>
          <a:p xmlns:a="http://schemas.openxmlformats.org/drawingml/2006/main">
            <a:r>
              <a:t>    public string Username { get; set; } = string.Empty;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17.2 Null 체크 패턴</a:t>
            </a:r>
          </a:p>
          <a:p xmlns:a="http://schemas.openxmlformats.org/drawingml/2006/main">
            <a:r>
              <a:t>null 용서 연산자(`!`, null-forgiving operator)는 **컴파일러에게 "나는 이 값이 null이 아님을 확신한다"** 라고 말하는 것이다. 런타임에는 아무런 검사도 하지 않으므로, 잘못 사용하면 여전히 `NullReferenceException`이 난다. 꼭 필요한 경우(예: ORM이나 리플렉션으로 항상 채워지는 필드)에만 제한적으로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UserService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string GetDisplayName(User? user)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// null 병합</a:t>
            </a:r>
          </a:p>
          <a:p xmlns:a="http://schemas.openxmlformats.org/drawingml/2006/main">
            <a:r>
              <a:t>        return user?.Name ?? "익명";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void ProcessUser(User? user)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// null 체크 후 사용</a:t>
            </a:r>
          </a:p>
          <a:p xmlns:a="http://schemas.openxmlformats.org/drawingml/2006/main">
            <a:r>
              <a:t>        if (user is null)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throw new ArgumentNullException(nameof(user));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Console.WriteLine(user.Name); // 안전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// null 용서 연산자 (확실할 때만)</a:t>
            </a:r>
          </a:p>
          <a:p xmlns:a="http://schemas.openxmlformats.org/drawingml/2006/main">
            <a:r>
              <a:t>    public string GetName(User user)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user!.Name; // user가 null이 아님을 확신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.NET 6+에서는 `ArgumentNullException.ThrowIfNull(user)` 한 줄로 깔끔하게 대체할 수 있다. `[NotNull]`, `[MaybeNull]`, `[NotNullWhen]` 같은 nullable 특성들을 사용하면 컴파일러에게 더 정교한 흐름 분석을 지시할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18. 문자열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문자열 처리는 로그, SQL/JSON 샘플, 응답 메시지를 읽기 쉽게 만드는 실전 문법이다.</a:t>
            </a:r>
          </a:p>
          <a:p xmlns:a="http://schemas.openxmlformats.org/drawingml/2006/main">
            <a:r>
              <a:t>2. 개념 포인트: 문자열 보간은 값 삽입을 명확하게 한다. / 원시 문자열 리터럴은 이스케이프 지옥을 줄인다. / 문화권이 필요한 숫자/날짜 문자열은 명시적으로 다룬다.</a:t>
            </a:r>
          </a:p>
          <a:p xmlns:a="http://schemas.openxmlformats.org/drawingml/2006/main">
            <a:r>
              <a:t>3. Web API 적용: 로그 메시지는 보간보다 구조화 로깅 템플릿을 우선 고려한다.</a:t>
            </a:r>
          </a:p>
          <a:p xmlns:a="http://schemas.openxmlformats.org/drawingml/2006/main">
            <a:r>
              <a:t>4. 주의점: 사용자 입력을 보간해 SQL을 만들면 보안 취약점이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문자열은 Web API의 응답 생성, 로그 출력, SQL/JSON 구성 등 어디서나 쓰인다. C#은 문자열 처리 문법을 꾸준히 발전시켜 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18.1 문자열 보간</a:t>
            </a:r>
          </a:p>
          <a:p xmlns:a="http://schemas.openxmlformats.org/drawingml/2006/main">
            <a:r>
              <a:t>**문자열 보간(string interpolation)** 은 `$"..."` 구문 내부에 `{표현식}`을 써서 값을 삽입하는 방법이다. 예전 `string.Format("{0} {1}", a, b)` 방식보다 훨씬 읽기 쉽다.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형식 지정자(format specifier)는 `:` 뒤에 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`:C`: 통화(Currency) 형식이다.</a:t>
            </a:r>
          </a:p>
          <a:p xmlns:a="http://schemas.openxmlformats.org/drawingml/2006/main">
            <a:r>
              <a:t>- `:P`: 퍼센트 형식이다.</a:t>
            </a:r>
          </a:p>
          <a:p xmlns:a="http://schemas.openxmlformats.org/drawingml/2006/main">
            <a:r>
              <a:t>- `:N`: 천 단위 구분자가 있는 숫자 형식이다.</a:t>
            </a:r>
          </a:p>
          <a:p xmlns:a="http://schemas.openxmlformats.org/drawingml/2006/main">
            <a:r>
              <a:t>- `:F2`: 소수점 둘째 자리까지 고정 소수점 형식이다.</a:t>
            </a:r>
          </a:p>
          <a:p xmlns:a="http://schemas.openxmlformats.org/drawingml/2006/main">
            <a:r>
              <a:t>- `:yyyy-MM-dd`: 날짜 형식이다.</a:t>
            </a:r>
          </a:p>
          <a:p xmlns:a="http://schemas.openxmlformats.org/drawingml/2006/main">
            <a:r>
              <a:t>- `:X`: 16진수 형식이다.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string name = "홍길동";</a:t>
            </a:r>
          </a:p>
          <a:p xmlns:a="http://schemas.openxmlformats.org/drawingml/2006/main">
            <a:r>
              <a:t>int age = 30;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문자열 보간</a:t>
            </a:r>
          </a:p>
          <a:p xmlns:a="http://schemas.openxmlformats.org/drawingml/2006/main">
            <a:r>
              <a:t>string message = $"이름: {name}, 나이: {age}";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다중 라인</a:t>
            </a:r>
          </a:p>
          <a:p xmlns:a="http://schemas.openxmlformats.org/drawingml/2006/main">
            <a:r>
              <a:t>string multiLine = $"""</a:t>
            </a:r>
          </a:p>
          <a:p xmlns:a="http://schemas.openxmlformats.org/drawingml/2006/main">
            <a:r>
              <a:t>    사용자 정보:</a:t>
            </a:r>
          </a:p>
          <a:p xmlns:a="http://schemas.openxmlformats.org/drawingml/2006/main">
            <a:r>
              <a:t>    - 이름: {name}</a:t>
            </a:r>
          </a:p>
          <a:p xmlns:a="http://schemas.openxmlformats.org/drawingml/2006/main">
            <a:r>
              <a:t>    - 나이: {age}</a:t>
            </a:r>
          </a:p>
          <a:p xmlns:a="http://schemas.openxmlformats.org/drawingml/2006/main">
            <a:r>
              <a:t>    """;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표현식</a:t>
            </a:r>
          </a:p>
          <a:p xmlns:a="http://schemas.openxmlformats.org/drawingml/2006/main">
            <a:r>
              <a:t>decimal price = 1000;</a:t>
            </a:r>
          </a:p>
          <a:p xmlns:a="http://schemas.openxmlformats.org/drawingml/2006/main">
            <a:r>
              <a:t>string priceText = $"가격: {price:C}원"; // 통화 형식</a:t>
            </a:r>
          </a:p>
          <a:p xmlns:a="http://schemas.openxmlformats.org/drawingml/2006/main">
            <a:r>
              <a:t>string percent = $"할인율: {0.15:P}"; // 퍼센트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18.2 원시 문자열 리터럴 (C# 11)</a:t>
            </a:r>
          </a:p>
          <a:p xmlns:a="http://schemas.openxmlformats.org/drawingml/2006/main">
            <a:r>
              <a:t>**원시 문자열 리터럴(raw string literal)** 은 큰따옴표 세 개(`"""`) 이상으로 감싸는 문자열이다. 이스케이프(`\"`, `\\`)가 필요 없어 JSON, SQL, XML, 정규식 등을 그대로 적기 편하다.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구분자로 쓰이는 큰따옴표 개수는 내부에 포함된 연속 따옴표보다 많기만 하면 된다.</a:t>
            </a:r>
          </a:p>
          <a:p xmlns:a="http://schemas.openxmlformats.org/drawingml/2006/main">
            <a:r>
              <a:t>- 여러 줄 원시 문자열은 **닫는 `"""`의 들여쓰기 수준**을 기준으로 각 줄에서 공통 공백을 제거한다. 코드 상의 들여쓰기와 실제 문자열 내용을 분리할 수 있어 깔끔하다.</a:t>
            </a:r>
          </a:p>
          <a:p xmlns:a="http://schemas.openxmlformats.org/drawingml/2006/main">
            <a:r>
              <a:t>- `$`를 조합해 `$"""..."""`로 보간도 가능하다. 중괄호를 문자 그대로 쓰고 싶다면 `$$"""...{{...}}..."""`처럼 달러 기호 개수를 늘린다.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JSON 문자열</a:t>
            </a:r>
          </a:p>
          <a:p xmlns:a="http://schemas.openxmlformats.org/drawingml/2006/main">
            <a:r>
              <a:t>string json = """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"name": "홍길동",</a:t>
            </a:r>
          </a:p>
          <a:p xmlns:a="http://schemas.openxmlformats.org/drawingml/2006/main">
            <a:r>
              <a:t>        "age": 30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""";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SQL 쿼리</a:t>
            </a:r>
          </a:p>
          <a:p xmlns:a="http://schemas.openxmlformats.org/drawingml/2006/main">
            <a:r>
              <a:t>string sql = """</a:t>
            </a:r>
          </a:p>
          <a:p xmlns:a="http://schemas.openxmlformats.org/drawingml/2006/main">
            <a:r>
              <a:t>    SELECT *</a:t>
            </a:r>
          </a:p>
          <a:p xmlns:a="http://schemas.openxmlformats.org/drawingml/2006/main">
            <a:r>
              <a:t>    FROM Users</a:t>
            </a:r>
          </a:p>
          <a:p xmlns:a="http://schemas.openxmlformats.org/drawingml/2006/main">
            <a:r>
              <a:t>    WHERE Age &gt; 18</a:t>
            </a:r>
          </a:p>
          <a:p xmlns:a="http://schemas.openxmlformats.org/drawingml/2006/main">
            <a:r>
              <a:t>    """;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19. 튜플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튜플은 작은 다중 반환값을 빠르게 묶는 도구다.</a:t>
            </a:r>
          </a:p>
          <a:p xmlns:a="http://schemas.openxmlformats.org/drawingml/2006/main">
            <a:r>
              <a:t>2. 개념 포인트: 이름 있는 튜플은 Item1보다 의도가 선명하다. / deconstruction으로 반환값을 바로 분해할 수 있다. / 복잡한 데이터 계약에는 record/class가 더 낫다.</a:t>
            </a:r>
          </a:p>
          <a:p xmlns:a="http://schemas.openxmlformats.org/drawingml/2006/main">
            <a:r>
              <a:t>3. Web API 적용: 내부 헬퍼에서 성공 여부와 값, 간단한 통계를 함께 반환할 때 유용하다.</a:t>
            </a:r>
          </a:p>
          <a:p xmlns:a="http://schemas.openxmlformats.org/drawingml/2006/main">
            <a:r>
              <a:t>4. 주의점: 공개 API 계약을 튜플로 만들면 확장성과 문서성이 떨어질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튜플(tuple)은 **이름을 가진 여러 값의 묶음**이다. 클래스나 레코드를 새로 정의할 정도는 아니지만 임시로 두 개 이상의 값을 반환하고 싶을 때 유용하다.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`(bool, string)` 같은 **값 튜플(ValueTuple)** 은 구조체이므로 힙 할당이 없고, 필드마다 이름을 붙일 수도 있다. `Tuple&lt;T1, T2&gt;` 클래스도 있지만 구식이라 잘 쓰이지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**분해(deconstruction)** 는 튜플의 각 요소를 개별 변수로 꺼내는 문법이다. `var (a, b) = GetTuple();` 형태로 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튜플 반환</a:t>
            </a:r>
          </a:p>
          <a:p xmlns:a="http://schemas.openxmlformats.org/drawingml/2006/main">
            <a:r>
              <a:t>public (bool Success, string Message) ValidateProduct(Product product)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if (string.IsNullOrEmpty(product.Name))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(false, "이름은 필수입니다");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if (product.Price &lt;= 0)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(false, "가격은 0보다 커야 합니다");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return (true, "유효합니다");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(success, message) = ValidateProduct(product);</a:t>
            </a:r>
          </a:p>
          <a:p xmlns:a="http://schemas.openxmlformats.org/drawingml/2006/main">
            <a:r>
              <a:t>if (!success)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return BadRequest(message);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명명된 튜플</a:t>
            </a:r>
          </a:p>
          <a:p xmlns:a="http://schemas.openxmlformats.org/drawingml/2006/main">
            <a:r>
              <a:t>public (int Count, decimal Total) CalculateOrder(List&lt;OrderItem&gt; items)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return (</a:t>
            </a:r>
          </a:p>
          <a:p xmlns:a="http://schemas.openxmlformats.org/drawingml/2006/main">
            <a:r>
              <a:t>        Count: items.Count,</a:t>
            </a:r>
          </a:p>
          <a:p xmlns:a="http://schemas.openxmlformats.org/drawingml/2006/main">
            <a:r>
              <a:t>        Total: items.Sum(i =&gt; i.Price * i.Quantity)</a:t>
            </a:r>
          </a:p>
          <a:p xmlns:a="http://schemas.openxmlformats.org/drawingml/2006/main">
            <a:r>
              <a:t>    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result = CalculateOrder(items);</a:t>
            </a:r>
          </a:p>
          <a:p xmlns:a="http://schemas.openxmlformats.org/drawingml/2006/main">
            <a:r>
              <a:t>Console.WriteLine($"개수: {result.Count}, 합계: {result.Total}");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**언제 튜플을, 언제 레코드를?**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**튜플**: 메서드 내부의 짧은 반환, 2~3개의 작은 값 묶음.</a:t>
            </a:r>
          </a:p>
          <a:p xmlns:a="http://schemas.openxmlformats.org/drawingml/2006/main">
            <a:r>
              <a:t>- **레코드**: 여러 곳에서 재사용되거나 API 계약에 노출되는 데이터 구조.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튜플을 외부 API에 노출하면 문서화가 어렵고 필드 이름이 소실될 수 있어 좋지 않다.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20. out 매개변수와 ref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out과 ref는 값 전달 방식을 제어하지만 Web API에서는 제한적으로 쓰는 것이 좋다.</a:t>
            </a:r>
          </a:p>
          <a:p xmlns:a="http://schemas.openxmlformats.org/drawingml/2006/main">
            <a:r>
              <a:t>2. 개념 포인트: out은 메서드가 값을 채워 반환하게 한다. / TryParse/TryGetValue 패턴이 대표적이다. / ref는 기존 변수 자체를 수정하게 하므로 부작용이 크다.</a:t>
            </a:r>
          </a:p>
          <a:p xmlns:a="http://schemas.openxmlformats.org/drawingml/2006/main">
            <a:r>
              <a:t>3. Web API 적용: 실패 가능 조회에는 Try 패턴을 이해하되, API 모델에는 명확한 반환 타입을 선호한다.</a:t>
            </a:r>
          </a:p>
          <a:p xmlns:a="http://schemas.openxmlformats.org/drawingml/2006/main">
            <a:r>
              <a:t>4. 주의점: 과도한 ref/out은 테스트와 추론을 어렵게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매개변수 전달 방식은 세 가지가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**값 전달(기본)**: 값이 복사된다.</a:t>
            </a:r>
          </a:p>
          <a:p xmlns:a="http://schemas.openxmlformats.org/drawingml/2006/main">
            <a:r>
              <a:t>- **`ref`**: 참조로 전달되어 호출자의 변수도 수정 가능하다. 호출 전 반드시 초기화되어 있어야 한다.</a:t>
            </a:r>
          </a:p>
          <a:p xmlns:a="http://schemas.openxmlformats.org/drawingml/2006/main">
            <a:r>
              <a:t>- **`out`**: 참조로 전달되지만 **호출된 메서드 내부에서 반드시 값을 지정**해야 한다. 호출 전 초기화되지 않아도 된다.</a:t>
            </a:r>
          </a:p>
          <a:p xmlns:a="http://schemas.openxmlformats.org/drawingml/2006/main">
            <a:r>
              <a:t>- **`in`** (C# 7.2+): 참조로 전달하되 수정은 금지한다. 큰 구조체의 읽기 전용 전달에 유용하다.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20.1 out 매개변수</a:t>
            </a:r>
          </a:p>
          <a:p xmlns:a="http://schemas.openxmlformats.org/drawingml/2006/main">
            <a:r>
              <a:t>`out`은 **"Try 패턴"** 의 핵심이다. "시도해보고 결과가 성공이면 값을, 실패면 false를 반환" 하는 관용구다. 예외 대신 불리언으로 성공 여부를 알리므로 성능이 중요한 경로에 적합하다.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bool TryGetUser(int id, out User? user)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user = _users.FirstOrDefault(u =&gt; u.Id == id);</a:t>
            </a:r>
          </a:p>
          <a:p xmlns:a="http://schemas.openxmlformats.org/drawingml/2006/main">
            <a:r>
              <a:t>    return user != null;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if (TryGetUser(1, out var user))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Console.WriteLine(user.Name);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Dictionary 패턴</a:t>
            </a:r>
          </a:p>
          <a:p xmlns:a="http://schemas.openxmlformats.org/drawingml/2006/main">
            <a:r>
              <a:t>if (_cache.TryGetValue("key", out var value))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return value;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C# 7.0부터는 `out var`로 변수를 인라인 선언할 수 있어 코드가 훨씬 깔끔해졌다.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현대 C#에서는 두 값 이상을 "반환"하고 싶을 때 `out`보다 **튜플이나 레코드**가 더 선호된다. `out`은 주로 BCL의 `TryParse`, `TryGetValue` 같은 관용구에서 만난다.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21. 값 타입 vs 참조 타입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값 타입과 참조 타입의 차이는 복사, null, 메모리 동작을 이해하는 기반이다.</a:t>
            </a:r>
          </a:p>
          <a:p xmlns:a="http://schemas.openxmlformats.org/drawingml/2006/main">
            <a:r>
              <a:t>2. 개념 포인트: struct는 값 자체가 복사되는 값 타입이다. / class는 객체 참조가 전달되는 참조 타입이다. / 작고 불변인 값에는 struct가 적합할 수 있다.</a:t>
            </a:r>
          </a:p>
          <a:p xmlns:a="http://schemas.openxmlformats.org/drawingml/2006/main">
            <a:r>
              <a:t>3. Web API 적용: 좌표, 금액, 작은 식별 값 같은 값 객체 후보를 구분해 본다.</a:t>
            </a:r>
          </a:p>
          <a:p xmlns:a="http://schemas.openxmlformats.org/drawingml/2006/main">
            <a:r>
              <a:t>4. 주의점: 큰 struct나 mutable struct는 복사 비용과 버그를 만들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C#의 타입은 크게 두 부류로 나뉜다.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**값 타입(value type)**: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`struct`, `enum`, 모든 기본 숫자 타입, `bool`, `char`, 튜플, `DateTime`, `Guid` 등이다.</a:t>
            </a:r>
          </a:p>
          <a:p xmlns:a="http://schemas.openxmlformats.org/drawingml/2006/main">
            <a:r>
              <a:t>- **스택 또는 인클로징 객체 내부**에 저장된다 (정확히는 선언 위치에 따라 다르다).</a:t>
            </a:r>
          </a:p>
          <a:p xmlns:a="http://schemas.openxmlformats.org/drawingml/2006/main">
            <a:r>
              <a:t>- 대입 시 **복사**된다.</a:t>
            </a:r>
          </a:p>
          <a:p xmlns:a="http://schemas.openxmlformats.org/drawingml/2006/main">
            <a:r>
              <a:t>- `null`이 될 수 없다 (Nullable `&lt;T&gt;`를 감싸면 가능하다).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**참조 타입(reference type)**: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`class`, `record`, `interface`, `string`, 배열, 델리게이트 등이다.</a:t>
            </a:r>
          </a:p>
          <a:p xmlns:a="http://schemas.openxmlformats.org/drawingml/2006/main">
            <a:r>
              <a:t>- **힙**에 저장된다.</a:t>
            </a:r>
          </a:p>
          <a:p xmlns:a="http://schemas.openxmlformats.org/drawingml/2006/main">
            <a:r>
              <a:t>- 대입 시 **참조(주소)** 가 복사된다. 같은 객체를 공유한다.</a:t>
            </a:r>
          </a:p>
          <a:p xmlns:a="http://schemas.openxmlformats.org/drawingml/2006/main">
            <a:r>
              <a:t>- `null`이 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21.1 struct (값 타입)</a:t>
            </a:r>
          </a:p>
          <a:p xmlns:a="http://schemas.openxmlformats.org/drawingml/2006/main">
            <a:r>
              <a:t>`struct`는 값 타입을 직접 정의하는 방법이다. **작고(보통 16바이트 이하) 불변이며 동등성 비교가 의미 있는** 데이터에 적합하다.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게임 서버에서 좌표, 벡터, 색상 같은 수학적 값.</a:t>
            </a:r>
          </a:p>
          <a:p xmlns:a="http://schemas.openxmlformats.org/drawingml/2006/main">
            <a:r>
              <a:t>- 성능 크리티컬한 경로에서 힙 할당을 피하고 싶을 때.</a:t>
            </a:r>
          </a:p>
          <a:p xmlns:a="http://schemas.openxmlformats.org/drawingml/2006/main">
            <a:r>
              <a:t>- 의미상 한 덩어리의 값이며 참조 공유가 필요 없을 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`readonly struct`는 모든 필드가 변경 불가임을 보장한다. **방어적 복사(defensive copy)** 를 컴파일러가 생략할 수 있어 성능이 좋아진다.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작은 불변 데이터에 적합</a:t>
            </a:r>
          </a:p>
          <a:p xmlns:a="http://schemas.openxmlformats.org/drawingml/2006/main">
            <a:r>
              <a:t>public readonly struct Point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X { get; init; }</a:t>
            </a:r>
          </a:p>
          <a:p xmlns:a="http://schemas.openxmlformats.org/drawingml/2006/main">
            <a:r>
              <a:t>    public int Y { get; init;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Point(int x, int y)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X = x;</a:t>
            </a:r>
          </a:p>
          <a:p xmlns:a="http://schemas.openxmlformats.org/drawingml/2006/main">
            <a:r>
              <a:t>        Y = y;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record struct (C# 10)</a:t>
            </a:r>
          </a:p>
          <a:p xmlns:a="http://schemas.openxmlformats.org/drawingml/2006/main">
            <a:r>
              <a:t>public readonly record struct Coordinate(double Latitude, double Longitude);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coord = new Coordinate(37.5665, 126.9780);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`record struct`는 레코드의 편의성(값 동등성, `with` 표현식)과 구조체의 효율(힙 할당 없음)을 결합한다. **작은 값 객체에는 거의 최적의 선택**이다.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**주의**: 큰 `struct`(필드 많음)는 오히려 성능을 해친다. 복사 비용이 크기 때문이다. 의심스러우면 `class`를 쓰는 편이 안전하다.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22. 초기화 구문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초기화 구문은 객체와 컬렉션을 짧고 안전하게 구성하게 해준다.</a:t>
            </a:r>
          </a:p>
          <a:p xmlns:a="http://schemas.openxmlformats.org/drawingml/2006/main">
            <a:r>
              <a:t>2. 개념 포인트: 객체 초기화는 생성 직후 프로퍼티 설정을 한곳에 모은다. / 컬렉션 표현식은 C# 12의 간결한 초기화 문법이다. / init과 함께 쓰면 불변 DTO 구성이 쉬워진다.</a:t>
            </a:r>
          </a:p>
          <a:p xmlns:a="http://schemas.openxmlformats.org/drawingml/2006/main">
            <a:r>
              <a:t>3. Web API 적용: 테스트 데이터, DTO 생성, 설정 객체 구성에서 가독성을 높인다.</a:t>
            </a:r>
          </a:p>
          <a:p xmlns:a="http://schemas.openxmlformats.org/drawingml/2006/main">
            <a:r>
              <a:t>4. 주의점: 필수 생성 규칙이 복잡하면 생성자나 팩토리 메서드가 더 안전하다.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### 22.1 객체 초기화</a:t>
            </a:r>
          </a:p>
          <a:p xmlns:a="http://schemas.openxmlformats.org/drawingml/2006/main">
            <a:r>
              <a:t>**객체 이니셜라이저(object initializer)** 는 `new` 직후에 중괄호로 프로퍼티를 지정하는 문법이다. 생성자를 호출한 뒤 프로퍼티를 대입하는 것과 같다. 생성자에 모든 프로퍼티를 받지 않아도 편하게 초기화할 수 있게 해준다.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컬렉션 이니셜라이저는 컬렉션 객체에도 같은 문법을 제공한다.</a:t>
            </a:r>
          </a:p>
          <a:p xmlns:a="http://schemas.openxmlformats.org/drawingml/2006/main">
            <a:r>
              <a:t>- **타겟 타입 `new()`** (C# 9+): 좌변 타입이 명확하면 우변에서 타입명을 생략할 수 있다 (`new List&lt;Product&gt; { new() { ... } }`).</a:t>
            </a:r>
          </a:p>
          <a:p xmlns:a="http://schemas.openxmlformats.org/drawingml/2006/main">
            <a:r>
              <a:t>- Dictionary 초기화는 `[키] = 값` 문법 또는 `{ 키, 값 }` 문법을 쓸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객체 초기화</a:t>
            </a:r>
          </a:p>
          <a:p xmlns:a="http://schemas.openxmlformats.org/drawingml/2006/main">
            <a:r>
              <a:t>var product = new Product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Name = "노트북",</a:t>
            </a:r>
          </a:p>
          <a:p xmlns:a="http://schemas.openxmlformats.org/drawingml/2006/main">
            <a:r>
              <a:t>    Price = 1500000,</a:t>
            </a:r>
          </a:p>
          <a:p xmlns:a="http://schemas.openxmlformats.org/drawingml/2006/main">
            <a:r>
              <a:t>    CreatedAt = DateTime.UtcNow</a:t>
            </a:r>
          </a:p>
          <a:p xmlns:a="http://schemas.openxmlformats.org/drawingml/2006/main">
            <a: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컬렉션 초기화</a:t>
            </a:r>
          </a:p>
          <a:p xmlns:a="http://schemas.openxmlformats.org/drawingml/2006/main">
            <a:r>
              <a:t>var products = new List&lt;Product&gt;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new() { Name = "마우스", Price = 30000 },</a:t>
            </a:r>
          </a:p>
          <a:p xmlns:a="http://schemas.openxmlformats.org/drawingml/2006/main">
            <a:r>
              <a:t>    new() { Name = "키보드", Price = 80000 }</a:t>
            </a:r>
          </a:p>
          <a:p xmlns:a="http://schemas.openxmlformats.org/drawingml/2006/main">
            <a: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Dictionary 초기화</a:t>
            </a:r>
          </a:p>
          <a:p xmlns:a="http://schemas.openxmlformats.org/drawingml/2006/main">
            <a:r>
              <a:t>var settings = new Dictionary&lt;string, string&gt;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["ConnectionString"] = "...",</a:t>
            </a:r>
          </a:p>
          <a:p xmlns:a="http://schemas.openxmlformats.org/drawingml/2006/main">
            <a:r>
              <a:t>    ["Timeout"] = "30"</a:t>
            </a:r>
          </a:p>
          <a:p xmlns:a="http://schemas.openxmlformats.org/drawingml/2006/main">
            <a:r>
              <a:t>};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22.2 컬렉션 표현식 (C# 12)</a:t>
            </a:r>
          </a:p>
          <a:p xmlns:a="http://schemas.openxmlformats.org/drawingml/2006/main">
            <a:r>
              <a:t>**컬렉션 표현식**은 `[...]` 문법으로 다양한 컬렉션 타입을 동일한 문법으로 초기화할 수 있게 해준다. **스프레드 연산자(`..`)** 는 기존 컬렉션을 풀어서 포함시킨다. JavaScript/TypeScript의 전개 구문과 유사하다.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컴파일러는 좌변 타입을 보고 가장 효율적인 방식으로 컬렉션을 만든다. 배열 대상이라면 배열로, `List&lt;T&gt;` 대상이라면 리스트로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배열</a:t>
            </a:r>
          </a:p>
          <a:p xmlns:a="http://schemas.openxmlformats.org/drawingml/2006/main">
            <a:r>
              <a:t>int[] numbers = [1, 2, 3, 4, 5];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List</a:t>
            </a:r>
          </a:p>
          <a:p xmlns:a="http://schemas.openxmlformats.org/drawingml/2006/main">
            <a:r>
              <a:t>List&lt;string&gt; names = ["김철수", "이영희", "박민수"];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스프레드 연산자</a:t>
            </a:r>
          </a:p>
          <a:p xmlns:a="http://schemas.openxmlformats.org/drawingml/2006/main">
            <a:r>
              <a:t>int[] moreNumbers = [..numbers, 6, 7, 8];</a:t>
            </a:r>
          </a:p>
          <a:p xmlns:a="http://schemas.openxmlformats.org/drawingml/2006/main">
            <a:r>
              <a:t>List&lt;string&gt; allNames = [..names, "최수진"];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23. 조건부 컴파일 및 전처리기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조건부 컴파일은 빌드 구성별 코드를 분리하지만 신중히 써야 한다.</a:t>
            </a:r>
          </a:p>
          <a:p xmlns:a="http://schemas.openxmlformats.org/drawingml/2006/main">
            <a:r>
              <a:t>2. 개념 포인트: #if DEBUG는 디버그 전용 로직을 분리한다. / 전처리기는 컴파일 전에 코드를 포함/제외한다. / 환경별 동작은 보통 설정 파일과 DI가 더 유지보수하기 쉽다.</a:t>
            </a:r>
          </a:p>
          <a:p xmlns:a="http://schemas.openxmlformats.org/drawingml/2006/main">
            <a:r>
              <a:t>3. Web API 적용: 진단 코드나 플랫폼별 작은 분기에 제한적으로 사용한다.</a:t>
            </a:r>
          </a:p>
          <a:p xmlns:a="http://schemas.openxmlformats.org/drawingml/2006/main">
            <a:r>
              <a:t>4. 주의점: 전처리기가 많아지면 실제 배포 코드 경로를 눈으로 추적하기 어렵다.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전처리기 지시문(preprocessor directive)은 `#`으로 시작하며 **컴파일 전에 처리**된다. 디버그/릴리스 차이나 플랫폼 분기에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주요 지시문은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`#if`, `#elif`, `#else`, `#endif`: 조건부 컴파일 블록이다.</a:t>
            </a:r>
          </a:p>
          <a:p xmlns:a="http://schemas.openxmlformats.org/drawingml/2006/main">
            <a:r>
              <a:t>- `#define`, `#undef`: 심볼을 정의하거나 해제한다.</a:t>
            </a:r>
          </a:p>
          <a:p xmlns:a="http://schemas.openxmlformats.org/drawingml/2006/main">
            <a:r>
              <a:t>- `#region`, `#endregion`: IDE에서 접을 수 있는 영역을 만든다.</a:t>
            </a:r>
          </a:p>
          <a:p xmlns:a="http://schemas.openxmlformats.org/drawingml/2006/main">
            <a:r>
              <a:t>- `#pragma warning disable/restore`: 특정 경고를 일시적으로 끈다.</a:t>
            </a:r>
          </a:p>
          <a:p xmlns:a="http://schemas.openxmlformats.org/drawingml/2006/main">
            <a:r>
              <a:t>- `#nullable enable/disable`: NRT 컨텍스트를 전환한다.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기본 심볼은 빌드 구성에 따라 자동으로 정의된다.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`DEBUG`: Debug 빌드일 때 정의된다.</a:t>
            </a:r>
          </a:p>
          <a:p xmlns:a="http://schemas.openxmlformats.org/drawingml/2006/main">
            <a:r>
              <a:t>- `RELEASE`: Release 빌드일 때 정의된다.</a:t>
            </a:r>
          </a:p>
          <a:p xmlns:a="http://schemas.openxmlformats.org/drawingml/2006/main">
            <a:r>
              <a:t>- `NET8_0`, `NET9_0`: 대상 프레임워크 버전이다.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#if DEBUG</a:t>
            </a:r>
          </a:p>
          <a:p xmlns:a="http://schemas.openxmlformats.org/drawingml/2006/main">
            <a:r>
              <a:t>    Console.WriteLine("디버그 모드");</a:t>
            </a:r>
          </a:p>
          <a:p xmlns:a="http://schemas.openxmlformats.org/drawingml/2006/main">
            <a:r>
              <a:t>#elif RELEASE</a:t>
            </a:r>
          </a:p>
          <a:p xmlns:a="http://schemas.openxmlformats.org/drawingml/2006/main">
            <a:r>
              <a:t>    Console.WriteLine("릴리스 모드");</a:t>
            </a:r>
          </a:p>
          <a:p xmlns:a="http://schemas.openxmlformats.org/drawingml/2006/main">
            <a:r>
              <a:t>#endif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ApiService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readonly string _baseUrl;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ApiService()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#if DEBUG</a:t>
            </a:r>
          </a:p>
          <a:p xmlns:a="http://schemas.openxmlformats.org/drawingml/2006/main">
            <a:r>
              <a:t>        _baseUrl = "http://localhost:5000";</a:t>
            </a:r>
          </a:p>
          <a:p xmlns:a="http://schemas.openxmlformats.org/drawingml/2006/main">
            <a:r>
              <a:t>#else</a:t>
            </a:r>
          </a:p>
          <a:p xmlns:a="http://schemas.openxmlformats.org/drawingml/2006/main">
            <a:r>
              <a:t>        _baseUrl = "https://api.production.com";</a:t>
            </a:r>
          </a:p>
          <a:p xmlns:a="http://schemas.openxmlformats.org/drawingml/2006/main">
            <a:r>
              <a:t>#endif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`#if`를 남용하면 가독성과 테스트 커버리지가 나빠진다. 설정 파일(`appsettings.json`, 환경 변수) 기반 분기가 훨씬 유연하고 유지보수하기 쉽다. 조건부 컴파일은 플랫폼별 API처럼 **런타임 전환이 불가능한 경우**에만 쓰는 것이 원칙이다.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24. 정적 클래스와 확장 메서드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정적 클래스와 확장 메서드는 상태 없는 공통 기능을 모으는 데 적합하다.</a:t>
            </a:r>
          </a:p>
          <a:p xmlns:a="http://schemas.openxmlformats.org/drawingml/2006/main">
            <a:r>
              <a:t>2. 개념 포인트: static class는 인스턴스 없이 호출되는 유틸리티 묶음이다. / 확장 메서드 심화는 도메인 문법을 더 자연스럽게 만든다. / 상태가 필요하면 서비스로 분리하고 DI를 활용한다.</a:t>
            </a:r>
          </a:p>
          <a:p xmlns:a="http://schemas.openxmlformats.org/drawingml/2006/main">
            <a:r>
              <a:t>3. Web API 적용: 순수 함수형 변환, 포맷팅, 검증 보조에 사용한다.</a:t>
            </a:r>
          </a:p>
          <a:p xmlns:a="http://schemas.openxmlformats.org/drawingml/2006/main">
            <a:r>
              <a:t>4. 주의점: 정적 의존성이 많으면 테스트 대체가 어려워질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### 24.1 정적 클래스</a:t>
            </a:r>
          </a:p>
          <a:p xmlns:a="http://schemas.openxmlformats.org/drawingml/2006/main">
            <a:r>
              <a:t>**정적 클래스(static class)** 는 인스턴스를 만들 수 없고 **정적 멤버만** 담는 클래스다. 전역적인 유틸리티 함수를 모아둘 때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모든 멤버가 `static`이어야 한다.</a:t>
            </a:r>
          </a:p>
          <a:p xmlns:a="http://schemas.openxmlformats.org/drawingml/2006/main">
            <a:r>
              <a:t>- 생성자를 정의할 수 없다 (정적 생성자는 가능하다).</a:t>
            </a:r>
          </a:p>
          <a:p xmlns:a="http://schemas.openxmlformats.org/drawingml/2006/main">
            <a:r>
              <a:t>- 상속이 불가능하다 (`sealed abstract`로 암묵적으로 취급된다).</a:t>
            </a:r>
          </a:p>
          <a:p xmlns:a="http://schemas.openxmlformats.org/drawingml/2006/main">
            <a:r>
              <a:t>- 확장 메서드는 **반드시 정적 클래스** 안에 있어야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static class DateTimeHelper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static DateTime StartOfDay(DateTime date)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date.Date;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static DateTime EndOfDay(DateTime date)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date.Date.AddDays(1).AddTicks(-1);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start = DateTimeHelper.StartOfDay(DateTime.Now);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24.2 확장 메서드 심화</a:t>
            </a:r>
          </a:p>
          <a:p xmlns:a="http://schemas.openxmlformats.org/drawingml/2006/main">
            <a:r>
              <a:t>Repository나 Query 빌더에 자주 쓰는 확장 메서드들을 모아두면 표현력이 크게 올라간다. 아래 `Paginate`는 `IQueryable&lt;T&gt;`에 페이징을 추가하는 매우 실용적인 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static class QueryableExtensions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static IQueryable&lt;T&gt; Paginate&lt;T&gt;(</a:t>
            </a:r>
          </a:p>
          <a:p xmlns:a="http://schemas.openxmlformats.org/drawingml/2006/main">
            <a:r>
              <a:t>        this IQueryable&lt;T&gt; query,</a:t>
            </a:r>
          </a:p>
          <a:p xmlns:a="http://schemas.openxmlformats.org/drawingml/2006/main">
            <a:r>
              <a:t>        int page,</a:t>
            </a:r>
          </a:p>
          <a:p xmlns:a="http://schemas.openxmlformats.org/drawingml/2006/main">
            <a:r>
              <a:t>        int pageSize)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query</a:t>
            </a:r>
          </a:p>
          <a:p xmlns:a="http://schemas.openxmlformats.org/drawingml/2006/main">
            <a:r>
              <a:t>            .Skip((page - 1) * pageSize)</a:t>
            </a:r>
          </a:p>
          <a:p xmlns:a="http://schemas.openxmlformats.org/drawingml/2006/main">
            <a:r>
              <a:t>            .Take(pageSize);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사용</a:t>
            </a:r>
          </a:p>
          <a:p xmlns:a="http://schemas.openxmlformats.org/drawingml/2006/main">
            <a:r>
              <a:t>var products = _context.Products</a:t>
            </a:r>
          </a:p>
          <a:p xmlns:a="http://schemas.openxmlformats.org/drawingml/2006/main">
            <a:r>
              <a:t>    .Where(p =&gt; p.Price &gt; 100)</a:t>
            </a:r>
          </a:p>
          <a:p xmlns:a="http://schemas.openxmlformats.org/drawingml/2006/main">
            <a:r>
              <a:t>    .Paginate(page: 2, pageSize: 10)</a:t>
            </a:r>
          </a:p>
          <a:p xmlns:a="http://schemas.openxmlformats.org/drawingml/2006/main">
            <a:r>
              <a:t>    .ToListAsync();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`IQueryable`에 확장 메서드를 걸었기 때문에, EF Core는 이를 **SQL의 OFFSET/FETCH로 번역**한다. 즉 DB에서 페이징이 일어나 네트워크 트래픽과 메모리를 절약한다. 만약 `IEnumerable&lt;T&gt;`에 확장했다면 전체를 가져온 뒤 메모리에서 자르게 되어 성능이 나빠진다.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**호출 시 이름 있는 인수(named argument)** `Paginate(page: 2, pageSize: 10)`를 쓰면 의도가 명확해진다. 매개변수 순서를 외울 필요가 없다.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25. 상속과 다형성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상속과 다형성은 공통 동작과 확장 지점을 표현하지만 조합과 비교해 선택해야 한다.</a:t>
            </a:r>
          </a:p>
          <a:p xmlns:a="http://schemas.openxmlformats.org/drawingml/2006/main">
            <a:r>
              <a:t>2. 개념 포인트: base/derived class는 공통 구조와 특화 동작을 나눈다. / virtual/override는 런타임 다형성을 제공한다. / interface와 composition은 더 느슨한 결합을 만든다.</a:t>
            </a:r>
          </a:p>
          <a:p xmlns:a="http://schemas.openxmlformats.org/drawingml/2006/main">
            <a:r>
              <a:t>3. Web API 적용: 명확한 is-a 관계일 때 상속을 쓰고, 역할 계약은 interface를 우선 검토한다.</a:t>
            </a:r>
          </a:p>
          <a:p xmlns:a="http://schemas.openxmlformats.org/drawingml/2006/main">
            <a:r>
              <a:t>4. 주의점: 깊은 상속 구조는 변경 파급과 테스트 비용을 크게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상속은 **코드 재사용과 분류 관계(is-a)를 표현**하는 객체지향의 기본 도구다. 그러나 과도한 상속은 결합을 높이므로 **"composition over inheritance"** 원칙에 따라 필요할 때만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주요 키워드는 다음과 같다.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`abstract`: 추상 클래스 또는 추상 멤버를 정의한다. 인스턴스를 만들 수 없고 파생 클래스에서 구현해야 한다.</a:t>
            </a:r>
          </a:p>
          <a:p xmlns:a="http://schemas.openxmlformats.org/drawingml/2006/main">
            <a:r>
              <a:t>- `virtual`: 파생 클래스가 재정의할 수 있는 메서드다.</a:t>
            </a:r>
          </a:p>
          <a:p xmlns:a="http://schemas.openxmlformats.org/drawingml/2006/main">
            <a:r>
              <a:t>- `override`: 기반 클래스의 virtual/abstract 멤버를 재정의한다.</a:t>
            </a:r>
          </a:p>
          <a:p xmlns:a="http://schemas.openxmlformats.org/drawingml/2006/main">
            <a:r>
              <a:t>- `sealed`: 더 이상 상속하거나 재정의할 수 없게 봉인한다.</a:t>
            </a:r>
          </a:p>
          <a:p xmlns:a="http://schemas.openxmlformats.org/drawingml/2006/main">
            <a:r>
              <a:t>- `base`: 기반 클래스의 멤버에 접근한다.</a:t>
            </a:r>
          </a:p>
          <a:p xmlns:a="http://schemas.openxmlformats.org/drawingml/2006/main">
            <a:r>
              <a:t>- `protected`: 파생 클래스에서 접근 가능한 접근 수준이다.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기본 클래스</a:t>
            </a:r>
          </a:p>
          <a:p xmlns:a="http://schemas.openxmlformats.org/drawingml/2006/main">
            <a:r>
              <a:t>public abstract class BaseEntity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Id { get; set; }</a:t>
            </a:r>
          </a:p>
          <a:p xmlns:a="http://schemas.openxmlformats.org/drawingml/2006/main">
            <a:r>
              <a:t>    public DateTime CreatedAt { get; set; }</a:t>
            </a:r>
          </a:p>
          <a:p xmlns:a="http://schemas.openxmlformats.org/drawingml/2006/main">
            <a:r>
              <a:t>    public DateTime? UpdatedAt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상속</a:t>
            </a:r>
          </a:p>
          <a:p xmlns:a="http://schemas.openxmlformats.org/drawingml/2006/main">
            <a:r>
              <a:t>public class Product : BaseEntity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string Name { get; set; } = string.Empty;</a:t>
            </a:r>
          </a:p>
          <a:p xmlns:a="http://schemas.openxmlformats.org/drawingml/2006/main">
            <a:r>
              <a:t>    public decimal Price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User : BaseEntity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string Username { get; set; } = string.Empty;</a:t>
            </a:r>
          </a:p>
          <a:p xmlns:a="http://schemas.openxmlformats.org/drawingml/2006/main">
            <a:r>
              <a:t>    public string Email { get; set; } = string.Empty;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추상 서비스</a:t>
            </a:r>
          </a:p>
          <a:p xmlns:a="http://schemas.openxmlformats.org/drawingml/2006/main">
            <a:r>
              <a:t>public abstract class BaseService&lt;T&gt; where T : BaseEntity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protected readonly DbContext _context;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protected BaseService(DbContext context)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_context = context;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virtual async Task&lt;T?&gt; GetByIdAsync(int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await _context.Set&lt;T&gt;().FindAsync(id);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abstract Task&lt;bool&gt; ValidateAsync(T entity);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구체적 구현</a:t>
            </a:r>
          </a:p>
          <a:p xmlns:a="http://schemas.openxmlformats.org/drawingml/2006/main">
            <a:r>
              <a:t>public class ProductService : BaseService&lt;Product&gt;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ProductService(DbContext context) : base(context) {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override async Task&lt;bool&gt; ValidateAsync(Product entity)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!string.IsNullOrEmpty(entity.Name) &amp;&amp; entity.Price &gt; 0;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**다형성(polymorphism)** 은 기반 타입의 참조로 파생 타입의 메서드를 호출할 때 **실제 객체의 타입**에 맞는 구현이 실행되는 것을 말한다. `BaseService&lt;T&gt;` 변수에 담아도 `ValidateAsync`는 실제 `ProductService`의 구현을 호출한다.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**인터페이스 vs 추상 클래스**: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공통 동작 구현을 공유해야 한다 → 추상 클래스.</a:t>
            </a:r>
          </a:p>
          <a:p xmlns:a="http://schemas.openxmlformats.org/drawingml/2006/main">
            <a:r>
              <a:t>- 단순히 계약만 필요하고 다중 상속이 필요하다 → 인터페이스.</a:t>
            </a:r>
          </a:p>
          <a:p xmlns:a="http://schemas.openxmlformats.org/drawingml/2006/main">
            <a:r>
              <a:t>- 현대 C#(8.0+)에서는 인터페이스에도 기본 구현을 넣을 수 있어 경계가 흐려졌다. 그러나 단위 테스트와 DI 관점에서는 여전히 **인터페이스가 우선**이다.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26. IDisposable과 리소스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IDisposable은 파일, DB 연결, 스트림 같은 외부 리소스를 제때 해제하기 위한 계약이다.</a:t>
            </a:r>
          </a:p>
          <a:p xmlns:a="http://schemas.openxmlformats.org/drawingml/2006/main">
            <a:r>
              <a:t>2. 개념 포인트: using 문은 Dispose 호출을 자동화한다. / await using은 IAsyncDisposable 리소스를 비동기로 정리한다. / DI 컨테이너는 등록된 서비스 수명에 따라 Dispose를 관리한다.</a:t>
            </a:r>
          </a:p>
          <a:p xmlns:a="http://schemas.openxmlformats.org/drawingml/2006/main">
            <a:r>
              <a:t>3. Web API 적용: 직접 생성한 Stream/HttpClient-like 리소스의 수명과 소유자를 분명히 한다.</a:t>
            </a:r>
          </a:p>
          <a:p xmlns:a="http://schemas.openxmlformats.org/drawingml/2006/main">
            <a:r>
              <a:t>4. 주의점: DI가 관리하는 서비스를 수동으로 Dispose하면 수명 관리가 꼬일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`IDisposable`은 **관리되지 않는 리소스를 명시적으로 해제**하기 위한 인터페이스다. DB 연결, 파일 핸들, 네트워크 소켓, 암호화 서비스 등은 GC가 처리하기 전에 미리 정리되어야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`IDisposable.Dispose()`: 동기 해제다.</a:t>
            </a:r>
          </a:p>
          <a:p xmlns:a="http://schemas.openxmlformats.org/drawingml/2006/main">
            <a:r>
              <a:t>- `IAsyncDisposable.DisposeAsync()`: 비동기 해제다 (C# 8.0+). `await using`과 함께 쓴다.</a:t>
            </a:r>
          </a:p>
          <a:p xmlns:a="http://schemas.openxmlformats.org/drawingml/2006/main">
            <a:r>
              <a:t>- `using` 문: 블록 종료 시 자동으로 `Dispose`를 호출한다.</a:t>
            </a:r>
          </a:p>
          <a:p xmlns:a="http://schemas.openxmlformats.org/drawingml/2006/main">
            <a:r>
              <a:t>- **`using` 선언(C# 8)**: `using var x = ...` 한 줄로 변수의 스코프가 끝날 때 자동 해제된다.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**Dispose 패턴**은 파생 클래스에서도 올바르게 해제되도록 하는 관용구다. 직접 구현할 일은 드물고, 대부분 이미 `IDisposable`을 구현한 타입을 `using`으로 쓰기만 하면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public class DatabaseConnection : IDisposable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SqlConnection? _connection;</a:t>
            </a:r>
          </a:p>
          <a:p xmlns:a="http://schemas.openxmlformats.org/drawingml/2006/main">
            <a:r>
              <a:t>    private bool _disposed = false;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DatabaseConnection(string connectionString)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_connection = new SqlConnection(connectionString);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void Dispose()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Dispose(true);</a:t>
            </a:r>
          </a:p>
          <a:p xmlns:a="http://schemas.openxmlformats.org/drawingml/2006/main">
            <a:r>
              <a:t>        GC.SuppressFinalize(this);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protected virtual void Dispose(bool disposing)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(!_disposed)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if (disposing)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  _connection?.Dispose();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_disposed = true;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using 문</a:t>
            </a:r>
          </a:p>
          <a:p xmlns:a="http://schemas.openxmlformats.org/drawingml/2006/main">
            <a:r>
              <a:t>public async Task&lt;List&lt;User&gt;&gt; GetUsersAsync()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using var connection = new DatabaseConnection(_connectionString);</a:t>
            </a:r>
          </a:p>
          <a:p xmlns:a="http://schemas.openxmlformats.org/drawingml/2006/main">
            <a:r>
              <a:t>    // connection은 자동으로 Dispose됨</a:t>
            </a:r>
          </a:p>
          <a:p xmlns:a="http://schemas.openxmlformats.org/drawingml/2006/main">
            <a:r>
              <a:t>    return await connection.QueryAsync&lt;User&gt;("SELECT * FROM Users");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using 선언 (C# 8)</a:t>
            </a:r>
          </a:p>
          <a:p xmlns:a="http://schemas.openxmlformats.org/drawingml/2006/main">
            <a:r>
              <a:t>public async Task ProcessDataAsync()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using var stream = File.OpenRead("data.txt");</a:t>
            </a:r>
          </a:p>
          <a:p xmlns:a="http://schemas.openxmlformats.org/drawingml/2006/main">
            <a:r>
              <a:t>    using var reader = new StreamReader(stream);</a:t>
            </a:r>
          </a:p>
          <a:p xmlns:a="http://schemas.openxmlformats.org/drawingml/2006/main">
            <a:r>
              <a:t>    // 메서드 끝에서 자동으로 Dispose</a:t>
            </a:r>
          </a:p>
          <a:p xmlns:a="http://schemas.openxmlformats.org/drawingml/2006/main">
            <a:r>
              <a:t>    var content = await reader.ReadToEndAsync();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**실무 팁**: ASP.NET Core DI 컨테이너는 **스코프 종료 시점에 `IDisposable` 객체들을 자동으로 해제**한다. 따라서 DI로 주입받은 서비스(`DbContext` 등)는 일반적으로 직접 `Dispose`하지 않는다. 직접 인스턴스화해 쓰는 경우에만 `using`이 필요하다.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`GC.SuppressFinalize(this)` 호출은 **파이널라이저가 있는 경우** 이미 `Dispose`로 정리했으니 GC가 두 번 호출하지 않도록 요청하는 것이다. 파이널라이저가 없으면 사실상 불필요하지만, 표준 패턴으로 남겨둔다.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섹션 27. 실전 종합 예제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발표 순서:</a:t>
            </a:r>
          </a:p>
          <a:p xmlns:a="http://schemas.openxmlformats.org/drawingml/2006/main">
            <a:r>
              <a:t>1. 핵심 주장: 종합 예제는 지금까지의 문법이 실제 Web API 계층 구조에서 함께 쓰이는 모습을 보여준다.</a:t>
            </a:r>
          </a:p>
          <a:p xmlns:a="http://schemas.openxmlformats.org/drawingml/2006/main">
            <a:r>
              <a:t>2. 개념 포인트: DTO, service, controller, async, LINQ, 예외 처리가 하나의 흐름으로 연결된다. / 요청 모델은 검증되고 서비스는 도메인 작업을 수행한다. / 응답은 ActionResult와 상태 코드로 클라이언트 계약이 된다.</a:t>
            </a:r>
          </a:p>
          <a:p xmlns:a="http://schemas.openxmlformats.org/drawingml/2006/main">
            <a:r>
              <a:t>3. Web API 적용: 예제를 계층별로 읽으며 각 C# 문법이 어떤 문제를 해결하는지 연결한다.</a:t>
            </a:r>
          </a:p>
          <a:p xmlns:a="http://schemas.openxmlformats.org/drawingml/2006/main">
            <a:r>
              <a:t>4. 주의점: 예제는 출발점이며 실제 서비스에는 로깅, 인증, 검증, 트랜잭션이 추가된다.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 기반 상세 설명:</a:t>
            </a:r>
          </a:p>
          <a:p xmlns:a="http://schemas.openxmlformats.org/drawingml/2006/main">
            <a:r>
              <a:t>모든 개념을 활용한 완전한 서비스 레이어다. 레코드 DTO, 제네릭 Repository, ApiResponse 래퍼, 필터/페이징, 튜플 검증, 확장 메서드가 모두 등장한다.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예제의 구조는 실제 중대형 ASP.NET Core Web API에서 흔히 볼 수 있는 **레이어드 아키텍처**다.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**Models(Entity)**: DB 테이블에 매핑되는 도메인 객체.</a:t>
            </a:r>
          </a:p>
          <a:p xmlns:a="http://schemas.openxmlformats.org/drawingml/2006/main">
            <a:r>
              <a:t>- **DTOs**: 외부와 주고받는 데이터 모양. 엔티티와 분리해 내부 스키마 유출을 방지한다.</a:t>
            </a:r>
          </a:p>
          <a:p xmlns:a="http://schemas.openxmlformats.org/drawingml/2006/main">
            <a:r>
              <a:t>- **Repository**: 데이터 접근 계층. DB 기술을 캡슐화한다.</a:t>
            </a:r>
          </a:p>
          <a:p xmlns:a="http://schemas.openxmlformats.org/drawingml/2006/main">
            <a:r>
              <a:t>- **Service**: 비즈니스 로직. Repository를 사용하고 DTO를 반환한다.</a:t>
            </a:r>
          </a:p>
          <a:p xmlns:a="http://schemas.openxmlformats.org/drawingml/2006/main">
            <a:r>
              <a:t>- **Controller**: HTTP 요청을 받아 Service를 호출하고 응답을 반환한다 (여기서는 생략되었지만 구성 원칙은 12절과 동일하다).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```csharp</a:t>
            </a:r>
          </a:p>
          <a:p xmlns:a="http://schemas.openxmlformats.org/drawingml/2006/main">
            <a:r>
              <a:t>// Models</a:t>
            </a:r>
          </a:p>
          <a:p xmlns:a="http://schemas.openxmlformats.org/drawingml/2006/main">
            <a:r>
              <a:t>namespace MyApi.Models;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abstract class BaseEntity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int Id { get; set; }</a:t>
            </a:r>
          </a:p>
          <a:p xmlns:a="http://schemas.openxmlformats.org/drawingml/2006/main">
            <a:r>
              <a:t>    public DateTime CreatedAt { get; set; }</a:t>
            </a:r>
          </a:p>
          <a:p xmlns:a="http://schemas.openxmlformats.org/drawingml/2006/main">
            <a:r>
              <a:t>    public DateTime? UpdatedAt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class Product : BaseEntity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string Name { get; set; } = string.Empty;</a:t>
            </a:r>
          </a:p>
          <a:p xmlns:a="http://schemas.openxmlformats.org/drawingml/2006/main">
            <a:r>
              <a:t>    public decimal Price { get; set; }</a:t>
            </a:r>
          </a:p>
          <a:p xmlns:a="http://schemas.openxmlformats.org/drawingml/2006/main">
            <a:r>
              <a:t>    public ProductStatus Status { get; set; }</a:t>
            </a:r>
          </a:p>
          <a:p xmlns:a="http://schemas.openxmlformats.org/drawingml/2006/main">
            <a:r>
              <a:t>    public int CategoryId { get; set; }</a:t>
            </a:r>
          </a:p>
          <a:p xmlns:a="http://schemas.openxmlformats.org/drawingml/2006/main">
            <a:r>
              <a:t>    public Category? Category { get; set;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enum ProductStatus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Draft,</a:t>
            </a:r>
          </a:p>
          <a:p xmlns:a="http://schemas.openxmlformats.org/drawingml/2006/main">
            <a:r>
              <a:t>    Active,</a:t>
            </a:r>
          </a:p>
          <a:p xmlns:a="http://schemas.openxmlformats.org/drawingml/2006/main">
            <a:r>
              <a:t>    Discontinued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DTOs</a:t>
            </a:r>
          </a:p>
          <a:p xmlns:a="http://schemas.openxmlformats.org/drawingml/2006/main">
            <a:r>
              <a:t>public record ProductDto(int Id, string Name, decimal Price, string Status);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record CreateProductRequest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[Required]</a:t>
            </a:r>
          </a:p>
          <a:p xmlns:a="http://schemas.openxmlformats.org/drawingml/2006/main">
            <a:r>
              <a:t>    [StringLength(100)]</a:t>
            </a:r>
          </a:p>
          <a:p xmlns:a="http://schemas.openxmlformats.org/drawingml/2006/main">
            <a:r>
              <a:t>    public string Name { get; init; } = string.Empty;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[Range(0.01, 1000000)]</a:t>
            </a:r>
          </a:p>
          <a:p xmlns:a="http://schemas.openxmlformats.org/drawingml/2006/main">
            <a:r>
              <a:t>    public decimal Price { get; init;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int CategoryId { get; init;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 record ProductFilterRequest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decimal? MinPrice { get; init; }</a:t>
            </a:r>
          </a:p>
          <a:p xmlns:a="http://schemas.openxmlformats.org/drawingml/2006/main">
            <a:r>
              <a:t>    public decimal? MaxPrice { get; init; }</a:t>
            </a:r>
          </a:p>
          <a:p xmlns:a="http://schemas.openxmlformats.org/drawingml/2006/main">
            <a:r>
              <a:t>    public ProductStatus? Status { get; init; }</a:t>
            </a:r>
          </a:p>
          <a:p xmlns:a="http://schemas.openxmlformats.org/drawingml/2006/main">
            <a:r>
              <a:t>    public int Page { get; init; } = 1;</a:t>
            </a:r>
          </a:p>
          <a:p xmlns:a="http://schemas.openxmlformats.org/drawingml/2006/main">
            <a:r>
              <a:t>    public int PageSize { get; init; } = 20;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Repository Interface</a:t>
            </a:r>
          </a:p>
          <a:p xmlns:a="http://schemas.openxmlformats.org/drawingml/2006/main">
            <a:r>
              <a:t>public interface IRepository&lt;T&gt; where T : BaseEntity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Task&lt;List&lt;T&gt;&gt; GetAllAsync();</a:t>
            </a:r>
          </a:p>
          <a:p xmlns:a="http://schemas.openxmlformats.org/drawingml/2006/main">
            <a:r>
              <a:t>    Task&lt;T?&gt; GetByIdAsync(int id);</a:t>
            </a:r>
          </a:p>
          <a:p xmlns:a="http://schemas.openxmlformats.org/drawingml/2006/main">
            <a:r>
              <a:t>    Task&lt;T&gt; AddAsync(T entity);</a:t>
            </a:r>
          </a:p>
          <a:p xmlns:a="http://schemas.openxmlformats.org/drawingml/2006/main">
            <a:r>
              <a:t>    Task UpdateAsync(T entity);</a:t>
            </a:r>
          </a:p>
          <a:p xmlns:a="http://schemas.openxmlformats.org/drawingml/2006/main">
            <a:r>
              <a:t>    Task DeleteAsync(int id);</a:t>
            </a:r>
          </a:p>
          <a:p xmlns:a="http://schemas.openxmlformats.org/drawingml/2006/main">
            <a:r>
              <a:t>    IQueryable&lt;T&gt; Query();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Service Interface</a:t>
            </a:r>
          </a:p>
          <a:p xmlns:a="http://schemas.openxmlformats.org/drawingml/2006/main">
            <a:r>
              <a:t>public interface IProductService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Task&lt;ApiResponse&lt;List&lt;ProductDto&gt;&gt;&gt; GetAllAsync(ProductFilterRequest filter);</a:t>
            </a:r>
          </a:p>
          <a:p xmlns:a="http://schemas.openxmlformats.org/drawingml/2006/main">
            <a:r>
              <a:t>    Task&lt;ApiResponse&lt;ProductDto&gt;&gt; GetByIdAsync(int id);</a:t>
            </a:r>
          </a:p>
          <a:p xmlns:a="http://schemas.openxmlformats.org/drawingml/2006/main">
            <a:r>
              <a:t>    Task&lt;ApiResponse&lt;ProductDto&gt;&gt; CreateAsync(CreateProductRequest request);</a:t>
            </a:r>
          </a:p>
          <a:p xmlns:a="http://schemas.openxmlformats.org/drawingml/2006/main">
            <a:r>
              <a:t>    Task&lt;ApiResponse&lt;bool&gt;&gt; DeleteAsync(int id);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Service Implementation</a:t>
            </a:r>
          </a:p>
          <a:p xmlns:a="http://schemas.openxmlformats.org/drawingml/2006/main">
            <a:r>
              <a:t>public class ProductService : IProductService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private readonly IRepository&lt;Product&gt; _repository;</a:t>
            </a:r>
          </a:p>
          <a:p xmlns:a="http://schemas.openxmlformats.org/drawingml/2006/main">
            <a:r>
              <a:t>    private readonly ILogger&lt;ProductService&gt; _logger;</a:t>
            </a:r>
          </a:p>
          <a:p xmlns:a="http://schemas.openxmlformats.org/drawingml/2006/main">
            <a:r>
              <a:t>    private readonly IMapper _mapper;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ProductService(</a:t>
            </a:r>
          </a:p>
          <a:p xmlns:a="http://schemas.openxmlformats.org/drawingml/2006/main">
            <a:r>
              <a:t>        IRepository&lt;Product&gt; repository,</a:t>
            </a:r>
          </a:p>
          <a:p xmlns:a="http://schemas.openxmlformats.org/drawingml/2006/main">
            <a:r>
              <a:t>        ILogger&lt;ProductService&gt; logger,</a:t>
            </a:r>
          </a:p>
          <a:p xmlns:a="http://schemas.openxmlformats.org/drawingml/2006/main">
            <a:r>
              <a:t>        IMapper mapper)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_repository = repository;</a:t>
            </a:r>
          </a:p>
          <a:p xmlns:a="http://schemas.openxmlformats.org/drawingml/2006/main">
            <a:r>
              <a:t>        _logger = logger;</a:t>
            </a:r>
          </a:p>
          <a:p xmlns:a="http://schemas.openxmlformats.org/drawingml/2006/main">
            <a:r>
              <a:t>        _mapper = mapper;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Task&lt;ApiResponse&lt;List&lt;ProductDto&gt;&gt;&gt; GetAllAsync(</a:t>
            </a:r>
          </a:p>
          <a:p xmlns:a="http://schemas.openxmlformats.org/drawingml/2006/main">
            <a:r>
              <a:t>        ProductFilterRequest filter)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try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var query = _repository.Query();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// 필터 적용</a:t>
            </a:r>
          </a:p>
          <a:p xmlns:a="http://schemas.openxmlformats.org/drawingml/2006/main">
            <a:r>
              <a:t>            if (filter.MinPrice.HasValue)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  query = query.Where(p =&gt; p.Price &gt;= filter.MinPrice.Value);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if (filter.MaxPrice.HasValue)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  query = query.Where(p =&gt; p.Price &lt;= filter.MaxPrice.Value);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if (filter.Status.HasValue)</a:t>
            </a:r>
          </a:p>
          <a:p xmlns:a="http://schemas.openxmlformats.org/drawingml/2006/main">
            <a:r>
              <a:t>            {</a:t>
            </a:r>
          </a:p>
          <a:p xmlns:a="http://schemas.openxmlformats.org/drawingml/2006/main">
            <a:r>
              <a:t>                query = query.Where(p =&gt; p.Status == filter.Status.Value);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// 페이징</a:t>
            </a:r>
          </a:p>
          <a:p xmlns:a="http://schemas.openxmlformats.org/drawingml/2006/main">
            <a:r>
              <a:t>            var products = await query</a:t>
            </a:r>
          </a:p>
          <a:p xmlns:a="http://schemas.openxmlformats.org/drawingml/2006/main">
            <a:r>
              <a:t>                .OrderBy(p =&gt; p.Name)</a:t>
            </a:r>
          </a:p>
          <a:p xmlns:a="http://schemas.openxmlformats.org/drawingml/2006/main">
            <a:r>
              <a:t>                .Paginate(filter.Page, filter.PageSize)</a:t>
            </a:r>
          </a:p>
          <a:p xmlns:a="http://schemas.openxmlformats.org/drawingml/2006/main">
            <a:r>
              <a:t>                .ToListAsync();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var dtos = products.Select(p =&gt; new ProductDto(</a:t>
            </a:r>
          </a:p>
          <a:p xmlns:a="http://schemas.openxmlformats.org/drawingml/2006/main">
            <a:r>
              <a:t>                p.Id,</a:t>
            </a:r>
          </a:p>
          <a:p xmlns:a="http://schemas.openxmlformats.org/drawingml/2006/main">
            <a:r>
              <a:t>                p.Name,</a:t>
            </a:r>
          </a:p>
          <a:p xmlns:a="http://schemas.openxmlformats.org/drawingml/2006/main">
            <a:r>
              <a:t>                p.Price,</a:t>
            </a:r>
          </a:p>
          <a:p xmlns:a="http://schemas.openxmlformats.org/drawingml/2006/main">
            <a:r>
              <a:t>                p.Status.ToString()</a:t>
            </a:r>
          </a:p>
          <a:p xmlns:a="http://schemas.openxmlformats.org/drawingml/2006/main">
            <a:r>
              <a:t>            )).ToList();</a:t>
            </a:r>
          </a:p>
          <a:p xmlns:a="http://schemas.openxmlformats.org/drawingml/2006/main">
            <a:r>
              <a:t>            </a:t>
            </a:r>
          </a:p>
          <a:p xmlns:a="http://schemas.openxmlformats.org/drawingml/2006/main">
            <a:r>
              <a:t>            return ApiResponse&lt;List&lt;ProductDto&gt;&gt;.SuccessResult(dtos);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catch (Exception ex)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_logger.LogError(ex, "제품 목록 조회 실패");</a:t>
            </a:r>
          </a:p>
          <a:p xmlns:a="http://schemas.openxmlformats.org/drawingml/2006/main">
            <a:r>
              <a:t>            return ApiResponse&lt;List&lt;ProductDto&gt;&gt;.ErrorResult(</a:t>
            </a:r>
          </a:p>
          <a:p xmlns:a="http://schemas.openxmlformats.org/drawingml/2006/main">
            <a:r>
              <a:t>                "제품 목록을 불러올 수 없습니다");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Task&lt;ApiResponse&lt;ProductDto&gt;&gt; GetByIdAsync(int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var product = await _repository.GetByIdAsync(id);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(product is null)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ApiResponse&lt;ProductDto&gt;.ErrorResult(</a:t>
            </a:r>
          </a:p>
          <a:p xmlns:a="http://schemas.openxmlformats.org/drawingml/2006/main">
            <a:r>
              <a:t>                $"제품 {id}를 찾을 수 없습니다");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var dto = new ProductDto(</a:t>
            </a:r>
          </a:p>
          <a:p xmlns:a="http://schemas.openxmlformats.org/drawingml/2006/main">
            <a:r>
              <a:t>            product.Id,</a:t>
            </a:r>
          </a:p>
          <a:p xmlns:a="http://schemas.openxmlformats.org/drawingml/2006/main">
            <a:r>
              <a:t>            product.Name,</a:t>
            </a:r>
          </a:p>
          <a:p xmlns:a="http://schemas.openxmlformats.org/drawingml/2006/main">
            <a:r>
              <a:t>            product.Price,</a:t>
            </a:r>
          </a:p>
          <a:p xmlns:a="http://schemas.openxmlformats.org/drawingml/2006/main">
            <a:r>
              <a:t>            product.Status.ToString()</a:t>
            </a:r>
          </a:p>
          <a:p xmlns:a="http://schemas.openxmlformats.org/drawingml/2006/main">
            <a:r>
              <a:t>        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ApiResponse&lt;ProductDto&gt;.SuccessResult(dto);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Task&lt;ApiResponse&lt;ProductDto&gt;&gt; CreateAsync(</a:t>
            </a:r>
          </a:p>
          <a:p xmlns:a="http://schemas.openxmlformats.org/drawingml/2006/main">
            <a:r>
              <a:t>        CreateProductRequest request)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var product = new Product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Name = request.Name,</a:t>
            </a:r>
          </a:p>
          <a:p xmlns:a="http://schemas.openxmlformats.org/drawingml/2006/main">
            <a:r>
              <a:t>            Price = request.Price,</a:t>
            </a:r>
          </a:p>
          <a:p xmlns:a="http://schemas.openxmlformats.org/drawingml/2006/main">
            <a:r>
              <a:t>            CategoryId = request.CategoryId,</a:t>
            </a:r>
          </a:p>
          <a:p xmlns:a="http://schemas.openxmlformats.org/drawingml/2006/main">
            <a:r>
              <a:t>            Status = ProductStatus.Draft,</a:t>
            </a:r>
          </a:p>
          <a:p xmlns:a="http://schemas.openxmlformats.org/drawingml/2006/main">
            <a:r>
              <a:t>            CreatedAt = DateTime.UtcNow</a:t>
            </a:r>
          </a:p>
          <a:p xmlns:a="http://schemas.openxmlformats.org/drawingml/2006/main">
            <a:r>
              <a:t>        };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var (isValid, errorMessage) = await ValidateProductAsync(product);</a:t>
            </a:r>
          </a:p>
          <a:p xmlns:a="http://schemas.openxmlformats.org/drawingml/2006/main">
            <a:r>
              <a:t>        if (!isValid)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ApiResponse&lt;ProductDto&gt;.ErrorResult(errorMessage);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var created = await _repository.AddAsync(product);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var dto = new ProductDto(</a:t>
            </a:r>
          </a:p>
          <a:p xmlns:a="http://schemas.openxmlformats.org/drawingml/2006/main">
            <a:r>
              <a:t>            created.Id,</a:t>
            </a:r>
          </a:p>
          <a:p xmlns:a="http://schemas.openxmlformats.org/drawingml/2006/main">
            <a:r>
              <a:t>            created.Name,</a:t>
            </a:r>
          </a:p>
          <a:p xmlns:a="http://schemas.openxmlformats.org/drawingml/2006/main">
            <a:r>
              <a:t>            created.Price,</a:t>
            </a:r>
          </a:p>
          <a:p xmlns:a="http://schemas.openxmlformats.org/drawingml/2006/main">
            <a:r>
              <a:t>            created.Status.ToString()</a:t>
            </a:r>
          </a:p>
          <a:p xmlns:a="http://schemas.openxmlformats.org/drawingml/2006/main">
            <a:r>
              <a:t>        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ApiResponse&lt;ProductDto&gt;.SuccessResult(dto);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async Task&lt;ApiResponse&lt;bool&gt;&gt; DeleteAsync(int id)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var product = await _repository.GetByIdAsync(id);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(product is null)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ApiResponse&lt;bool&gt;.ErrorResult("제품을 찾을 수 없습니다");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await _repository.DeleteAsync(id);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ApiResponse&lt;bool&gt;.SuccessResult(true);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private async Task&lt;(bool IsValid, string ErrorMessage)&gt; ValidateProductAsync(</a:t>
            </a:r>
          </a:p>
          <a:p xmlns:a="http://schemas.openxmlformats.org/drawingml/2006/main">
            <a:r>
              <a:t>        Product product)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(string.IsNullOrWhiteSpace(product.Name))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(false, "제품명은 필수입니다");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(product.Price &lt;= 0)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(false, "가격은 0보다 커야 합니다");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// 중복 이름 체크</a:t>
            </a:r>
          </a:p>
          <a:p xmlns:a="http://schemas.openxmlformats.org/drawingml/2006/main">
            <a:r>
              <a:t>        var exists = await _repository.Query()</a:t>
            </a:r>
          </a:p>
          <a:p xmlns:a="http://schemas.openxmlformats.org/drawingml/2006/main">
            <a:r>
              <a:t>            .AnyAsync(p =&gt; p.Name == product.Name &amp;&amp; p.Id != product.Id);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if (exists)</a:t>
            </a:r>
          </a:p>
          <a:p xmlns:a="http://schemas.openxmlformats.org/drawingml/2006/main">
            <a:r>
              <a:t>        {</a:t>
            </a:r>
          </a:p>
          <a:p xmlns:a="http://schemas.openxmlformats.org/drawingml/2006/main">
            <a:r>
              <a:t>            return (false, "이미 존재하는 제품명입니다");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</a:t>
            </a:r>
          </a:p>
          <a:p xmlns:a="http://schemas.openxmlformats.org/drawingml/2006/main">
            <a:r>
              <a:t>        return (true, string.Empty);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Extension Methods</a:t>
            </a:r>
          </a:p>
          <a:p xmlns:a="http://schemas.openxmlformats.org/drawingml/2006/main">
            <a:r>
              <a:t>public static class QueryableExtensions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static IQueryable&lt;T&gt; Paginate&lt;T&gt;(</a:t>
            </a:r>
          </a:p>
          <a:p xmlns:a="http://schemas.openxmlformats.org/drawingml/2006/main">
            <a:r>
              <a:t>        this IQueryable&lt;T&gt; query,</a:t>
            </a:r>
          </a:p>
          <a:p xmlns:a="http://schemas.openxmlformats.org/drawingml/2006/main">
            <a:r>
              <a:t>        int page,</a:t>
            </a:r>
          </a:p>
          <a:p xmlns:a="http://schemas.openxmlformats.org/drawingml/2006/main">
            <a:r>
              <a:t>        int pageSize)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return query</a:t>
            </a:r>
          </a:p>
          <a:p xmlns:a="http://schemas.openxmlformats.org/drawingml/2006/main">
            <a:r>
              <a:t>            .Skip((page - 1) * pageSize)</a:t>
            </a:r>
          </a:p>
          <a:p xmlns:a="http://schemas.openxmlformats.org/drawingml/2006/main">
            <a:r>
              <a:t>            .Take(pageSize);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API Response</a:t>
            </a:r>
          </a:p>
          <a:p xmlns:a="http://schemas.openxmlformats.org/drawingml/2006/main">
            <a:r>
              <a:t>public class ApiResponse&lt;T&gt;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public bool Success { get; set; }</a:t>
            </a:r>
          </a:p>
          <a:p xmlns:a="http://schemas.openxmlformats.org/drawingml/2006/main">
            <a:r>
              <a:t>    public T? Data { get; set; }</a:t>
            </a:r>
          </a:p>
          <a:p xmlns:a="http://schemas.openxmlformats.org/drawingml/2006/main">
            <a:r>
              <a:t>    public string? Error { get; set; }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static ApiResponse&lt;T&gt; SuccessResult(T data) =&gt; new()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Success = true,</a:t>
            </a:r>
          </a:p>
          <a:p xmlns:a="http://schemas.openxmlformats.org/drawingml/2006/main">
            <a:r>
              <a:t>        Data = data</a:t>
            </a:r>
          </a:p>
          <a:p xmlns:a="http://schemas.openxmlformats.org/drawingml/2006/main">
            <a:r>
              <a:t>    };</a:t>
            </a:r>
          </a:p>
          <a:p xmlns:a="http://schemas.openxmlformats.org/drawingml/2006/main">
            <a:r>
              <a:t>    </a:t>
            </a:r>
          </a:p>
          <a:p xmlns:a="http://schemas.openxmlformats.org/drawingml/2006/main">
            <a:r>
              <a:t>    public static ApiResponse&lt;T&gt; ErrorResult(string error) =&gt; new()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Success = false,</a:t>
            </a:r>
          </a:p>
          <a:p xmlns:a="http://schemas.openxmlformats.org/drawingml/2006/main">
            <a:r>
              <a:t>        Error = error</a:t>
            </a:r>
          </a:p>
          <a:p xmlns:a="http://schemas.openxmlformats.org/drawingml/2006/main">
            <a:r>
              <a:t>    };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**이 코드에서 배울 점**: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`IQueryable` 위에서 조건부로 `Where`를 쌓아 **동적 쿼리**를 만든다. 필요할 때만 조건이 추가되므로 SQL이 최적화된다.</a:t>
            </a:r>
          </a:p>
          <a:p xmlns:a="http://schemas.openxmlformats.org/drawingml/2006/main">
            <a:r>
              <a:t>- 검증 로직이 **튜플로 (성공, 메시지)** 를 반환해 호출자가 깔끔하게 분기한다.</a:t>
            </a:r>
          </a:p>
          <a:p xmlns:a="http://schemas.openxmlformats.org/drawingml/2006/main">
            <a:r>
              <a:t>- 서비스 메서드가 `ApiResponse&lt;T&gt;`로 통일되어 컨트롤러에서 HTTP 상태 코드 매핑만 담당하면 된다.</a:t>
            </a:r>
          </a:p>
          <a:p xmlns:a="http://schemas.openxmlformats.org/drawingml/2006/main">
            <a:r>
              <a:t>- `Paginate` 확장 메서드로 페이징 로직이 한 군데에 집중되어 있어 테스트하기 쉽다.</a:t>
            </a:r>
          </a:p>
          <a:p xmlns:a="http://schemas.openxmlformats.org/drawingml/2006/main">
            <a:r>
              <a:t>- DTO와 엔티티를 분리해 **DB 스키마 변경이 API 계약에 영향을 주지 않게** 보호한다.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**더 나아가기**: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AutoMapper 대신 Mapperly 같은 소스 제너레이터 기반 매퍼를 고려할 만하다. 런타임 리플렉션이 없어 성능이 더 좋다.</a:t>
            </a:r>
          </a:p>
          <a:p xmlns:a="http://schemas.openxmlformats.org/drawingml/2006/main">
            <a:r>
              <a:t>- FluentValidation 라이브러리를 도입하면 복잡한 검증을 한 곳에 응집시킬 수 있다.</a:t>
            </a:r>
          </a:p>
          <a:p xmlns:a="http://schemas.openxmlformats.org/drawingml/2006/main">
            <a:r>
              <a:t>- 인증/인가는 `[Authorize]` 특성과 JWT Bearer 스키마를 조합하는 것이 표준이다.</a:t>
            </a:r>
          </a:p>
          <a:p xmlns:a="http://schemas.openxmlformats.org/drawingml/2006/main">
            <a:r>
              <a:t>- 관측성(observability)은 OpenTelemetry + Serilog + Grafana 조합이 현대적인 선택지다.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가이드의 각 절을 숙지하고 이 종합 예제를 여러 번 읽어보면, 실무 수준의 ASP.NET Core Web API를 설계하고 구현하는 데 필요한 C# 기반은 충분히 갖추게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지금까지의 내용을 하나의 요청 흐름으로 복습합니다. DTO에는 nullable과 validation attribute가 쓰이고, 컨트롤러는 DI로 받은 service를 호출하며, service는 async LINQ/EF Core 작업을 수행하고, 결과는 ActionResult&lt;T&gt;와 상태 코드로 표현됩니다.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마지막으로 실무 코드 리뷰 관점에서 확인할 항목을 정리합니다. 발표자가 각 항목을 원본 문서의 관련 장과 연결해 짚으면 전체 내용을 한 번 더 회수할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ce96eafb7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a96a0e85eb4165" /><Relationship Type="http://schemas.openxmlformats.org/officeDocument/2006/relationships/slideLayout" Target="/ppt/slideLayouts/slideLayout1.xml" Id="Rcbe5981a7d8246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e5981a7d8246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79609b3eb4edd" /><Relationship Type="http://schemas.openxmlformats.org/officeDocument/2006/relationships/notesSlide" Target="/ppt/notesSlides/notesSlide1.xml" Id="Ra4873d3e410341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7bff5ab444c48" /><Relationship Type="http://schemas.openxmlformats.org/officeDocument/2006/relationships/notesSlide" Target="/ppt/notesSlides/notesSlide2.xml" Id="Recc57f1ccf3648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84cd66f174dc0" /><Relationship Type="http://schemas.openxmlformats.org/officeDocument/2006/relationships/notesSlide" Target="/ppt/notesSlides/notesSlide3.xml" Id="R9f653a5f1957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36922c4384676" /><Relationship Type="http://schemas.openxmlformats.org/officeDocument/2006/relationships/notesSlide" Target="/ppt/notesSlides/notesSlide4.xml" Id="Ra97dbc7cff1f43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b82eada624a96" /><Relationship Type="http://schemas.openxmlformats.org/officeDocument/2006/relationships/notesSlide" Target="/ppt/notesSlides/notesSlide5.xml" Id="Rcf5ccb773cbb4b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6b52342044fdf" /><Relationship Type="http://schemas.openxmlformats.org/officeDocument/2006/relationships/notesSlide" Target="/ppt/notesSlides/notesSlide6.xml" Id="R911e1a7601214b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353911c134ac9" /><Relationship Type="http://schemas.openxmlformats.org/officeDocument/2006/relationships/notesSlide" Target="/ppt/notesSlides/notesSlide7.xml" Id="R51f3c860308247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3ee4eca4a4a76" /><Relationship Type="http://schemas.openxmlformats.org/officeDocument/2006/relationships/notesSlide" Target="/ppt/notesSlides/notesSlide8.xml" Id="Rda924077a5b64d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eaec39524933" /><Relationship Type="http://schemas.openxmlformats.org/officeDocument/2006/relationships/notesSlide" Target="/ppt/notesSlides/notesSlide9.xml" Id="R8b150280044c46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52bc09c804b29" /><Relationship Type="http://schemas.openxmlformats.org/officeDocument/2006/relationships/notesSlide" Target="/ppt/notesSlides/notesSlide10.xml" Id="R05b60f1cb1c04f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a1295a4244fcb" /><Relationship Type="http://schemas.openxmlformats.org/officeDocument/2006/relationships/notesSlide" Target="/ppt/notesSlides/notesSlide11.xml" Id="R399de661560f45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11975bce24c1b" /><Relationship Type="http://schemas.openxmlformats.org/officeDocument/2006/relationships/notesSlide" Target="/ppt/notesSlides/notesSlide12.xml" Id="Rdc16d245a85548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6d8fb406b4bb6" /><Relationship Type="http://schemas.openxmlformats.org/officeDocument/2006/relationships/notesSlide" Target="/ppt/notesSlides/notesSlide13.xml" Id="R4512ea01a68a45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b2794d0d9462b" /><Relationship Type="http://schemas.openxmlformats.org/officeDocument/2006/relationships/notesSlide" Target="/ppt/notesSlides/notesSlide14.xml" Id="R5434b754110c48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f6dfc0851422e" /><Relationship Type="http://schemas.openxmlformats.org/officeDocument/2006/relationships/notesSlide" Target="/ppt/notesSlides/notesSlide15.xml" Id="Rce9757c3b4f649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4b0ea007a40e1" /><Relationship Type="http://schemas.openxmlformats.org/officeDocument/2006/relationships/notesSlide" Target="/ppt/notesSlides/notesSlide16.xml" Id="Raee961cc5ca347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9406583f5431c" /><Relationship Type="http://schemas.openxmlformats.org/officeDocument/2006/relationships/notesSlide" Target="/ppt/notesSlides/notesSlide17.xml" Id="R086699a3f29444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bc736d27c4904" /><Relationship Type="http://schemas.openxmlformats.org/officeDocument/2006/relationships/notesSlide" Target="/ppt/notesSlides/notesSlide18.xml" Id="Rdd0e732415eb40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5277579a54dec" /><Relationship Type="http://schemas.openxmlformats.org/officeDocument/2006/relationships/notesSlide" Target="/ppt/notesSlides/notesSlide19.xml" Id="R990987cbf83841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a5b869074471e" /><Relationship Type="http://schemas.openxmlformats.org/officeDocument/2006/relationships/notesSlide" Target="/ppt/notesSlides/notesSlide20.xml" Id="Rbe05396f009e41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60d30311a48dd" /><Relationship Type="http://schemas.openxmlformats.org/officeDocument/2006/relationships/notesSlide" Target="/ppt/notesSlides/notesSlide21.xml" Id="Rb1cf27c7220140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d700beb2d4ecd" /><Relationship Type="http://schemas.openxmlformats.org/officeDocument/2006/relationships/notesSlide" Target="/ppt/notesSlides/notesSlide22.xml" Id="Rd568f5099d9144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2a26374294405" /><Relationship Type="http://schemas.openxmlformats.org/officeDocument/2006/relationships/notesSlide" Target="/ppt/notesSlides/notesSlide23.xml" Id="R11f5ce40cb2e4e5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f280f70ba45e0" /><Relationship Type="http://schemas.openxmlformats.org/officeDocument/2006/relationships/notesSlide" Target="/ppt/notesSlides/notesSlide24.xml" Id="R408aac45e3f745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abdeaf8034e32" /><Relationship Type="http://schemas.openxmlformats.org/officeDocument/2006/relationships/notesSlide" Target="/ppt/notesSlides/notesSlide25.xml" Id="R040cc0cac3b84f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8619dfffb4a66" /><Relationship Type="http://schemas.openxmlformats.org/officeDocument/2006/relationships/notesSlide" Target="/ppt/notesSlides/notesSlide26.xml" Id="Rf85485411a5f4e8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f585efe5645aa" /><Relationship Type="http://schemas.openxmlformats.org/officeDocument/2006/relationships/notesSlide" Target="/ppt/notesSlides/notesSlide27.xml" Id="R139d9a4e0e814fa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b1dbe6dcd449e" /><Relationship Type="http://schemas.openxmlformats.org/officeDocument/2006/relationships/notesSlide" Target="/ppt/notesSlides/notesSlide28.xml" Id="R3a8f31c6ba154b4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1b50321194599" /><Relationship Type="http://schemas.openxmlformats.org/officeDocument/2006/relationships/notesSlide" Target="/ppt/notesSlides/notesSlide29.xml" Id="R4ca8da369f5c4f9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9163ddbf34b4f" /><Relationship Type="http://schemas.openxmlformats.org/officeDocument/2006/relationships/notesSlide" Target="/ppt/notesSlides/notesSlide30.xml" Id="Rc60fd3c86a5d4c2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dd7709bb84938" /><Relationship Type="http://schemas.openxmlformats.org/officeDocument/2006/relationships/notesSlide" Target="/ppt/notesSlides/notesSlide31.xml" Id="Rb2f09b526e974c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ed39515264419" /><Relationship Type="http://schemas.openxmlformats.org/officeDocument/2006/relationships/notesSlide" Target="/ppt/notesSlides/notesSlide32.xml" Id="R2f24a1dc8f8049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69453F-6A71-4A7F-8BAD-4B10BB16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03ACE-71F2-4FBD-BFF6-8CE8589F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5C9A3-A44E-4F71-8CBB-4978DD8D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3450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{ C# 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909D2-56BF-42AB-9E3E-156284F7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rPr>
              <a:t>Visual Studio 2022 · .NET 9 이상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B5C62-0157-427E-A00B-620C1972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657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ASP.NET Core Web API를 위한 필수 C# 가이드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AE235-C15C-45F3-B728-13FBD23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2895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3E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8E3EE"/>
                </a:solidFill>
                <a:latin typeface="Malgun Gothic"/>
                <a:ea typeface="Malgun Gothic"/>
                <a:cs typeface="Malgun Gothic"/>
              </a:rPr>
              <a:t>C# 문법을 Web API 구현 감각으로 연결하는 발표 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AF385-2B16-4E05-95A5-F1288476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815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E6B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AE6B4"/>
                </a:solidFill>
                <a:latin typeface="Malgun Gothic"/>
                <a:ea typeface="Malgun Gothic"/>
                <a:cs typeface="Malgun Gothic"/>
              </a:rPr>
              <a:t>발표자 노트에 원문 기반 상세 설명 포함</a:t>
            </a:r>
          </a:p>
        </p:txBody>
      </p:sp>
    </p:spTree>
    <p:extLst>
      <p:ext uri="{BB962C8B-B14F-4D97-AF65-F5344CB8AC3E}">
        <p14:creationId xmlns:p14="http://schemas.microsoft.com/office/powerpoint/2010/main" val="514530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926FC-B664-44FF-8FDB-5F64AF0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B0C31-33AE-46CD-9170-C0E98900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32CA4-6EE3-4B8B-B833-77FA1653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학습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2874A-FADF-4EFC-A18A-7B3DFBE9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문법을 암기하기보다 Web API 코드에서 어떤 문제를 해결하는지 연결해 읽는다.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89CB4-F072-452C-A3E0-6FB16A9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1D06A-A944-4355-AA18-51D4780C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831F3-A271-43BC-923B-D3906982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기초 안전성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6496D-CA37-4174-8392-C8493B1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타입과 null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값/참조 의미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문자열과 초기화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CDAFC-C391-4B11-9B1B-F4622EB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62125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4BD3C-0C7E-4A18-8821-C57BBE0A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19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B171E-799B-4664-A000-BD8656E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574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객체 설계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8C338-6785-42D8-8990-AF0700C5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클래스와 프로퍼티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인터페이스와 DI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상속/다형성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738A1-43BA-49DA-B45B-1451CECD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67AA2-1F8B-4728-BB07-7B92E0B5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19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73C0F-2623-43D6-B216-61E5FF3B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574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데이터 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56DA9-B79F-4B1F-B754-76AD573C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컬렉션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LINQ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제네릭/람다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DCE58-04FE-49A0-8246-666E6A7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62125"/>
            <a:ext cx="2476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7B53F-789B-406D-A6DA-62B7804E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193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E1FAD9-435A-4CE0-B11E-33A8258C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5740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API 실전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74856-C12D-4DD6-BFAD-F68EA0DE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1952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async/await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예외/Attributes</a:t>
            </a:r>
          </a:p>
          <a:p xmlns:a="http://schemas.openxmlformats.org/drawingml/2006/main">
            <a:pPr algn="l">
              <a:def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컨트롤러/종합 예제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BEB12-6DBD-4D8E-8A2D-6549FB16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14E27-859D-4ED3-A3C9-FDAEE19A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53772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36E7D-DB54-4459-9BB4-A86542A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A4827-C941-4D2A-8701-04162325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9A5AB-1BF5-4EC3-A878-E090FBF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전체 목차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6C293-1CDD-489B-9116-C40CA21B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27개 장을 모두 발표 흐름에 포함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057C7-FDF0-41DB-B589-37C7E42D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81167-585B-4DD5-BFDD-8406CB57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2952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1. 기본 문법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2. 클래스와 객체지향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3. 컬렉션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4. LINQ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5. 비동기 프로그래밍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6. 인터페이스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7. 레코드 (C# 9+)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8. 패턴 매칭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9. 예외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45324-64FD-4D4D-883F-8A732629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8115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FE875-50E0-4498-9EE4-F7015B28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71650"/>
            <a:ext cx="2952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10. 특성(Attributes)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11. 확장 메서드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12. 실전 Web API 컨트롤러 예제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13. 제네릭 (Generics)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14. 람다 식과 델리게이트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15. 열거형 (Enum)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16. 네임스페이스와 using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17. Nullable 참조 형식 심화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18. 문자열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00303-BDA5-4B20-9ACD-97A51E63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8115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CC877-1CDC-4DB5-95DB-8FFEA715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71650"/>
            <a:ext cx="2952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19. 튜플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20. out 매개변수와 ref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21. 값 타입 vs 참조 타입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22. 초기화 구문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23. 조건부 컴파일 및 전처리기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24. 정적 클래스와 확장 메서드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25. 상속과 다형성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26. IDisposable과 리소스 관리</a:t>
            </a:r>
          </a:p>
          <a:p xmlns:a="http://schemas.openxmlformats.org/drawingml/2006/main">
            <a:pPr algn="l">
              <a:def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27. 실전 종합 예제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7B013-1567-4111-AD8C-9E11660D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733D6-029D-48BB-A159-AA225F67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72293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E1FDB-7DB4-4DA7-A2EC-77769CA3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964F7-9CA8-4434-A5DE-74A8B856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50556-4D39-41D8-83C7-EC830764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912DC-3C33-4EE4-9FDB-CC4013E8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기본 문법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F45A6-0A95-421B-B342-722C0248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Web API 개발의 출발점은 타입, null, 값 표현을 컴파일 시점에 안전하게 고정하는 것이다.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00FD4-EF6C-43AB-85D6-123B4D20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9807-D725-4E56-9025-7A17A571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1.1 변수와 데이터 타입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4A07-E790-4A89-951F-BF515D0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8B5A3-0B92-4AFD-83E9-AF032349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1.2 Null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333F4-8BBF-4F74-BACB-017AD68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E851D-DECD-4041-81A2-55798401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FC071-411D-4F0B-B9CE-7FBA8E22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정적 타입과 var는 대립이 아니라 표현 방식의 차이다.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금액은 decimal, 시간은 UTC 기준 DateTime/DateTimeOffset을 우선한다.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Nullable Reference Types는 런타임 예외를 설계 시점 경고로 끌어올린다.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27A95-3D4F-42A1-94CB-B2EF35B1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74913-2CD6-4158-A017-A3ED55B5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5FB77-1463-47C4-86F9-1116594B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DTO와 모델의 필수 값은 초기화하고, null 가능성은 string?처럼 명시한다.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74019-404D-45FA-BB03-DBCD2D9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E16DD-B4FE-44B3-B92F-195D01F1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명시적 타입 선언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string name = "홍길동";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int age = 30;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decimal price = 19.99m;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bool isActive = true;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타입 추론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email = "test@example.com"; // string으로 추론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count = 10; // int로 추론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C19CD-20C0-4970-985A-2472998E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E5D7F-062A-4E21-B14E-354B4A4C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6F116-3D9F-4AC6-82C3-58476129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double로 금액을 다루거나 NRT를 끄면 API 경계에서 오류가 늦게 발견된다.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8BED2-F658-452B-B3E6-F1427D93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231D9-6E91-401E-BD80-8E4D2519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61302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1E4217-1330-4D61-A2A5-6F8F22A9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5F886-ED72-4363-8422-45A3248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D9E05-B6E0-427C-8780-B48F56A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2F470-D0D3-4CD3-AC44-2998CE18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클래스와 객체지향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4F3FB-1CFB-4A8E-8C54-E1BEDAB5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클래스는 Web API의 모델, 서비스, 컨트롤러를 담는 기본 설계 단위다.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872C4-066D-4210-A3BD-1BDF3F09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354DC-67CF-4772-982D-43ACFDB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2.1 클래스 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3D03D-244C-443F-9FF7-BEBF62B5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CFC06-442B-4298-A571-4D7EC141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2.2 생성자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B75D5-BD88-492E-8135-D714449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F4EAE-E091-4AC5-942B-102D68C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2.3 프로퍼티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87325-7497-4E21-944F-CCA1BF38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383B1-C2CC-4F8A-BDB9-8E1B671E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0551B-8722-471F-95B3-E7D43C7F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접근 제한자는 객체의 책임과 노출 범위를 통제한다.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생성자 주입과 readonly 필드는 DI 기반 서비스의 표준 패턴이다.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프로퍼티와 init은 DTO의 상태 변경 범위를 줄여준다.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EBC81-674B-4ACD-93EB-393033C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17BC6-8C8D-44DF-9366-81CA2F2B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BC85C-A3BA-4D32-BBCA-D8FBB3D7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서비스 의존성은 생성자에서 받고, DTO는 필요한 기본값을 선언해 null 경고를 없앤다.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9DCAB-F751-47A4-A88E-968368D9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B1E1AE-E3BA-4B5C-80F1-818FE485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Product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int Id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string Name { get; set; } = string.Empty;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decimal Price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DateTime CreatedAt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8E0F1-8EB9-4226-99DE-D6B1E424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1FD91-D9C7-4E82-9FE5-505B6E7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1AB84-47ED-45F0-B816-2B12215E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public 필드 남발은 캡슐화를 깨고 테스트/변경 비용을 키운다.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EDEB2-7F45-4581-AA6A-1D45583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E743F-64AB-4830-90B7-E3C7D3D9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40285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BA667F-1333-490D-9CD3-61F3E67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82BE9-3E58-4052-946A-08D68AE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E9CFA-1FD7-4280-9061-71E2966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B6EB3-CF32-468D-9594-731672E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컬렉션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45D54-18C7-4A1D-A20E-4707A5F6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컬렉션 선택은 데이터의 크기 변화, 조회 방식, 동시성 요구에 따라 달라진다.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C19B2-6205-48D8-A58F-418F6EE6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04CB9-1D02-4C71-B8B5-0922A443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3.1 List와 배열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4876A-BC5B-425A-BE2F-D6A258AC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E5F65-61D5-4DCC-85CC-641E55E7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3.2 Dictionary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171AE-BAAA-4913-88D1-D21AB4A4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17C2D-8171-43DC-81A8-E958391C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E048B-01BA-4355-B867-754F60CB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List&lt;T&gt;는 동적 크기, 배열은 고정 크기와 빠른 인덱스 접근에 적합하다.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IEnumerable&lt;T&gt;와 IReadOnlyList&lt;T&gt;는 노출 범위를 줄이는 인터페이스다.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Dictionary는 키 기반 조회를 평균 O(1)로 처리한다.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FDE96-623F-480F-B4ED-9588512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A238A-18F2-4BA1-9AB8-2696D98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35D1C-1E7A-4E86-9E5B-AE7BC479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조회 실패 가능성이 있으면 Dictionary 인덱서보다 TryGetValue를 우선한다.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A564B-82AF-44B5-864A-A035179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7F56EB-3591-448D-846A-AFB3E97E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List - 동적 크기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List&lt;string&gt; names = new List&lt;string&gt; { "김", "이", "박" };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names.Add("최");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배열 - 고정 크기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string[] colors = new[] { "red", "green", "blue" };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컬렉션 초기화 (C# 12)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List&lt;int&gt; numbers = [1, 2, 3, 4, 5];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98846-7D79-4BD7-89A3-FEE579F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64319-6BB9-42FD-83A1-4BC0C26D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CCBC0-BA89-4469-90DF-74D6D345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멀티스레드 캐시에는 Dictionary가 아니라 ConcurrentDictionary를 검토한다.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CBDE2-1D41-4F96-87FA-B86FCBDB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ED993-2C3D-4CA9-84A9-FC47BFF1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60289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BA87A-E1BF-4D42-B035-9D102227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82492-F9F6-4F9C-98C2-F386B57A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59E66-4547-4B8D-BC90-D056A52C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774EF-F42A-4A76-88A7-2A9A40F7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LINQ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170E6-4375-4218-853E-9D9B832B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LINQ는 컬렉션과 데이터 소스 질의를 같은 문법으로 표현하게 해준다.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B9383-FF47-4892-9C82-939511E1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B0C13-9380-4CE9-803C-3F210EE5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Where(조건): 조건에 맞는 원소만 남...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248E5-00A0-4FF8-A61B-6DEE9595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D1E35-A199-45B3-B965-49D3BCBB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Select(변환): 각 원소를 다른 형태...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4C57E-3108-4D8A-854A-EF5FAEF1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3CA55-DB0B-4D04-8990-1958F297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OrderBy / OrderByDescen...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6D581-31A0-4B2A-8EC7-B4E5F5CE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F71D6-B66C-4081-BC3D-70E5D9C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25B3A-54F5-49FA-9220-C651BFF1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Where, Select, OrderBy, GroupBy는 데이터 흐름을 선언적으로 만든다.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지연 실행은 ToList/foreach 전까지 실제 연산을 미룬다.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EF Core에서는 LINQ가 SQL로 번역되므로 생성 SQL 확인이 중요하다.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B8419-BF1C-4628-A3C3-729BA8E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28815-5100-4C44-83E0-F58E1A96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376EE-7FDA-46E5-B296-BA55BD6D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필터링과 projection을 DB에서 끝내도록 ToListAsync 위치를 의식한다.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F7A28-1A81-4C62-BA9F-C45F3FA5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47CDB-EDF7-4321-9616-19FBF420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List&lt;Product&gt; products = GetProducts();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Where - 필터링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expensive = products.Where(p =&gt; p.Price &gt; 100);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Select - 변환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names = products.Select(p =&gt; p.Name);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OrderBy - 정렬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sorted = products.OrderBy(p =&gt; p.Price);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FirstOrDefault - 첫 항목 또는 기본값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first = products.FirstOrDefault(p =&gt; p.Id == 1);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Any - 존재 여부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A040B-E496-4694-A586-DAD24F5D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A26CE-B7D2-40BC-8239-1EBF14B0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6380E-B42E-4D9D-A92F-9B4D8EDC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깔끔한 LINQ도 N+1 쿼리나 과도한 메모리 로딩을 만들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CCC7E-ACF0-4698-8A3A-328E0C1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8CA36-65EC-429F-8140-90E00FD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84916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05FDE7-E386-4872-8851-04D035BC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30E3F-95F0-4461-848E-40949483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852D4-4C02-4F7D-9114-355453E9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7D253-4C1D-4955-B2BB-872F6197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비동기 프로그래밍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6CB6A-FBD6-4F57-A47E-A6B4188E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async/await는 Web API가 I/O 대기 중 스레드를 붙잡지 않게 하는 핵심 도구다.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26B4B-CDD8-4F1C-94B7-32040A7F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0E99D-C514-4916-BD73-94DD940E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5.1 async/await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7B7B2-63D1-4657-8DC5-B2ADC05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31150-8DF3-4C8B-B25E-D6B6C8C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5.2 Task 반환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F46EE-8B2C-46B7-89C4-8796032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138C1-24CE-4FF4-B0F8-3555FF2C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2B8EC-58B3-4148-970C-12119597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async는 비동기 메서드임을 표시하고 await가 실제 대기 지점을 만든다.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반환 값이 있으면 Task&lt;T&gt;, 없으면 Task를 사용한다.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ValueTask&lt;T&gt;는 성능 최적화가 필요한 특수 상황에서만 신중히 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0896C-0FF5-4C66-801D-ECD7CF08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53A32-697E-4B89-8E2B-187AD833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88865-0D9A-41E5-B9AE-7EF5DC7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컨트롤러부터 EF Core 호출까지 async 체인을 끊지 않는다.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303DA-7AA8-48CC-9361-3F1C704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D66B0-4001-44CA-B67E-CC0B5D35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async Task&lt;List&lt;User&gt;&gt; GetUsersAsync()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// 비동기 데이터베이스 조회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var users = await _dbContext.Users.ToListAsync();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users;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async Task&lt;User?&gt; GetUserByIdAsync(int id)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await _dbContext.Users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.FirstOrDefaultAsync(u =&gt; u.Id == id);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EA57E-ADB8-40D1-8540-D19FFDB8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6917B-A13B-4BA6-82DA-6ED977C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70A8F-9DF0-41CB-A6C8-24DA3A94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Web API 코드에서 async void는 예외 추적을 어렵게 하므로 피한다.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C4352-DD93-4AB1-A655-996B2C7F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DD1A7-5290-4B92-B8F1-AAF9BB70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10550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5C8D5-F4DF-4802-8227-94858AD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667EA-BAAB-4512-8709-04F51228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D2972-7368-45D2-BE69-E069A79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E98F7-C36F-4438-865F-5D82EEF3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인터페이스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2865E-AD0B-464E-8652-FEF9BE11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인터페이스는 컨트롤러가 구현 세부사항 대신 계약에 의존하게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E164-7F6E-45F8-87F3-5E7DACCE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9A415-07D9-4806-AACD-65FBF380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느슨한 결합(loose coupling):...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52203-558E-4EDE-8FFF-2ECFCE04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3521C-2009-4E71-B3AB-C649C90B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테스트 용이성: 단위 테스트에서 실제 DB...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B20B3-4DA8-4F66-965F-068E4AB3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064D7-AE88-4C5E-9B77-03AE48C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다중 구현: 한 인터페이스를 상황에 따라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6813A-1568-4374-BBBF-ED944DFB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040D1-6C76-4DDA-BE45-02172121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74AE5-539F-4BA9-AC2B-3198B4A1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DI 컨테이너는 인터페이스와 구현체를 연결한다.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컨트롤러는 IUserService 같은 계약만 알고 호출한다.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테스트에서는 같은 계약으로 mock/fake를 주입할 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16AE5-94C3-47F1-A53C-A0955224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574B1-1940-446D-9F13-463C9E6E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DE27F-7C4E-4776-8F00-BF962948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비즈니스 로직은 인터페이스 뒤의 서비스로 빼고, 컨트롤러는 HTTP 조정자 역할에 집중한다.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4DA8B-BA24-43E3-B5F5-38282B3C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62E2E-CD7B-4B47-B4B1-2E491C97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인터페이스 정의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interface IProductService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Task&lt;List&lt;Product&gt;&gt; GetAllAsync();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Task&lt;Product?&gt; GetByIdAsync(int id);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Task&lt;Product&gt; CreateAsync(Product product);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구현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ProductService : IProductService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18EC4-F2D8-4F64-A190-6CCE38C2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EF64E-2107-4B73-B787-1E2DFFDA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7A326-A03B-4B81-BDFA-7DC8F2E6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의미 없는 인터페이스 남발은 구조를 복잡하게 만들 뿐이다.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9AFC9-96FD-4D1D-B8C6-DD74642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790F74-3566-4996-BEE7-CE89CCD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17800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EE26B-AE8A-4C23-94BF-88BDA4E2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B0A9F-0005-4D80-8302-A9CD46C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6712A-8062-4B96-8BE7-3DDF0D03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56D3C-AC47-4E18-A489-07A0566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레코드 (C# 9+)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B07EE-3EEF-4309-8CDF-A7DAEDD2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레코드는 값 중심 데이터를 간결하고 불변에 가깝게 표현한다.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92973-000C-4585-B9C4-9FE7D5AC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A76B2-6776-4602-A120-7F67C394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불변성(immutability): 기본적으...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8DA9B-A9AA-48CE-8743-9100ED5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1D58A-2C74-4CA2-9748-A63E46AD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값 기반 동등성: Equals, GetHa...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AA9E9-71DD-4AC8-BE71-C840C374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9B50D-1CBD-43ED-8120-28D5B53C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with 표현식: 일부 프로퍼티만 변경한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50124-8DBE-4A9F-A831-D3FE9440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245B7-C60E-4D6C-9A03-EC2E8238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175C81-4E51-4FEB-8F69-1BE86D70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record는 값 동등성을 기본으로 제공한다.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with 표현식은 일부 값만 바꾼 사본을 만든다.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DTO, 응답 모델, 간단한 값 객체에 잘 맞는다.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CBEF3-5025-416D-A13A-42C2D956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4A123-49B6-4BA0-BAC2-DB09920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27071-1528-4DA4-8174-2A47B2EE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요청/응답 DTO는 record나 init 프로퍼티로 불필요한 변경을 줄인다.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2A8B0-D065-4F5A-997D-FCDE9268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B60A5-7AE3-45CE-A306-5990641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간결한 레코드 정의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record ProductDto(int Id, string Name, decimal Price);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프로퍼티가 있는 레코드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record CreateProductRequest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string Name { get; init; } = string.Empty;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decimal Price { get; init;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사용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dto = new ProductDto(1, "노트북", 1500000m);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5528F-6A61-4C94-BCD5-A72F42E1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27A92-E1A2-400D-810A-C430F05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DD0299-A43D-440A-801B-6EA20265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엔티티처럼 식별성과 생명주기가 중요한 객체에는 class가 더 자연스러울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0D4DF-44D9-4DE2-8E8F-0EE74592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37CC8-282A-4B6E-82A5-F38CAAE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256532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824059-EACF-4B10-9D15-5FBEADA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E5280-7D20-42EC-B5DD-E37FF3D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64630-D034-4FBB-9B5D-660D7C66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448AC-9190-42CE-B678-114281B4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패턴 매칭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3C302-6906-4BB3-B01B-D5D1FBBC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패턴 매칭은 조건 분기를 타입과 값의 형태에 맞춰 읽기 쉽게 정리한다.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EE42D-E598-497F-A0F9-1845BDD1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7D14B-8332-4815-B98E-54E5162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상수 패턴: x is 0처럼 상수와 비교한...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753E7-44CA-4B1E-BDD2-864056F8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7E727-A219-4F8C-8B8A-8BE3D47A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타입 패턴: obj is Product p...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A5055-418B-46C4-BA46-B5A5771F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D0FDA-D2C7-4302-9A5C-05919A6B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관계 패턴: &lt; 100, = 0처럼 비교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49AB4-8817-44E2-821F-ECC0153A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A5E8F-310B-4F58-8FE4-9FADFE1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37B48-7489-4E83-9201-911827BE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is 패턴은 타입 확인과 변수 바인딩을 동시에 처리한다.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switch 식은 여러 조건을 한 표현식으로 압축한다.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property/list 패턴은 복잡한 객체 조건을 명확히 드러낸다.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62A00-93A2-4260-A408-97A7536A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70F1D-3885-49AC-82A2-20E8ECA0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AAA62-6998-40C1-A596-B4CD6D44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상태 코드, enum, 요청 모델 분기처럼 규칙이 보이는 곳에 적용한다.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48652-9265-4B42-AD40-68C6943F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6374B-A006-4CC6-8D50-11EB9D6F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switch 표현식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string GetCategory(decimal price) =&gt; price switch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&lt; 10000 =&gt; "저가",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&lt; 100000 =&gt; "중가",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 =&gt; "고가"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is 패턴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(obj is Product product)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C2F38-5276-4A87-9799-7AA6F964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D9507-9D37-420C-8F3B-A338523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7AEBD-5FA6-471B-A754-84619DEF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분기가 많아지면 패턴보다 정책 객체나 전략 분리가 나을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3E1C1-9C38-4F69-AE33-F8DD077D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8A7B0-0CBB-48FF-9FBF-0E66C1A7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036163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E24217-2490-4563-9F69-575E878A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F8A0F-B876-45FC-A85B-50C20A87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33000-CDA0-4D8C-A079-E57ADD66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76592-6DBA-44AF-B88B-DFD04A3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예외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D3F61-658A-482E-BF58-33D7FF6C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예외 처리는 실패를 숨기는 기술이 아니라 API 응답 계약으로 바꾸는 기술이다.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3491E-1748-494C-BD9A-3550143A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0D1BC-F3B1-4AC2-B27D-FCBC9735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try: 예외가 발생할 가능성이 있는 블록...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4B563-BEE6-43EF-9A0B-B4136D4E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4598C-DD05-45B7-9391-D48C74A3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catch: 발생한 예외를 처리한다. 구체...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6AE68-C055-4DE4-A5BC-FFF8B0A9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45117-DA1C-4532-8092-39DE1330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finally: 예외 발생 여부와 관계없이...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93C7F-6734-4F70-86DA-C40E0EBD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41A8D-63FF-4D0C-93E2-22B945D1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90DA8-0EAF-4819-8002-F9D388F9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try/catch/finally는 예외 흐름과 정리 작업을 구분한다.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사용자 정의 예외는 비즈니스 실패의 의미를 표현한다.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전역 예외 처리 미들웨어는 응답 형식을 일관되게 만든다.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EDCC-2C0D-4F88-8FD9-25D8DD31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26CF3-659D-4415-AB66-180BC912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6FE9D-6D7D-446F-B9B7-32EA9339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컨트롤러마다 catch를 반복하기보다 미들웨어나 필터에서 공통 처리한다.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DAEF8-A9B7-4058-984B-4E3D9DD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9695D-27F3-4264-BEC7-42BC63CB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async Task&lt;Product&gt; GetProductAsync(int id)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try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var product = await _context.Products.FindAsync(id);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if (product is null)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throw new NotFoundException($"Product {id} not found");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AEE00-E05F-424F-A8B6-6AACBF3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53F38-9D6B-46F5-BCA8-199530CB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5D7C7-2139-45A5-B52E-DA88D01C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예외를 삼키거나 500으로만 돌려주면 클라이언트가 복구할 정보를 잃는다.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388EB-685B-44E3-82ED-E93B1D3C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BE3D6D-AD8D-4B88-BF1D-4C167067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899962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ACE7B2-A0BE-413C-A6D3-F9AEDA50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D3A4A-0DB8-4F5A-A843-54AD500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E3867-BAAC-4D65-B6E2-76FB916B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C74A0-BF07-4BA1-9469-F7A0E484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특성(Attributes)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CC09C-B6DB-4D80-BB2A-B03DD936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Attributes는 코드에 메타데이터를 붙여 프레임워크 동작을 선언한다.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8CFC4-08EF-4498-992E-92CCDAA8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35C9E-210F-4362-A2F7-79494C10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[ApiController]: 컨트롤러에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0A1E1-57C8-4B43-B2E6-5CFA0A78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25C68-9D0D-410E-BE4E-EA37B84D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[Route("api/[controller...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0EC80-7796-4B3E-872A-6C59CA0F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A5105-3441-4139-B00B-AAED0C43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[HttpGet], [HttpPost],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ECB41-08D8-447B-94D4-7DC27BE6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DB17A-9897-433F-8D07-F016757D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92637-1DCF-4235-B644-4A427FFF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ApiController, Route, HttpGet 같은 특성은 라우팅과 바인딩을 설정한다.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Required, Range 등은 모델 검증 규칙이 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커스텀 Attribute로 반복 규칙을 선언형으로 만들 수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4DCD8-0FC1-4B13-8E97-BC891798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E2DC8-F688-47B3-9743-6448909B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0A939-9181-4A03-86AD-341AEAA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컨트롤러와 DTO에 의도를 드러내는 특성을 붙여 프레임워크 기능을 활용한다.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2A7539-0296-48CA-881B-A5F04B1A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8B2AE-C9BF-4906-9B1D-A62D39B0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[ApiController]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[Route("api/[controller]")]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ProductsController : ControllerBase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[HttpGet]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async Task&lt;ActionResult&lt;List&lt;Product&gt;&gt;&gt; GetAll()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// ...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4816E-8240-4AAC-B8E3-0CFCF79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FEBDF-35B4-4B9E-AF04-7F7B8C25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9E38E-88F1-43CC-9534-8EEC009A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특성은 숨은 실행 경로를 만들 수 있으므로 팀 규칙과 문서화가 필요하다.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35BFC-CFB1-4622-A685-61E8FD92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3D082-7A77-4543-975C-70F2A311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474634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D819C-E91F-4127-975B-10123C14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C1500-9514-40DE-864D-FAF8DECB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DE2B7-1E87-4709-A5C1-7F147012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64B49-6E11-4D8E-A569-866B5EC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확장 메서드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185E1-49D7-4428-8DB1-F0797527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확장 메서드는 기존 타입을 수정하지 않고 도메인에 맞는 호출 문법을 제공한다.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1515D-D7B5-4AF6-851B-5230302E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D844D-3A63-4A0A-B1EE-B1FD7829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반드시 정적 클래스(static class...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653F6-71E4-4186-B711-91951CED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BFAEF-2F56-46EC-97DF-A2BBFDC1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정적 메서드여야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40DD1-55F7-42B4-A918-CD1EE932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FA840-B6E3-42D3-AD55-0B1135BD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첫 매개변수에 this 키워드를 붙이면,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1295F-AA91-4870-B767-91112D8B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F6AC3-BA51-4530-B4F5-4B8D5238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AB8CF-9B8C-4647-96BD-5E15CC5C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static 클래스와 this 매개변수로 정의한다.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문자열/컬렉션/DTO 변환 같은 반복 코드를 줄인다.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LINQ도 확장 메서드 모델 위에 세워져 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B428D-95D9-47DD-9CF6-9BAD4C4F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5C856-0B4A-4798-9D45-26BAE83B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15F13-3155-469F-BA0D-7A22FDF5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널/빈 문자열 처리, 매핑 보조 함수처럼 작고 명확한 동작에 사용한다.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12CD9-8D4E-4FD4-B52E-F64837ED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8F844-F722-4113-B283-413ADC6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static class StringExtensions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static bool IsValidEmail(this string email)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return email.Contains("@") &amp;&amp; email.Contains(".");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사용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string email = "test@example.com";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bool valid = email.IsValidEmail();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CD0025-AE26-4DB8-B039-4D79370C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5FF5F-1D93-49BE-B425-177D4C80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B1C4D-7143-435A-94C5-16099F12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너무 많은 확장 메서드는 실제 소유 타입과 책임을 흐리게 만든다.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3B7F97-180F-4E13-BAE5-41F6D87E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F9FFD-E351-47E1-9A6F-F8A8D4CC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666908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A60F3-7A7D-4671-9C78-CF51F410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66DE4-B906-4710-A2C3-B17B6C13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44094-6EF6-4BBD-B671-AEDD710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9B9E-FB65-499F-A5AC-76AEDDEF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실전 Web API 컨트롤러 예제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72F4E-BD6A-4018-9D4F-513AD80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실전 컨트롤러는 라우팅, 검증, 서비스 호출, ActionResult 응답을 한 흐름으로 엮는다.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F36F3-10EF-4E2F-84CF-39A7AD0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F2784-155F-4877-AA73-E298ADD0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Ok(data): 200 OK와 본문을 반...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B4EAC-4A4D-4989-B32E-303B2D11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7FA38-10FE-48EA-8CE6-05B4F661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CreatedAtAction(액션명, 라우...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C9382-0ECB-4432-87BB-A1C3CA12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BD5E7-35A6-4B74-B633-770BD56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NoContent(): 204 No Con...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1B7E6-7B28-4DE0-B94D-6A8B263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10DB2-13D4-44A7-A9EA-9C8A3AE1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9839A-B2CF-4D22-8F09-833E47E5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컨트롤러는 HTTP 요청을 받아 서비스로 위임한다.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ActionResult&lt;T&gt;는 성공과 실패 응답을 타입으로 표현한다.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CreatedAtAction, NotFound, BadRequest는 REST 응답 의도를 드러낸다.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71D06-6AEC-4BAF-977E-0299FF9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6E989-3D7F-4255-8D80-2BA5CB16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FE5AE-1D49-4B68-A08C-D0A7F6FD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컨트롤러에는 비즈니스 계산을 넣지 말고 서비스와 DTO 경계를 분리한다.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29032-B238-476C-92AE-34BE83CB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49415-E3DF-43CB-A4FB-8E8FB56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[ApiController]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[Route("api/[controller]")]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ProductsController : ControllerBase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private readonly IProductService _productService;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private readonly ILogger&lt;ProductsController&gt; _logger;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ProductsController(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IProductService productService,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ILogger&lt;ProductsController&gt; logger)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620B2-0EFE-40BB-82AF-C846E43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04F9B-BEB2-43A3-BED2-C058E9C1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C4146-09E0-4E7F-B066-6852578F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컨트롤러가 길어지면 테스트가 어려워지고 HTTP와 도메인 로직이 섞인다.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546D0-9E51-4AF3-B10C-A2080C59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2D5269-C42C-4648-9045-C1FDAAF4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906326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0B61A-B036-4456-9078-260674B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0341D-E598-4AE4-AA3B-03FBA7EB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48F4B-35BF-4E1C-B402-DB1E0C23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C5FAA-9256-4CF7-8D46-C9803527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제네릭 (Generics)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06384-A9AA-4517-A9A5-8C121F17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제네릭은 타입 안전성을 유지하면서 재사용 가능한 구조를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B5ACC-15D9-4C91-A473-C9A3599F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455A2-D94A-47D2-98E7-B915FD4F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13.1 제네릭 클래스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27E7C-545C-4012-B3C0-8DE7A5D8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A8B1B-0F7F-4E69-8C21-62E6F8C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13.2 제네릭 메서드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6815E-E760-4EAA-8A2F-529AC79E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EBF58-8D9C-4669-B697-7DE631BB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47FD1-607C-4CE5-9864-E5F6C562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Generic class는 여러 타입에 대해 같은 자료구조나 응답 래퍼를 제공한다.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Generic method는 타입별 중복 구현을 줄인다.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where 제약 조건은 사용할 수 있는 타입의 능력을 제한한다.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C1FBF-0B30-467B-8B48-D2B2AC6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12929-F4E4-420C-9208-7A2CF4E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C0247-53C4-46E8-8004-CBB93B84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ApiResponse&lt;T&gt;, Repository&lt;T&gt;처럼 공통 패턴을 타입 안전하게 표현한다.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02C00-CA5D-44C4-94AF-09E6603C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FBF0D-C962-425B-831D-E00E4A9F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제네릭 Repository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interface IRepository&lt;T&gt; where T : class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Task&lt;List&lt;T&gt;&gt; GetAllAsync();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Task&lt;T?&gt; GetByIdAsync(int id);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Task&lt;T&gt; AddAsync(T entity);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 UpdateAsync(T entity);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 DeleteAsync(int id);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Repository&lt;T&gt; : IRepository&lt;T&gt; where T : class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5872A-C3DB-4FD3-AB54-3B18A5D0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971CD-98F7-489E-A456-74C5FD7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FEE21-D5A8-440F-9E51-6FCF862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제네릭이 복잡해지면 호출자가 이해해야 할 타입 조건도 함께 늘어난다.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1874E-47F5-4AEF-A38D-F49C5D9D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872BE-5EC4-480B-8738-32A7C60F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4693525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3506B-B381-4D59-9F68-B1AF081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514CC-6D27-42F7-932C-3DB29A7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AF976-F79A-4397-8279-D3C1381F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FB26D-5514-42CA-9075-48A1A907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람다 식과 델리게이트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F439D-1A4F-441F-B2D7-E2CF3054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람다와 델리게이트는 동작을 값처럼 전달해 필터링과 콜백을 유연하게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083D1-87BD-4668-9199-B0F161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9106E-3210-4BD8-8931-F47CA857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14.1 Func와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2A77C-9B81-41A0-BCFE-20287F78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2B997-50FA-4498-A27A-1727C7FE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14.2 표현식 본문 멤버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A91EC-E381-459E-95A9-7EE3DBE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E9B21-4CE4-4D11-B141-C999FF2F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CED45-B871-4E71-9C5B-0D3A4C38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Func는 값을 반환하는 함수, Action은 반환 없는 동작을 표현한다.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람다는 LINQ와 이벤트 처리의 핵심 문법이다.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표현식 본문 멤버는 짧은 멤버를 간결하게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D0ED4-D20C-4C87-B4CF-84654ACE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80436-3203-4194-821E-EAE773D2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665C2-6E64-4D43-A4AF-72A18DEF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조건, 변환, 검증 규칙을 매개변수로 전달할 때 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23943-7B15-495B-93F2-ED08629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B0E97-4833-4D97-BB11-1D5CBA42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Func&lt;입력, 반환&gt; - 값을 반환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Func&lt;int, int, int&gt; add = (a, b) =&gt; a + b;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int result = add(5, 3); // 8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Action&lt;입력&gt; - 반환값 없음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Action&lt;string&gt; log = message =&gt; Console.WriteLine(message);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log("로그 메시지");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서비스에서 사용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CacheService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async Task&lt;T&gt; GetOrAddAsync&lt;T&gt;(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3D2D2-54B8-4373-BA76-8734A114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FAE25-8D22-4DC6-9A24-6E16F7AD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D29CF-F6E6-4C71-A0A7-245919CB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긴 람다는 이름 있는 메서드로 빼야 의도가 살아난다.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89DE9-FAB0-4FB7-9466-B2803D1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849D8-D2E8-4844-A97D-B0C65A18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360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D8EBF-5B55-4D24-BD0D-D4635259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8683D-0AAC-4D66-93CF-9552147F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FF058-313B-441C-A9CC-525A223F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C7318-6B70-4997-BCBF-7CE7BAB0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열거형 (Enum)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0D163-6A88-43E0-B694-ABF2A10F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Enum은 제한된 상태 집합을 코드와 데이터 계약에서 명확히 표현한다.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3E3AF-C2AA-455D-AFAE-DE35E91F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331D-28CF-427C-8671-B814AF5B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C0EAD-A89A-42CC-9F85-210004FB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숫자나 문자열 상수보다 가능한 값을 제한한다.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Flags enum은 조합 가능한 옵션을 표현한다.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API 경계에서는 직렬화 형식을 신중히 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431DF-6EC1-4DFD-8FE2-DD1A33A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87F62-CF24-4F7C-9D16-A151BE3F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8C144-B53C-4C21-A7D7-BA922DEB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주문 상태, 사용자 권한, 처리 단계처럼 정해진 값에 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F499B-06AB-4741-AC3D-25E6FE86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B7FC3-6150-4882-845F-C14621B9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enum OrderStatus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Pending = 0,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Processing = 1,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Shipped = 2,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Delivered = 3,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Cancelled = 4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enum UserRole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CA772-6119-4585-AF95-406D405F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867F2-187D-4897-B3DD-E49E69B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24F0C-15FD-45CB-9898-A4B60C12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DB 저장값이나 JSON 문자열과의 호환성은 변경 전에 확인해야 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54755-5DA7-47DC-BD06-055B60AC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9F256-E821-4F53-84FA-702F6ADC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036784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D1236-F944-4156-B643-0E7E0AE6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32F47-8756-4242-8A8E-87E68327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C7FF5-738C-4080-AEF4-01DA6CD0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27FB8-2D48-4A11-AA13-DA11896B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네임스페이스와 using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4023B-2461-4D23-9751-8616001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네임스페이스와 using은 큰 Web API 프로젝트의 코드 위치와 의존성을 정리한다.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C030C-319C-42DC-A4FE-0DBD724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74045-48C5-4176-B983-5B7098EB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16.1 네임스페이스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21CA7-B142-4C21-B395-1DC748BD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34B49-5D09-4E4E-893E-42DF2BB8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16.2 파일 범위 네임스페이스 (C 10)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1094E-2848-4665-AC79-33E4500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4E33C-BF53-4773-BD83-6FB93F05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16.3 Global using (C 10)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A9339-4D98-445C-928C-1B930DFC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76303-6116-45D1-BD5E-ACD10B1C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EF947-758C-4BA1-B323-C7C864F8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네임스페이스는 도메인/계층별 코드를 구분한다.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파일 범위 네임스페이스는 들여쓰기를 줄인다.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global using은 반복 import를 중앙화한다.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A40B0-98A1-416F-92F2-2146FB6F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B0179-CA39-4BA4-A980-7B40CCE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73A0FC-2CD1-4E6F-91DC-A05D9590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Controllers, Services, Models, DTOs처럼 역할별 구조를 일관되게 유지한다.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4440D-21D2-42EC-8C35-4474A85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70A81-B963-42CD-9DB8-0067298B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namespace MyApi.Models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class Product {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namespace MyApi.Services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interface IProductService {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class ProductService : IProductService {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namespace MyApi.Controllers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854E7-FF15-4B9D-91F2-87C090D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F3642-6C99-4536-BE1B-915C02A0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B82F5-E5D8-4A65-AB63-82B82496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global using을 남발하면 파일의 실제 의존성이 보이지 않을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C25B3-CB42-4BDD-BF90-DB0D5F0A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A073E-339E-43D7-B389-D10BD736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6154459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7A8BBA-140A-48C2-9AF6-D81F5CD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E2D99-F3DF-4AAE-AF24-B7ECFD76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1492B-0A84-4B3F-9148-F55024B9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DB329-0838-49B2-A16C-DE473A5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Nullable 참조 형식 심화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C6837-3B03-44A8-92F1-619B1598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Nullable 심화 문법은 API 경계의 null 가능성을 더 정밀하게 표현한다.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FCA89-1031-4E6D-AFBA-4D384F3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B70A3-7FEB-4729-8EC8-E1BA067D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17.1 Null 허용 컨텍스트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82746-6E21-4B59-A303-87E62847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D4F1E-5E7C-42B5-8979-91948768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17.2 Null 체크 패턴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83A70-FAAB-4294-A429-0C10EEA8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31C60-509E-49DE-B743-5A99F0E2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17BA6-178A-402B-A7C1-FA58C115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Nullable context는 프로젝트 또는 파일 단위로 제어된다.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is not null, ?? throw 같은 패턴은 방어 코드를 짧게 만든다.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null-forgiving 연산자는 경고만 억제하므로 근거가 있어야 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9F329-8104-4E0E-91A0-BAC3791F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AD501E-D230-42EC-8B30-B62CA1BD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2687D-911B-49CD-8871-51991826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외부 입력은 null 가능으로 받고 검증 후 non-null 흐름으로 좁힌다.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08E31-1963-4003-BE4D-74F08EF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C3D68-65BD-4056-B58B-CADFC466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#nullable enable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User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int Id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string Name { get; set; } // 경고: null 불가능이지만 초기화 안됨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string? Email { get; set; } // null 허용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// 올바른 방법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string Username { get; set; } = string.Empty;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8238B-13C0-4EC6-A619-7614E81E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4AE2A-456E-4831-8245-D5072A10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CB6A12-0DE1-4422-8D51-A95CB56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! 연산자는 런타임 안전장치가 아니라 컴파일러 설득 장치다.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75503-E4EA-42D2-B637-71576731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355DF6-0DFC-403D-A579-820C1900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463944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4D898A-6694-49EB-BB89-EFED2ABF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A5858-1899-4BFA-A420-35626A84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DA590-7CE1-43C5-BA17-74979858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63F31-2854-4773-9754-78AA1C0B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문자열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8330A-ADC5-47F4-8F24-03507C9C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문자열 처리는 로그, SQL/JSON 샘플, 응답 메시지를 읽기 쉽게 만드는 실전 문법이다.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ED618-477E-4257-A7D8-3DC9CA28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2A73C-0EB3-40DF-B2C4-03AF62D8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18.1 문자열 보간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DCBB3-AFA5-43A7-96C9-BF972764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E6545-C4C3-4288-8DD5-F2724B2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18.2 원시 문자열 리터럴 (C 11)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488A5-2D1E-4B5F-9288-74797517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82F44-09B4-4721-BCD6-3BD5C4B3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875A8-CE34-4184-BC67-3E531827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문자열 보간은 값 삽입을 명확하게 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원시 문자열 리터럴은 이스케이프 지옥을 줄인다.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문화권이 필요한 숫자/날짜 문자열은 명시적으로 다룬다.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7320F-0712-41FA-A902-1495E8BE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56D9D-44C4-4DC5-A30D-C91A60CF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FD6020-7C56-46EA-81DB-3C340531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로그 메시지는 보간보다 구조화 로깅 템플릿을 우선 고려한다.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786F0-8196-4602-8AEE-5FB2BB8B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D20CB-D2B6-46DA-877E-42AEAC62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string name = "홍길동";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int age = 30;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문자열 보간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string message = $"이름: {name}, 나이: {age}";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다중 라인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string multiLine = $"""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사용자 정보: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- 이름: {name}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- 나이: {age}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""";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3479D-AA0D-4E5C-9ED1-76EE8227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F66DF-59C0-42EC-8E1A-ADB0B8BD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B1E85-1BD3-4BFA-A71E-61D80FB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사용자 입력을 보간해 SQL을 만들면 보안 취약점이 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35E28-A0BE-41F2-9F6E-B0BFE4DF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4DA11D-6EEE-45D7-AFE4-C2DAC4E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8400040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56B91-C75F-4B02-B08C-C5ECEECB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03082-8361-441C-B161-610EE01B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9CE5B-67E5-49B6-8B10-64383DB9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B5BC1-9316-497E-8B6C-6CB20C18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튜플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4444D-6900-4B90-8437-A8524156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튜플은 작은 다중 반환값을 빠르게 묶는 도구다.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F1BA2-E0D2-4A02-A0EE-AD7F7B7D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EE69C-1441-4F86-BA0F-E43B02A4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튜플: 메서드 내부의 짧은 반환, 2~3개...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AFCF5-2D66-45D6-9888-404AC8A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812C5-CD35-484B-99F2-288A5298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레코드: 여러 곳에서 재사용되거나 API 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B4E3B-4BC0-48C4-8F8D-286497A6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E87C0-9FEA-4CAC-B9FD-69630522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0F61C-DAE1-40F0-8812-6796F9C7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이름 있는 튜플은 Item1보다 의도가 선명하다.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deconstruction으로 반환값을 바로 분해할 수 있다.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복잡한 데이터 계약에는 record/class가 더 낫다.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908DD-F64E-4CE8-A6D4-CA3275B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69010-49D2-4397-9E7B-17C1ABDC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FB4BE-5B15-4F50-B093-F134A9C4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내부 헬퍼에서 성공 여부와 값, 간단한 통계를 함께 반환할 때 유용하다.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0CDEB-DA8C-4E7F-A295-34012F8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11A03-5870-4570-A0F8-8E41EB45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튜플 반환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(bool Success, string Message) ValidateProduct(Product product)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if (string.IsNullOrEmpty(product.Name))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return (false, "이름은 필수입니다");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if (product.Price &lt;= 0)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7151A-1E92-4BF2-B446-EB0DCB31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83DDD-4DDD-48A5-A44C-53274455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C426E-47BE-4225-8A88-1AD842AF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공개 API 계약을 튜플로 만들면 확장성과 문서성이 떨어질 수 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3E54A-09C6-4E41-9A07-A5378C14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24ADF-BE84-4193-BD77-C57FA78B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1176296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1D9528-DAF4-4B95-A5BC-C5F2AC8D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30C04-366D-4F62-97A3-95A67E92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D05E4-BCD1-4776-BF74-4E0C73B6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09E38-B9D2-4B7F-98C8-AB0F9852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out 매개변수와 ref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2C9FF-2AA3-44A2-81F1-DEE527AC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out과 ref는 값 전달 방식을 제어하지만 Web API에서는 제한적으로 쓰는 것이 좋다.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66666C-97BA-44A3-8AB9-940AF01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642D4-F614-43E3-ADB8-D443D647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20.1 out 매개변수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DDCB0-BDB6-409D-91FA-19DBBEF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77BEB-1EC4-43B1-A381-62460022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17D77-ACAA-4874-A34A-C5D31BD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out은 메서드가 값을 채워 반환하게 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TryParse/TryGetValue 패턴이 대표적이다.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ref는 기존 변수 자체를 수정하게 하므로 부작용이 크다.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FA858-7789-481F-8590-9B90B00E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99BCF-0D9C-4E21-B4AF-260446B7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639CB-8BFA-4828-8EAD-EBCC9FE8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실패 가능 조회에는 Try 패턴을 이해하되, API 모델에는 명확한 반환 타입을 선호한다.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BF3F4-46B3-46F4-AAEF-9B9D1B89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574C5-051F-4551-A2E7-7BDEB5C9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bool TryGetUser(int id, out User? user)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user = _users.FirstOrDefault(u =&gt; u.Id == id);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user != null;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사용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(TryGetUser(1, out var user))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Console.WriteLine(user.Name);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B61BC-B28A-4088-8AF2-FC638B08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ACA30-2C30-4339-BCA7-33ABCCA7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2DDD5-95F3-4DED-8262-30EDA1D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과도한 ref/out은 테스트와 추론을 어렵게 만든다.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7F2A0-02FA-485F-B231-8BF359D2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51D7B-9802-41AA-B989-D84FC3F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2191416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4430C-8471-4F98-8B01-5B6F792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27104-15F2-46A7-9F1F-22E1F986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695B6-1CDD-45A3-B6ED-D6E7D7DC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15C8B-669B-47AE-85E1-5D319612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값 타입 vs 참조 타입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080F4-B81C-4224-A1EE-2B0BD620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값 타입과 참조 타입의 차이는 복사, null, 메모리 동작을 이해하는 기반이다.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2D75A-1364-4401-AA77-4785950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54366-7416-4870-9CB4-D71867E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21.1 struct (값 타입)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FB6D4-856B-436C-8EDA-D04AC05E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8E439-F043-44AA-8D7F-575E12A7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6BBDF-B6C1-4DDC-B320-6FF33F3D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struct는 값 자체가 복사되는 값 타입이다.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class는 객체 참조가 전달되는 참조 타입이다.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작고 불변인 값에는 struct가 적합할 수 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43DE0F-FA86-4913-A320-F362F45C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A4BA0-FEA2-4147-BA26-2885A2AA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CEF91-243A-4A91-BD6C-B03E659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좌표, 금액, 작은 식별 값 같은 값 객체 후보를 구분해 본다.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36716-F65E-46B7-8776-1F9DE35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4CD6E-A1F3-4D7F-B18A-E6184DB0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작은 불변 데이터에 적합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readonly struct Point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int X { get; init;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int Y { get; init;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Point(int x, int y)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X = x;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Y = y;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E80FE-6ECD-4FD9-9DBF-66A3D72D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29769-EA6D-4D82-8FD1-730ED03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C5CAF-19AB-464D-8ECC-247DE442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큰 struct나 mutable struct는 복사 비용과 버그를 만들 수 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EC7F2-3B0E-4468-A77D-2590D5D2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D70F5-8D4E-4720-933D-24BBBFA3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2394874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0B895-3C5A-4C8B-927C-91085B2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C0901-DF22-4C82-B652-90545A8C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856DE-91EA-442F-9DA9-EC4B570E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E59C3-0C67-464E-9238-026043B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초기화 구문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F8979-9079-49F7-9D89-38E09806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초기화 구문은 객체와 컬렉션을 짧고 안전하게 구성하게 해준다.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6C653-63CF-479A-B7BC-B07359DE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0DCB3-1655-4A6F-8C9D-2E3FD009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22.1 객체 초기화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8201A-1877-44F7-A170-F087613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38D54-5257-4DD0-81D5-B528526D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22.2 컬렉션 표현식 (C 12)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B3EEE-54BD-4542-A3D1-078A2DFF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6E2F8-78F2-4865-BF74-F0987F0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05726-82B3-42B4-8D5F-35248CDD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객체 초기화는 생성 직후 프로퍼티 설정을 한곳에 모은다.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컬렉션 표현식은 C# 12의 간결한 초기화 문법이다.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init과 함께 쓰면 불변 DTO 구성이 쉬워진다.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2216D-7822-4AA8-89B7-13E15C98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CA6D3-B082-4F64-B493-00DE610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36110-BA34-447D-896F-80FB05D9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테스트 데이터, DTO 생성, 설정 객체 구성에서 가독성을 높인다.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B812C-9435-4ADB-81E4-77A78CF0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B9C09-CD70-4583-BE08-FFCDD389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객체 초기화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product = new Product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Name = "노트북",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Price = 1500000,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CreatedAt = DateTime.UtcNow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컬렉션 초기화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products = new List&lt;Product&gt;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FF262-9116-4053-95F9-ECBCD71A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4C887-F131-4988-81FC-C18C866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1F0FF-3822-4BE2-904F-0D62738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필수 생성 규칙이 복잡하면 생성자나 팩토리 메서드가 더 안전하다.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CB03F-3788-4B9D-8E9F-137B08F4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F20DE-7FAA-472E-A0EA-45E0D5F5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1248070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28BA48-6E56-4662-A406-17A64330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44C14-7E5C-438E-94E1-FA33AFB9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4505F-BB4B-47D4-9349-4EF269E9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354D0-327B-46C5-9B6A-3C5101BA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조건부 컴파일 및 전처리기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1B9BA-97FB-4D40-9B08-C972D3B4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조건부 컴파일은 빌드 구성별 코드를 분리하지만 신중히 써야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A5B49-EF18-4421-95C7-8D98186F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AE364-2312-42C2-ADD9-A2FC40D8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if, elif, else, endif: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3776A-0357-430D-A8CC-F0DFED19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8F483-FCD5-40BF-998D-59BE535D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define, undef: 심볼을 정의하거...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EDD7E-12A9-472B-AAA9-2A41EB0B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00B54-CBD9-42EF-88C6-96F84432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region, endregion: IDE에...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AE0CF-B184-4E26-8336-EA4D367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128A7-3095-42B7-AD3A-FF9C3AC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32EDE-3D14-4DCC-B3E8-41CE4F8A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#if DEBUG는 디버그 전용 로직을 분리한다.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전처리기는 컴파일 전에 코드를 포함/제외한다.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환경별 동작은 보통 설정 파일과 DI가 더 유지보수하기 쉽다.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7EA83-0253-4574-BD30-E884E063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3AEA2-0D79-4EA8-9C6C-3F250B1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8E66C-2B62-40E6-89C9-93D520A1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진단 코드나 플랫폼별 작은 분기에 제한적으로 사용한다.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A0D64-0CA3-4DD0-BEFC-A4812D1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D5258-7877-4DB9-BD81-56AEEBD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#if DEBUG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Console.WriteLine("디버그 모드");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#elif RELEASE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Console.WriteLine("릴리스 모드");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#endif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ApiService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private readonly string _baseUrl;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ApiService()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AF17F-B1E2-41C2-9771-BB9A3A5B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BC72-2F6D-413B-8923-34AF1A02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C60F-4AFF-46D9-BF60-5A57AE69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전처리기가 많아지면 실제 배포 코드 경로를 눈으로 추적하기 어렵다.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B9C10-D2EB-499D-80E4-BB6AB1C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2F26F-6E0E-4EB2-8623-7B8B5C4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1574904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0B34A-D5EA-48D6-90B8-80FD0E3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A76E-8FC9-40A2-AC1C-453A2F41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E7C12-A0D2-49CB-B0D1-6376C0ED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B7927-E823-4245-A0B2-434AE3D2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정적 클래스와 확장 메서드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6B2FD-9D93-4D56-84F3-B7C3005A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정적 클래스와 확장 메서드는 상태 없는 공통 기능을 모으는 데 적합하다.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DA235-0F19-41CB-A9BE-AA5702A3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A92A4-17FE-4CFB-8357-FC092037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24.1 정적 클래스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97523-0811-4C97-BA82-D8FD631B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3773C-3FC9-4735-809B-82E18B4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24.2 확장 메서드 심화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5C842-7295-4E5A-8697-C445274F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BD177-0ABE-46DE-9B67-83B3676C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4C0E3-99AE-42A5-B2E5-BFEFE3CD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static class는 인스턴스 없이 호출되는 유틸리티 묶음이다.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확장 메서드 심화는 도메인 문법을 더 자연스럽게 만든다.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상태가 필요하면 서비스로 분리하고 DI를 활용한다.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5D97E-E2D1-4973-96D5-B4068DEF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04F74-FEB6-4990-857F-38AE9661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80408-D34A-4565-9674-AF6EEE5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순수 함수형 변환, 포맷팅, 검증 보조에 사용한다.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EE736-E098-471A-918A-ADD76402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31DFE-96EA-43ED-8537-71140867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static class DateTimeHelper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static DateTime StartOfDay(DateTime date)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return date.Date;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static DateTime EndOfDay(DateTime date)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return date.Date.AddDays(1).AddTicks(-1);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C1128-D53F-421C-B290-FF64560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1B5FD-56EF-4185-8DED-F772C4A0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9F81A-B62B-44E9-9583-FBC2D5F7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정적 의존성이 많으면 테스트 대체가 어려워질 수 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60EE2-27DA-49BA-AB2E-437587C3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96956-2CED-4248-9EE4-EBE100CD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7120894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F488E5-1DC6-411C-A79D-24F76145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265BD-6F25-4220-9ED6-BE23234E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C2DD7-22E8-410D-83ED-05BBDC6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CBB65-B0AD-40EC-B95D-D6F89074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상속과 다형성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C90A6-17E2-4E53-A428-23160A5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상속과 다형성은 공통 동작과 확장 지점을 표현하지만 조합과 비교해 선택해야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7129B-8563-433B-BC60-F2708823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DAA3A-9534-497F-BAAB-085C820C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abstract: 추상 클래스 또는 추상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3890E-D15E-4F5C-829D-B76B878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20768-6D4C-42A8-A178-8E403C62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virtual: 파생 클래스가 재정의할 수...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1069F-439F-4FDB-9CFC-D8BE82C3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1FD52-BB7B-47DD-A7E1-EE4A1485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override: 기반 클래스의 virtu...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EA6E5-130B-42FF-B3E9-B6FD378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A14A5-072F-40E5-9AB9-7D045187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6332F-D1FC-491B-90F7-CDDDAA6E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base/derived class는 공통 구조와 특화 동작을 나눈다.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virtual/override는 런타임 다형성을 제공한다.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interface와 composition은 더 느슨한 결합을 만든다.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F98D8-4DAF-4C20-B383-1931B84A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B94AA-0A60-49D8-A68B-03C45BF8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FF547-0787-467D-B529-DBF46021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명확한 is-a 관계일 때 상속을 쓰고, 역할 계약은 interface를 우선 검토한다.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88FF2-7D40-45CA-953D-E8B69BF5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912BA-BA30-4118-B458-86D045CD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기본 클래스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abstract class BaseEntity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int Id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DateTime CreatedAt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DateTime? UpdatedAt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상속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Product : BaseEntity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EE564-79CD-4C02-8222-00F4FA28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5F815-A98F-4731-95B2-15D6FDFA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73D46-384D-4A8F-B2F5-711548E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깊은 상속 구조는 변경 파급과 테스트 비용을 크게 만든다.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BF6EA-B6A1-4AF4-8A12-72EFD03F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636411-2749-45F1-AC17-1BEC7499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4432540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8DDDC-4029-4F4E-B31C-1E0BF30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5EB74-4B22-427E-89D3-2A541F44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BBB2F-31B2-47B6-A59D-EE5FCD19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05640-9477-4EB6-AF5C-1A9FFF0C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IDisposable과 리소스 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E9E5F-19D6-4BB6-9430-5D9B040C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IDisposable은 파일, DB 연결, 스트림 같은 외부 리소스를 제때 해제하기 위한 계약이다.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4539D-7904-4FE0-8323-DD4B70C0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CC02C-1556-471A-BCE0-75DFCDA5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IDisposable.Dispose():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DCEB6-E47A-4593-A872-FF54D04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6BC01-AF31-42C4-B96D-9A29C8D1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IAsyncDisposable.Dispos...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208E4-200D-4C04-B59D-48C9A6A5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0EE98-2725-4B97-A67D-B0E49A8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using 문: 블록 종료 시 자동으로 D...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771AA-BFCD-4A9E-AFD2-21BA6199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A8E29-3D33-43B0-98F8-24012C25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FE283-BB89-4A3C-905A-9415DA13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using 문은 Dispose 호출을 자동화한다.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await using은 IAsyncDisposable 리소스를 비동기로 정리한다.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DI 컨테이너는 등록된 서비스 수명에 따라 Dispose를 관리한다.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19641-0AEE-4EEF-950F-A32050CA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69AC9-C1FF-4BFD-9222-484953CD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D3630-E019-485F-A2DB-86A32614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직접 생성한 Stream/HttpClient-like 리소스의 수명과 소유자를 분명히 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C96D0-C8D4-4EB8-B5F1-60A970DA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DCBB2-BB8E-46FA-B1BA-AA2DA9F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DatabaseConnection : IDisposable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private SqlConnection? _connection;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private bool _disposed = false;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DatabaseConnection(string connectionString)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_connection = new SqlConnection(connectionString);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34A2E-5104-4606-9740-5B29D8D1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50A9F-91FE-4073-A74E-AAEFB3F0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A547F-3407-470E-8F24-674C3884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DI가 관리하는 서비스를 수동으로 Dispose하면 수명 관리가 꼬일 수 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FE0FB-57C7-40A6-AD00-1A6EF0F0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D44B9-70BA-42C8-A940-78216FE4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1145562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98066D-9CDC-457B-B19B-2B8D010A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F6C63-F21B-4382-BD21-23AF0BD8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7EF10-30A4-4A7A-B581-4615BEF8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742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defRPr>
            </a:pPr>
            <a:r>
              <a:rPr sz="2625" b="1">
                <a:solidFill>
                  <a:srgbClr val="1F6FEB"/>
                </a:solidFill>
                <a:latin typeface="Cascadia Mono"/>
                <a:ea typeface="Cascadia Mono"/>
                <a:cs typeface="Cascadia Mono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B2567A-AA15-48E5-81DD-5A9FFA95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실전 종합 예제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78BD8-02D8-44A8-B304-31A4A9A4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종합 예제는 지금까지의 문법이 실제 Web API 계층 구조에서 함께 쓰이는 모습을 보여준다.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1CCCB-08C5-4F23-81F8-A4A21034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E1E28-8F95-4F67-A448-D6380DA6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Models(Entity): DB 테이블에...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F8A07-A2FB-4F76-9E7A-FBAD20D6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3086C-3F70-402B-AEED-2477232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DTOs: 외부와 주고받는 데이터 모양. 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636DA-242A-42C7-8B5A-9E690B70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6685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C7E2F-969F-46C6-9A28-F0F044E1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Repository: 데이터 접근 계층. 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A2190-2061-4A78-8161-1CD12004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BDF13-E45A-431A-90C9-BA4EE26A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핵심 개념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BA37B-7C10-4026-90C8-E659E851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686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DTO, service, controller, async, LINQ, 예외 처리가 하나의 흐름으로 연결된다.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요청 모델은 검증되고 서비스는 도메인 작업을 수행한다.</a:t>
            </a:r>
          </a:p>
          <a:p xmlns:a="http://schemas.openxmlformats.org/drawingml/2006/main">
            <a:pPr algn="l">
              <a:def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• 응답은 ActionResult와 상태 코드로 클라이언트 계약이 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E010A-5399-4D86-9897-4B969709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78797-C52E-4D12-B769-A33DDBD9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Web API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CE0F47-8C4D-45D6-A856-1F928033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예제를 계층별로 읽으며 각 C# 문법이 어떤 문제를 해결하는지 연결한다.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6404F-AE02-4E95-904E-480C1560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143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594A0-A6C8-4A68-AC4A-0EEA54D3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800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// Models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namespace MyApi.Models;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abstract class BaseEntity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int Id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DateTime CreatedAt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public DateTime? UpdatedAt { get; set; 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class Product : BaseEntity</a:t>
            </a:r>
          </a:p>
          <a:p xmlns:a="http://schemas.openxmlformats.org/drawingml/2006/main">
            <a:pPr algn="l">
              <a:def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7FFA7-6D09-41B6-9E92-F071DD2E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514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73A77-DDBF-4F1F-9D79-74AC4C7A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B26A00"/>
                </a:solidFill>
                <a:latin typeface="Malgun Gothic"/>
                <a:ea typeface="Malgun Gothic"/>
                <a:cs typeface="Malgun Gothic"/>
              </a:rPr>
              <a:t>주의할 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A3A32-093A-4474-BE56-B3C847E3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05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예제는 출발점이며 실제 서비스에는 로깅, 인증, 검증, 트랜잭션이 추가된다.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1DD890-6702-44EB-A9D1-BE65D975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49F61-0607-414F-9EC7-2B466949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6832368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52776-6346-4B90-8CFF-6DD19DD6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FA59D-5462-4F14-84F0-DE0CDB70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BCA6A-60E0-46FB-BE0A-8AC410F2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Web API 요청 처리 흐름으로 다시 묶기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9903F-E56B-4ED3-A4CA-E3997B2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각 문법은 컨트롤러 한 줄이 아니라 요청 처리 파이프라인 전체에서 역할을 나눠 가진다.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30FBC-C085-4CA9-B696-4A39F1A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B1987-6AA0-4582-B125-FA74D543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Request DTO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A816B-56E4-4F05-9ED8-6E554554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61FE8-A79A-4E5C-A541-9E731D8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F13B4-087E-49C7-A38E-901E601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051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47041-EFB0-4D56-9988-D212AB72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BE2F1-C31E-4C94-8D03-3678A75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A4835-CAE7-47ED-83EF-E30A9D85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051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58859-8BD8-4E70-A560-BB2FB07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CDDD4-7550-412E-BE37-BADD3417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765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AF6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5CF51-6E94-481C-A978-510419FD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051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Repository/DB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FD264-BDCE-43E0-9217-E89E9A9F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05100"/>
            <a:ext cx="43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5CD2BF-740A-4EA7-BCB8-60B2207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5798EC-F200-4687-A23C-CD3DA69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ActionResult&lt;T&gt;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D0515-E591-4E6E-9E3F-70897902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91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BF6B0-BFD1-4A00-ABC3-B5B5087A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Attributes와 model valid...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D1C31-D53F-4DCF-8189-A0216E9D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D241D-0D45-454E-A51C-76746011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291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DI와 interface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6132F-C9F4-4657-AD62-49C69455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1FABF1-B958-4C25-A129-631390D5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291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async/await와 LINQ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E749A-4155-44AB-A5A5-A465F76D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4D16F-1325-4B9B-9779-89C1FA3E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291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예외 처리와 상태 코드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3E003C-B1B1-459C-8187-A08E591B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F2AE4-4830-4CDF-B7BE-7B9081A9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1698683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EED61-604A-4288-8197-82459967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2735D-C63F-4AE3-BC1F-71F8D1E8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ABDF2-C733-4976-B661-BDF986AA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발표 마무리 체크리스트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8E19F-AB3C-4330-988D-91CA71E6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673"/>
                </a:solidFill>
                <a:latin typeface="Malgun Gothic"/>
                <a:ea typeface="Malgun Gothic"/>
                <a:cs typeface="Malgun Gothic"/>
              </a:rPr>
              <a:t>실전 Web API C# 코드는 타입 안전성, 경계 분리, 비동기 I/O, 실패 응답 계약을 함께 만족해야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034E9-6167-4B0F-8649-07AFDDA7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AE259-4765-45CB-BDAF-86648F1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945DD-7E4C-469B-9E9D-A5FBC814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431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필수 값과 null 가능성을 타입에 드러냈는가?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89174-2432-4846-93BA-741E53D1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4D63D-D1BE-4A47-8380-F8A46E8E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BCA16-EBA5-43E3-AB48-6B90AE83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컨트롤러와 서비스 책임이 분리되어 있는가?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2A117-333E-47B6-8FB7-4797BABE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E68D7-5E3F-4703-939E-A12C0084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E65A7-57B2-4D91-8A0F-B1328501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910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DB/API 호출은 async 흐름을 유지하는가?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2E1E1-A4B0-49FB-ABD9-5A15FF0F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8097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2FBBD-132B-4C60-9626-5F4A30BE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81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76699-B56C-440F-B59D-4261299F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431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LINQ가 실제로 어떤 SQL과 메모리 사용을 만드는지 확인했는가?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D2472-FD73-4B0C-A8A7-DF6A6282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337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5DBE1-7720-472F-A86C-343A8BD8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F4A56-4272-4709-B5BA-25B5B89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670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예외가 일관된 API 응답으로 변환되는가?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7D63D-C123-4D15-96F0-C41C0923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576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4301B-5AE0-49C0-B809-7F257A4B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29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D3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D3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EA81E-E05C-4152-8BA8-0A14AE40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910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3202B"/>
                </a:solidFill>
                <a:latin typeface="Malgun Gothic"/>
                <a:ea typeface="Malgun Gothic"/>
                <a:cs typeface="Malgun Gothic"/>
              </a:rPr>
              <a:t>공통 구조는 제네릭/인터페이스/확장 메서드로 과하지 않게 재사용되는가?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1F4C2-BB65-4DB9-8FD9-8FCA0CD2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673"/>
                </a:solidFill>
                <a:latin typeface="Aptos"/>
                <a:ea typeface="Aptos"/>
                <a:cs typeface="Aptos"/>
              </a:rPr>
              <a:t>ASP.NET Core Web API · Essential C#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9A3DC-C270-4CCD-94BD-DBFA34CD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F6F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E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03089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2026-06-03T14:49:35.3420000Z</dcterms:created>
  <dcterms:modified xsi:type="dcterms:W3CDTF">2026-06-03T14:49:35.3420000Z</dcterms:modified>
</coreProperties>
</file>