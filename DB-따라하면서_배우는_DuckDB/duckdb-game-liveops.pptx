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eb1ab4464243a6" /><Relationship Type="http://schemas.openxmlformats.org/officeDocument/2006/relationships/extended-properties" Target="/docProps/app.xml" Id="Rc9cdef28dca94879" /><Relationship Type="http://schemas.openxmlformats.org/officeDocument/2006/relationships/officeDocument" Target="/ppt/presentation.xml" Id="Re5865217981641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a708d670064fdb"/>
  </p:sldMasterIdLst>
  <p:notesMasterIdLst>
    <p:notesMasterId xmlns:r="http://schemas.openxmlformats.org/officeDocument/2006/relationships" r:id="R2adb4e24171049cc"/>
  </p:notesMasterIdLst>
  <p:sldIdLst>
    <p:sldId xmlns:r="http://schemas.openxmlformats.org/officeDocument/2006/relationships" id="256" r:id="Re11c0c0a88c84ee9"/>
    <p:sldId xmlns:r="http://schemas.openxmlformats.org/officeDocument/2006/relationships" id="257" r:id="R630b1dd04da3448f"/>
    <p:sldId xmlns:r="http://schemas.openxmlformats.org/officeDocument/2006/relationships" id="258" r:id="R4de20ae4b67a4ecc"/>
    <p:sldId xmlns:r="http://schemas.openxmlformats.org/officeDocument/2006/relationships" id="259" r:id="R75f70d2e9377441f"/>
    <p:sldId xmlns:r="http://schemas.openxmlformats.org/officeDocument/2006/relationships" id="260" r:id="R851830c43bed45b2"/>
    <p:sldId xmlns:r="http://schemas.openxmlformats.org/officeDocument/2006/relationships" id="261" r:id="Raf70a8a3ae8c42ca"/>
    <p:sldId xmlns:r="http://schemas.openxmlformats.org/officeDocument/2006/relationships" id="262" r:id="Re3d5857398124d71"/>
    <p:sldId xmlns:r="http://schemas.openxmlformats.org/officeDocument/2006/relationships" id="263" r:id="Rf7a4a2bb43514e97"/>
    <p:sldId xmlns:r="http://schemas.openxmlformats.org/officeDocument/2006/relationships" id="264" r:id="Rfc89708d3fbf4c7d"/>
    <p:sldId xmlns:r="http://schemas.openxmlformats.org/officeDocument/2006/relationships" id="265" r:id="Rcd2023e1a123445a"/>
    <p:sldId xmlns:r="http://schemas.openxmlformats.org/officeDocument/2006/relationships" id="266" r:id="R7871911ec69b4a95"/>
    <p:sldId xmlns:r="http://schemas.openxmlformats.org/officeDocument/2006/relationships" id="267" r:id="Rb707caf6621445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a708d670064fdb" /><Relationship Type="http://schemas.openxmlformats.org/officeDocument/2006/relationships/theme" Target="/ppt/theme/theme1.xml" Id="R24dc12b76e934de3" /><Relationship Type="http://schemas.openxmlformats.org/officeDocument/2006/relationships/notesMaster" Target="/ppt/notesMasters/notesMaster1.xml" Id="R2adb4e24171049cc" /><Relationship Type="http://schemas.openxmlformats.org/officeDocument/2006/relationships/presProps" Target="/ppt/presProps.xml" Id="R5f47c1d524684176" /><Relationship Type="http://schemas.openxmlformats.org/officeDocument/2006/relationships/viewProps" Target="/ppt/viewProps.xml" Id="R57c1561a9e32426e" /><Relationship Type="http://schemas.openxmlformats.org/officeDocument/2006/relationships/tableStyles" Target="/ppt/tableStyles.xml" Id="Ra24f520a941540d4" /><Relationship Type="http://schemas.openxmlformats.org/officeDocument/2006/relationships/slide" Target="/ppt/slides/slide1.xml" Id="Re11c0c0a88c84ee9" /><Relationship Type="http://schemas.openxmlformats.org/officeDocument/2006/relationships/slide" Target="/ppt/slides/slide2.xml" Id="R630b1dd04da3448f" /><Relationship Type="http://schemas.openxmlformats.org/officeDocument/2006/relationships/slide" Target="/ppt/slides/slide3.xml" Id="R4de20ae4b67a4ecc" /><Relationship Type="http://schemas.openxmlformats.org/officeDocument/2006/relationships/slide" Target="/ppt/slides/slide4.xml" Id="R75f70d2e9377441f" /><Relationship Type="http://schemas.openxmlformats.org/officeDocument/2006/relationships/slide" Target="/ppt/slides/slide5.xml" Id="R851830c43bed45b2" /><Relationship Type="http://schemas.openxmlformats.org/officeDocument/2006/relationships/slide" Target="/ppt/slides/slide6.xml" Id="Raf70a8a3ae8c42ca" /><Relationship Type="http://schemas.openxmlformats.org/officeDocument/2006/relationships/slide" Target="/ppt/slides/slide7.xml" Id="Re3d5857398124d71" /><Relationship Type="http://schemas.openxmlformats.org/officeDocument/2006/relationships/slide" Target="/ppt/slides/slide8.xml" Id="Rf7a4a2bb43514e97" /><Relationship Type="http://schemas.openxmlformats.org/officeDocument/2006/relationships/slide" Target="/ppt/slides/slide9.xml" Id="Rfc89708d3fbf4c7d" /><Relationship Type="http://schemas.openxmlformats.org/officeDocument/2006/relationships/slide" Target="/ppt/slides/slide10.xml" Id="Rcd2023e1a123445a" /><Relationship Type="http://schemas.openxmlformats.org/officeDocument/2006/relationships/slide" Target="/ppt/slides/slide11.xml" Id="R7871911ec69b4a95" /><Relationship Type="http://schemas.openxmlformats.org/officeDocument/2006/relationships/slide" Target="/ppt/slides/slide12.xml" Id="Rb707caf6621445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56c20765a764c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b7aedcab254d83" /><Relationship Type="http://schemas.openxmlformats.org/officeDocument/2006/relationships/notesMaster" Target="/ppt/notesMasters/notesMaster1.xml" Id="Rb5dae9c3bf2e4a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3455c1e4f143d0" /><Relationship Type="http://schemas.openxmlformats.org/officeDocument/2006/relationships/notesMaster" Target="/ppt/notesMasters/notesMaster1.xml" Id="Rf168877786e74b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1aa3280bda43bb" /><Relationship Type="http://schemas.openxmlformats.org/officeDocument/2006/relationships/notesMaster" Target="/ppt/notesMasters/notesMaster1.xml" Id="Rdca90b24d33b4c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572af1b673453f" /><Relationship Type="http://schemas.openxmlformats.org/officeDocument/2006/relationships/notesMaster" Target="/ppt/notesMasters/notesMaster1.xml" Id="R2166afdceeda48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db83fa1be24cae" /><Relationship Type="http://schemas.openxmlformats.org/officeDocument/2006/relationships/notesMaster" Target="/ppt/notesMasters/notesMaster1.xml" Id="R8c7f3d43cc194d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b586b695754b1b" /><Relationship Type="http://schemas.openxmlformats.org/officeDocument/2006/relationships/notesMaster" Target="/ppt/notesMasters/notesMaster1.xml" Id="R87418a7ba76f42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07a4f724464879" /><Relationship Type="http://schemas.openxmlformats.org/officeDocument/2006/relationships/notesMaster" Target="/ppt/notesMasters/notesMaster1.xml" Id="R5dfe0d7283ac4f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e0993942f94e10" /><Relationship Type="http://schemas.openxmlformats.org/officeDocument/2006/relationships/notesMaster" Target="/ppt/notesMasters/notesMaster1.xml" Id="Ra0e4b1d3c53847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25c618bfe94040" /><Relationship Type="http://schemas.openxmlformats.org/officeDocument/2006/relationships/notesMaster" Target="/ppt/notesMasters/notesMaster1.xml" Id="Rd1e37f9052dd49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ddfbc9378f4c55" /><Relationship Type="http://schemas.openxmlformats.org/officeDocument/2006/relationships/notesMaster" Target="/ppt/notesMasters/notesMaster1.xml" Id="R2dc3a0b20daf48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ee9cbc47da4f07" /><Relationship Type="http://schemas.openxmlformats.org/officeDocument/2006/relationships/notesMaster" Target="/ppt/notesMasters/notesMaster1.xml" Id="Ra40ffb6908ce4c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8578d5e1dd4bae" /><Relationship Type="http://schemas.openxmlformats.org/officeDocument/2006/relationships/notesMaster" Target="/ppt/notesMasters/notesMaster1.xml" Id="Rb757096f53b144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fb8d8fc73c4c0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10b5e43e9764dcf" /><Relationship Type="http://schemas.openxmlformats.org/officeDocument/2006/relationships/slideLayout" Target="/ppt/slideLayouts/slideLayout2.xml" Id="Rbb75df6bd1b341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75df6bd1b341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622f2848d44bdd" /><Relationship Type="http://schemas.openxmlformats.org/officeDocument/2006/relationships/image" Target="/ppt/media/image.png" Id="R493ca9c40ef04292" /><Relationship Type="http://schemas.openxmlformats.org/officeDocument/2006/relationships/notesSlide" Target="/ppt/notesSlides/notesSlide1.xml" Id="R894de20e25064b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34bb46f26e43c4" /><Relationship Type="http://schemas.openxmlformats.org/officeDocument/2006/relationships/notesSlide" Target="/ppt/notesSlides/notesSlide2.xml" Id="R586b3253706f49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248df56f1b4fdc" /><Relationship Type="http://schemas.openxmlformats.org/officeDocument/2006/relationships/notesSlide" Target="/ppt/notesSlides/notesSlide3.xml" Id="R924afed2435e40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cfe46652184471" /><Relationship Type="http://schemas.openxmlformats.org/officeDocument/2006/relationships/notesSlide" Target="/ppt/notesSlides/notesSlide4.xml" Id="Ra6bd1d2215014a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ad604632bb4f28" /><Relationship Type="http://schemas.openxmlformats.org/officeDocument/2006/relationships/notesSlide" Target="/ppt/notesSlides/notesSlide5.xml" Id="R553031fd667846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9fb6e98d134581" /><Relationship Type="http://schemas.openxmlformats.org/officeDocument/2006/relationships/notesSlide" Target="/ppt/notesSlides/notesSlide6.xml" Id="Rff3bbe2cefaf4a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b53058e8ff4efb" /><Relationship Type="http://schemas.openxmlformats.org/officeDocument/2006/relationships/notesSlide" Target="/ppt/notesSlides/notesSlide7.xml" Id="R4f1b37d9514a4d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7cc49fa0004bf6" /><Relationship Type="http://schemas.openxmlformats.org/officeDocument/2006/relationships/notesSlide" Target="/ppt/notesSlides/notesSlide8.xml" Id="R43a918b837104d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e426a0a04b4b44" /><Relationship Type="http://schemas.openxmlformats.org/officeDocument/2006/relationships/notesSlide" Target="/ppt/notesSlides/notesSlide9.xml" Id="R00c06961b3e046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3d4dfd5ff84edb" /><Relationship Type="http://schemas.openxmlformats.org/officeDocument/2006/relationships/notesSlide" Target="/ppt/notesSlides/notesSlide10.xml" Id="R51b479da3e0748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0308694f2b4d0e" /><Relationship Type="http://schemas.openxmlformats.org/officeDocument/2006/relationships/notesSlide" Target="/ppt/notesSlides/notesSlide11.xml" Id="R5dbcc05b44a847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52c90a1717470a" /><Relationship Type="http://schemas.openxmlformats.org/officeDocument/2006/relationships/notesSlide" Target="/ppt/notesSlides/notesSlide12.xml" Id="R50dba31560b4418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E6B35C-6A22-4C7A-A0BA-AE367F7C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ca9c40ef04292"/>
          <a:srcRect xmlns:a="http://schemas.openxmlformats.org/drawingml/2006/main" l="29677" t="0" r="296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15F5A-B1CA-44D6-8F95-A69B4110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>
              <a:alpha val="9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277B9-A2B0-4307-AFA7-DA71559C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172B4-6372-4BD2-BC88-A1452A7F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C5B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9C5BB"/>
                </a:solidFill>
                <a:latin typeface="Aptos"/>
                <a:ea typeface="Aptos"/>
                <a:cs typeface="Aptos"/>
              </a:rPr>
              <a:t>DUCKDB FOR GAME LIVEOPS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7579E-A74F-4FFA-B64C-C37230CD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581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온라인 게임</a:t>
            </a:r>
          </a:p>
          <a:p xmlns:a="http://schemas.openxmlformats.org/drawingml/2006/main">
            <a:pPr algn="l">
              <a:defRPr sz="360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라이브서비스에서</a:t>
            </a:r>
          </a:p>
          <a:p xmlns:a="http://schemas.openxmlformats.org/drawingml/2006/main">
            <a:pPr algn="l">
              <a:defRPr sz="360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DuckDB를 써야 하는 이유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6D092-A984-4E12-BB9E-34F9FF2C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4E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D7E4E4"/>
                </a:solidFill>
                <a:latin typeface="Malgun Gothic"/>
                <a:ea typeface="Malgun Gothic"/>
                <a:cs typeface="Malgun Gothic"/>
              </a:rPr>
              <a:t>서버 개발자가 장애, 이벤트, 경제, QA 로그를 직접 SQL로 파고들게 만드는 가벼운 분석 엔진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DD568-AD9B-4A90-B0F3-C32E49F9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9C5BB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39C5BB"/>
                </a:solidFill>
                <a:latin typeface="Aptos Display"/>
                <a:ea typeface="Aptos Display"/>
                <a:cs typeface="Aptos Display"/>
              </a:rPr>
              <a:t>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8D59D-A8A3-4563-B3FF-07372717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익숙한 쿼리로 로그 탐색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3248D-8FDC-49C4-A8C0-37613848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434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B544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5B544"/>
                </a:solidFill>
                <a:latin typeface="Aptos Display"/>
                <a:ea typeface="Aptos Display"/>
                <a:cs typeface="Aptos Display"/>
              </a:rPr>
              <a:t>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87801-168F-4D84-84DC-3559B7A4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054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별도 서버 없이 바로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BAD0C-FDF5-496C-9B63-949F9714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434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F6F6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EF6F6C"/>
                </a:solidFill>
                <a:latin typeface="Aptos Display"/>
                <a:ea typeface="Aptos Display"/>
                <a:cs typeface="Aptos Display"/>
              </a:rPr>
              <a:t>Files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898E1A-9CBE-4C9A-ACF1-E4802C6D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054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Parquet/CSV/JSON 직접 분석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F510C-DCBF-407B-827E-5B9BA0A8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C16EF-1F77-48E4-9559-606E3243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rPr>
              <a:t>Generated non-branded illustration; DuckDB docs summarized in source notes.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C6A4D8-4D7B-47DC-82D7-79CC8807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579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909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909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40495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C40011-EB78-46C7-8F7F-F23153F5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CC9AAAC-171A-4D7D-8AAD-2E511DB4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560710C-CABD-4278-8D98-C782C8FB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C5B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9C5BB"/>
                </a:solidFill>
                <a:latin typeface="Aptos"/>
                <a:ea typeface="Aptos"/>
                <a:cs typeface="Aptos"/>
              </a:rPr>
              <a:t>LIVEOPS BOTTLENECK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F72DA-F5D5-4EAD-9DE2-06C7D20D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라이브서비스의 병목은 로그 양이 아니라</a:t>
            </a:r>
          </a:p>
          <a:p xmlns:a="http://schemas.openxmlformats.org/drawingml/2006/main">
            <a:pPr algn="l">
              <a:def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질문에서 증거까지 걸리는 시간입니다.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353AB-51DE-4E8E-A747-5BA8F99D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서버 개발자는 매일 운영 중 생긴 질문을 받습니다. 문제는 답이 대시보드에 없을 때입니다.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38FEE-22FB-4B07-A6F8-8FDE1908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C"/>
          </a:solidFill>
          <a:ln xmlns:a="http://schemas.openxmlformats.org/drawingml/2006/main" w="9525">
            <a:solidFill>
              <a:srgbClr val="3851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8AD7E-1C65-4FDE-B895-B028B78B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질문 발생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AC92F-0858-4482-A070-1E81DDEC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8C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8C8CA"/>
                </a:solidFill>
                <a:latin typeface="Malgun Gothic"/>
                <a:ea typeface="Malgun Gothic"/>
                <a:cs typeface="Malgun Gothic"/>
              </a:rPr>
              <a:t>어제 22시에 특정 월드 보상이 튀었나?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49FDC-0020-4E3D-A430-67DFEDAD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671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3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B8A84-A729-4FE5-BE0D-16722174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100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DA3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DC700-8942-4771-975A-67086040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5755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C"/>
          </a:solidFill>
          <a:ln xmlns:a="http://schemas.openxmlformats.org/drawingml/2006/main" w="9525">
            <a:solidFill>
              <a:srgbClr val="3851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88513-891D-43ED-9D44-537B7D41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48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데이터 경로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63484-DC33-4DDF-89F9-EF2214C6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576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8C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8C8CA"/>
                </a:solidFill>
                <a:latin typeface="Malgun Gothic"/>
                <a:ea typeface="Malgun Gothic"/>
                <a:cs typeface="Malgun Gothic"/>
              </a:rPr>
              <a:t>S3, NAS, DW, 운영툴, 로그 서버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7F3FD-386F-452A-B019-4B8C7563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671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5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8715C-4EB5-46A7-A72E-94A6336D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100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B5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BE5B1-51EB-42CD-A515-5B80B538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5755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C"/>
          </a:solidFill>
          <a:ln xmlns:a="http://schemas.openxmlformats.org/drawingml/2006/main" w="9525">
            <a:solidFill>
              <a:srgbClr val="3851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7A0C44-C97B-46FD-8B83-5CD7E2D2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48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가공 대기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01418-3C6F-47F4-B725-55415530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576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8C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8C8CA"/>
                </a:solidFill>
                <a:latin typeface="Malgun Gothic"/>
                <a:ea typeface="Malgun Gothic"/>
                <a:cs typeface="Malgun Gothic"/>
              </a:rPr>
              <a:t>ETL, 권한, 임시 스크립트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D40DCC-6F2C-497F-9406-8DC0814C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671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3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A5E6C9-C038-4C10-8B1A-9B679A10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100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DA3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EADE71-8790-44BA-8A44-E977B93D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5755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3A"/>
          </a:solidFill>
          <a:ln xmlns:a="http://schemas.openxmlformats.org/drawingml/2006/main" w="9525">
            <a:solidFill>
              <a:srgbClr val="39C5B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941791-0269-42B2-A32F-D8AE6ACC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48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rPr>
              <a:t>증거 확보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7B8D9-B40E-4597-88B7-4D91AE2B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576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8C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8C8CA"/>
                </a:solidFill>
                <a:latin typeface="Malgun Gothic"/>
                <a:ea typeface="Malgun Gothic"/>
                <a:cs typeface="Malgun Gothic"/>
              </a:rPr>
              <a:t>월드/시간/빌드별 원인 축소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447123-E26A-4DDF-9805-749B3286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0363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7"/>
          </a:solidFill>
          <a:ln xmlns:a="http://schemas.openxmlformats.org/drawingml/2006/main" w="9525">
            <a:solidFill>
              <a:srgbClr val="2942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69368E-313C-4B29-9A31-13FEA851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72075"/>
            <a:ext cx="981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DuckDB의 목표 위치: 가공 대기 시간을 줄이고, 서버 개발자가 질문이 생긴 자리에서 바로 SQL로 확인하게 만들기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E4E405-E76F-4F66-9230-F6922666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145A82-DFB3-4892-9597-85A77999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rPr>
              <a:t>Source: DuckDB official docs; examples are illustrative.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E58AD8-4B15-4599-931E-9DB6F0F9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909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909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381904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D49DE4-BAE6-4747-AB4B-B7D6C1F0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D474848-741C-4C40-AAC2-742D7EF7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FE7E901-B4EA-4C11-9FF2-16FFEDB7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C5B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9C5BB"/>
                </a:solidFill>
                <a:latin typeface="Aptos"/>
                <a:ea typeface="Aptos"/>
                <a:cs typeface="Aptos"/>
              </a:rPr>
              <a:t>RIGHT ROLE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442C8-0AC8-4E51-84AB-ED6E6375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57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DuckDB는 게임 운영 DB를 대체하지 않고,</a:t>
            </a:r>
          </a:p>
          <a:p xmlns:a="http://schemas.openxmlformats.org/drawingml/2006/main">
            <a:pPr algn="l">
              <a:def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운영 데이터를 읽는 분석 엔진으로 붙습니다.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D81D5-75CC-4733-8D1F-44C53FB3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22"/>
          </a:solidFill>
          <a:ln xmlns:a="http://schemas.openxmlformats.org/drawingml/2006/main" w="9525">
            <a:solidFill>
              <a:srgbClr val="EF6F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FE073-363C-4C99-83C3-A8D307B0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운영 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824EC-0BE3-4E4A-87A7-736DCA1D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8612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9C6C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9C6C5"/>
                </a:solidFill>
                <a:latin typeface="Malgun Gothic"/>
                <a:ea typeface="Malgun Gothic"/>
                <a:cs typeface="Malgun Gothic"/>
              </a:rPr>
              <a:t>계정, 인벤토리, 결제, 길드,</a:t>
            </a:r>
          </a:p>
          <a:p xmlns:a="http://schemas.openxmlformats.org/drawingml/2006/main">
            <a:pPr algn="l">
              <a:defRPr sz="1350" b="0">
                <a:solidFill>
                  <a:srgbClr val="E9C6C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9C6C5"/>
                </a:solidFill>
                <a:latin typeface="Malgun Gothic"/>
                <a:ea typeface="Malgun Gothic"/>
                <a:cs typeface="Malgun Gothic"/>
              </a:rPr>
              <a:t>동시 쓰기, 복제, 장애 대응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A1537-ADD9-442D-8BB3-7C02B7D8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D31"/>
          </a:solidFill>
          <a:ln xmlns:a="http://schemas.openxmlformats.org/drawingml/2006/main" w="9525">
            <a:solidFill>
              <a:srgbClr val="39C5B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998F2-72BB-4535-AA13-942615B7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432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rPr>
              <a:t>DuckDB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B3AAC-9AA2-4527-8E9C-27BA9C9D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8612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DEDE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DEDEA"/>
                </a:solidFill>
                <a:latin typeface="Malgun Gothic"/>
                <a:ea typeface="Malgun Gothic"/>
                <a:cs typeface="Malgun Gothic"/>
              </a:rPr>
              <a:t>로그, 이벤트, 스냅샷,</a:t>
            </a:r>
          </a:p>
          <a:p xmlns:a="http://schemas.openxmlformats.org/drawingml/2006/main">
            <a:pPr algn="l">
              <a:defRPr sz="1350" b="0">
                <a:solidFill>
                  <a:srgbClr val="CDEDE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DEDEA"/>
                </a:solidFill>
                <a:latin typeface="Malgun Gothic"/>
                <a:ea typeface="Malgun Gothic"/>
                <a:cs typeface="Malgun Gothic"/>
              </a:rPr>
              <a:t>QA 산출물, 리포트용 데이터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42476-E2EE-40BB-A4E9-6B79E8F1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7650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0F"/>
          </a:solidFill>
          <a:ln xmlns:a="http://schemas.openxmlformats.org/drawingml/2006/main" w="9525">
            <a:solidFill>
              <a:srgbClr val="F5B5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B3AAC-EFD9-436B-ABC3-F170FA93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432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데이터 플랫폼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66A1D-2082-4971-B83C-58BC11F1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8612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DBA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3DBA7"/>
                </a:solidFill>
                <a:latin typeface="Malgun Gothic"/>
                <a:ea typeface="Malgun Gothic"/>
                <a:cs typeface="Malgun Gothic"/>
              </a:rPr>
              <a:t>장기 보관, 정식 지표,</a:t>
            </a:r>
          </a:p>
          <a:p xmlns:a="http://schemas.openxmlformats.org/drawingml/2006/main">
            <a:pPr algn="l">
              <a:defRPr sz="1350" b="0">
                <a:solidFill>
                  <a:srgbClr val="F3DBA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3DBA7"/>
                </a:solidFill>
                <a:latin typeface="Malgun Gothic"/>
                <a:ea typeface="Malgun Gothic"/>
                <a:cs typeface="Malgun Gothic"/>
              </a:rPr>
              <a:t>BI, 조직 단위 분석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CFCC7-67D0-491D-8796-C0BC51A7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671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3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DB8E2-CDA0-4BC2-815D-8A28124B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099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DA3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746D30-D595-41ED-851F-954CBB2C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671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3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3DC64-C9E7-4058-90D0-18A5F98B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099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DA3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7A35C7-9880-4C30-B4EE-764D0E9A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0540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핵심 전제: 플레이어 트랜잭션 경로에는 기존 운영 DB를 유지하고, DuckDB는 분석 루프를 짧게 만드는 보조 엔진으로 둡니다.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AE674E-B7F6-430D-B511-231D0FAD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3B8DEA-A856-4997-A4D6-48A64054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rPr>
              <a:t>Source: DuckDB official docs; examples are illustrative.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6F7E1E-E40C-4F09-983A-1042E9E0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909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909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21441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591887-92E9-42EF-91F0-55D5355D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B6C420E-3B2C-4B7B-91D8-60475FC9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C6E5312-D714-423B-8374-EDDCE737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C5B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9C5BB"/>
                </a:solidFill>
                <a:latin typeface="Aptos"/>
                <a:ea typeface="Aptos"/>
                <a:cs typeface="Aptos"/>
              </a:rPr>
              <a:t>WORKFLOW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98767-1DDB-4452-A4E1-601CFD16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파일로 쌓인 라이브 로그를</a:t>
            </a:r>
          </a:p>
          <a:p xmlns:a="http://schemas.openxmlformats.org/drawingml/2006/main">
            <a:pPr algn="l">
              <a:def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적재 기다림 없이 SQL로 엽니다.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D08DB-102F-479B-A173-377AB510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2266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C"/>
          </a:solidFill>
          <a:ln xmlns:a="http://schemas.openxmlformats.org/drawingml/2006/main" w="9525">
            <a:solidFill>
              <a:srgbClr val="3851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3A7BF-318D-4657-BB2B-13532701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게임 서버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93BC2-FA05-4834-AFE7-1D2660AB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0D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FD0D2"/>
                </a:solidFill>
                <a:latin typeface="Malgun Gothic"/>
                <a:ea typeface="Malgun Gothic"/>
                <a:cs typeface="Malgun Gothic"/>
              </a:rPr>
              <a:t>reward.log</a:t>
            </a:r>
          </a:p>
          <a:p xmlns:a="http://schemas.openxmlformats.org/drawingml/2006/main">
            <a:pPr algn="l">
              <a:defRPr sz="1200" b="0">
                <a:solidFill>
                  <a:srgbClr val="BFD0D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FD0D2"/>
                </a:solidFill>
                <a:latin typeface="Malgun Gothic"/>
                <a:ea typeface="Malgun Gothic"/>
                <a:cs typeface="Malgun Gothic"/>
              </a:rPr>
              <a:t>match.log</a:t>
            </a:r>
          </a:p>
          <a:p xmlns:a="http://schemas.openxmlformats.org/drawingml/2006/main">
            <a:pPr algn="l">
              <a:defRPr sz="1200" b="0">
                <a:solidFill>
                  <a:srgbClr val="BFD0D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FD0D2"/>
                </a:solidFill>
                <a:latin typeface="Malgun Gothic"/>
                <a:ea typeface="Malgun Gothic"/>
                <a:cs typeface="Malgun Gothic"/>
              </a:rPr>
              <a:t>error.log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DD9E5-BCF1-4EEF-9465-03558A50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623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2C1B8-2AB3-4215-91B0-47926447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051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24E5F-213F-4656-A690-6F1A353A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2266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C"/>
          </a:solidFill>
          <a:ln xmlns:a="http://schemas.openxmlformats.org/drawingml/2006/main" w="9525">
            <a:solidFill>
              <a:srgbClr val="3851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B049B-49F1-4672-8E17-5AF027D2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14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로그 저장소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700EF-D3BA-41D4-B246-F747EF1B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718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0D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FD0D2"/>
                </a:solidFill>
                <a:latin typeface="Malgun Gothic"/>
                <a:ea typeface="Malgun Gothic"/>
                <a:cs typeface="Malgun Gothic"/>
              </a:rPr>
              <a:t>Parquet / CSV / JSON</a:t>
            </a:r>
          </a:p>
          <a:p xmlns:a="http://schemas.openxmlformats.org/drawingml/2006/main">
            <a:pPr algn="l">
              <a:defRPr sz="1200" b="0">
                <a:solidFill>
                  <a:srgbClr val="BFD0D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FD0D2"/>
                </a:solidFill>
                <a:latin typeface="Malgun Gothic"/>
                <a:ea typeface="Malgun Gothic"/>
                <a:cs typeface="Malgun Gothic"/>
              </a:rPr>
              <a:t>날짜·월드 파티션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07D131-F63A-41E4-B50E-88EFE8A4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623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6CE6B-D507-4E84-B8B5-1D63EA84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051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B5C9A-DEB1-48B5-A2F7-B05820D4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2266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83A"/>
          </a:solidFill>
          <a:ln xmlns:a="http://schemas.openxmlformats.org/drawingml/2006/main" w="9525">
            <a:solidFill>
              <a:srgbClr val="39C5B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8BD23-98A0-438F-B4FB-2B5A0E9B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rPr>
              <a:t>DuckDB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A6E93-68E4-4DAC-B129-730D740B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0D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FD0D2"/>
                </a:solidFill>
                <a:latin typeface="Malgun Gothic"/>
                <a:ea typeface="Malgun Gothic"/>
                <a:cs typeface="Malgun Gothic"/>
              </a:rPr>
              <a:t>in-process SQL</a:t>
            </a:r>
          </a:p>
          <a:p xmlns:a="http://schemas.openxmlformats.org/drawingml/2006/main">
            <a:pPr algn="l">
              <a:defRPr sz="1200" b="0">
                <a:solidFill>
                  <a:srgbClr val="BFD0D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FD0D2"/>
                </a:solidFill>
                <a:latin typeface="Malgun Gothic"/>
                <a:ea typeface="Malgun Gothic"/>
                <a:cs typeface="Malgun Gothic"/>
              </a:rPr>
              <a:t>로컬/배치/툴 내장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3F637F-934F-4DD6-9C94-197C15A8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623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62AEC3-3836-48A1-A6EC-B5C61963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051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60EB2A-E573-49F0-B2C0-E1BE7430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14625"/>
            <a:ext cx="2266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C"/>
          </a:solidFill>
          <a:ln xmlns:a="http://schemas.openxmlformats.org/drawingml/2006/main" w="9525">
            <a:solidFill>
              <a:srgbClr val="3851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32776A-82EE-4898-AF4B-70620A7A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14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증거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972A3-6189-4265-9A0E-F7F21C05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718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0D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FD0D2"/>
                </a:solidFill>
                <a:latin typeface="Malgun Gothic"/>
                <a:ea typeface="Malgun Gothic"/>
                <a:cs typeface="Malgun Gothic"/>
              </a:rPr>
              <a:t>집계, 랭킹,</a:t>
            </a:r>
          </a:p>
          <a:p xmlns:a="http://schemas.openxmlformats.org/drawingml/2006/main">
            <a:pPr algn="l">
              <a:defRPr sz="1200" b="0">
                <a:solidFill>
                  <a:srgbClr val="BFD0D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FD0D2"/>
                </a:solidFill>
                <a:latin typeface="Malgun Gothic"/>
                <a:ea typeface="Malgun Gothic"/>
                <a:cs typeface="Malgun Gothic"/>
              </a:rPr>
              <a:t>이상 패턴, 리포트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2E6CD0-1A45-4E90-8168-B89E4127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7"/>
          </a:solidFill>
          <a:ln xmlns:a="http://schemas.openxmlformats.org/drawingml/2006/main" w="9525">
            <a:solidFill>
              <a:srgbClr val="2942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CDD1AC-A979-45A8-B786-9E4D0324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914900"/>
            <a:ext cx="8420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F7F3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9F7F3"/>
                </a:solidFill>
                <a:latin typeface="Aptos Mono"/>
                <a:ea typeface="Aptos Mono"/>
                <a:cs typeface="Aptos Mono"/>
              </a:rPr>
              <a:t>SELECT world_id, item_id, COUNT(*) AS drop_count</a:t>
            </a:r>
          </a:p>
          <a:p xmlns:a="http://schemas.openxmlformats.org/drawingml/2006/main">
            <a:pPr algn="l">
              <a:defRPr sz="1125" b="0">
                <a:solidFill>
                  <a:srgbClr val="D9F7F3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9F7F3"/>
                </a:solidFill>
                <a:latin typeface="Aptos Mono"/>
                <a:ea typeface="Aptos Mono"/>
                <a:cs typeface="Aptos Mono"/>
              </a:rPr>
              <a:t>FROM read_parquet('logs/item_drop/date=2026-05-28/*.parquet')</a:t>
            </a:r>
          </a:p>
          <a:p xmlns:a="http://schemas.openxmlformats.org/drawingml/2006/main">
            <a:pPr algn="l">
              <a:defRPr sz="1125" b="0">
                <a:solidFill>
                  <a:srgbClr val="D9F7F3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9F7F3"/>
                </a:solidFill>
                <a:latin typeface="Aptos Mono"/>
                <a:ea typeface="Aptos Mono"/>
                <a:cs typeface="Aptos Mono"/>
              </a:rPr>
              <a:t>WHERE event_name = 'boss_reward'</a:t>
            </a:r>
          </a:p>
          <a:p xmlns:a="http://schemas.openxmlformats.org/drawingml/2006/main">
            <a:pPr algn="l">
              <a:defRPr sz="1125" b="0">
                <a:solidFill>
                  <a:srgbClr val="D9F7F3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9F7F3"/>
                </a:solidFill>
                <a:latin typeface="Aptos Mono"/>
                <a:ea typeface="Aptos Mono"/>
                <a:cs typeface="Aptos Mono"/>
              </a:rPr>
              <a:t>GROUP BY world_id, item_id</a:t>
            </a:r>
          </a:p>
          <a:p xmlns:a="http://schemas.openxmlformats.org/drawingml/2006/main">
            <a:pPr algn="l">
              <a:defRPr sz="1125" b="0">
                <a:solidFill>
                  <a:srgbClr val="D9F7F3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9F7F3"/>
                </a:solidFill>
                <a:latin typeface="Aptos Mono"/>
                <a:ea typeface="Aptos Mono"/>
                <a:cs typeface="Aptos Mono"/>
              </a:rPr>
              <a:t>ORDER BY drop_count DESC;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023167-B2B3-45F0-91CF-812A13FD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721D22-33A7-4752-BE8D-4B9721ED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rPr>
              <a:t>Source: DuckDB official docs; examples are illustrative.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85698B-73F3-4476-B0E3-3BB75BD3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909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909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344835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8FCCDA-9AAC-4D09-9F1F-73C9CE5D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9E31D68-E7C2-4221-9A94-F3BBADD4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9ED9D1A-2561-49F0-B8DB-9293600B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C5B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9C5BB"/>
                </a:solidFill>
                <a:latin typeface="Aptos"/>
                <a:ea typeface="Aptos"/>
                <a:cs typeface="Aptos"/>
              </a:rPr>
              <a:t>INCIDENT TRIAGE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D719E-C5BA-45ED-B814-60D66E01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38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장애 대응에서는 완벽한 리포트보다</a:t>
            </a:r>
          </a:p>
          <a:p xmlns:a="http://schemas.openxmlformats.org/drawingml/2006/main">
            <a:pPr algn="l">
              <a:def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범위를 빨리 좁히는 능력이 먼저입니다.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795FB-28E7-4CBF-B740-BC7792FD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2143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7"/>
          </a:solidFill>
          <a:ln xmlns:a="http://schemas.openxmlformats.org/drawingml/2006/main" w="9525">
            <a:solidFill>
              <a:srgbClr val="2942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EA79E-1F89-4715-907B-61AC88D6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4795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rPr>
              <a:t>월드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D1FA8-D948-47A5-A277-CFCF46FF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71750"/>
            <a:ext cx="2143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7"/>
          </a:solidFill>
          <a:ln xmlns:a="http://schemas.openxmlformats.org/drawingml/2006/main" w="9525">
            <a:solidFill>
              <a:srgbClr val="2942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16093-BF6D-491B-9C1A-0D65F0A0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4795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rPr>
              <a:t>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746A1-7F55-4AA6-8506-022AD72A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2143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7"/>
          </a:solidFill>
          <a:ln xmlns:a="http://schemas.openxmlformats.org/drawingml/2006/main" w="9525">
            <a:solidFill>
              <a:srgbClr val="2942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5AD3C-00AC-4F24-BEEB-FB1014DA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4795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rPr>
              <a:t>빌드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C36D0-615B-4901-9327-35DEE3A6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2143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7"/>
          </a:solidFill>
          <a:ln xmlns:a="http://schemas.openxmlformats.org/drawingml/2006/main" w="9525">
            <a:solidFill>
              <a:srgbClr val="2942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EB1D5-64DB-4177-8ACE-ED087B80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64795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rPr>
              <a:t>시간대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85B24-5031-4F42-B7B8-5871B292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2143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C"/>
          </a:solidFill>
          <a:ln xmlns:a="http://schemas.openxmlformats.org/drawingml/2006/main" w="9525">
            <a:solidFill>
              <a:srgbClr val="3851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7BE26-3830-4011-87FC-F147A931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0040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A-01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86070-EF97-4A22-BC5E-B756729E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124200"/>
            <a:ext cx="2143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421"/>
          </a:solidFill>
          <a:ln xmlns:a="http://schemas.openxmlformats.org/drawingml/2006/main" w="9525">
            <a:solidFill>
              <a:srgbClr val="F5B5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6639C-7BD7-4F37-A00D-D79F0628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0040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B54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5B544"/>
                </a:solidFill>
                <a:latin typeface="Malgun Gothic"/>
                <a:ea typeface="Malgun Gothic"/>
                <a:cs typeface="Malgun Gothic"/>
              </a:rPr>
              <a:t>reward/claim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F1AAE-18F8-485E-A1D4-FE0376C9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24200"/>
            <a:ext cx="2143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421"/>
          </a:solidFill>
          <a:ln xmlns:a="http://schemas.openxmlformats.org/drawingml/2006/main" w="9525">
            <a:solidFill>
              <a:srgbClr val="F5B5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2F23E-ED3E-4ADA-9DA2-0238C35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0040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B54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5B544"/>
                </a:solidFill>
                <a:latin typeface="Malgun Gothic"/>
                <a:ea typeface="Malgun Gothic"/>
                <a:cs typeface="Malgun Gothic"/>
              </a:rPr>
              <a:t>1.7.22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2CFB5-78DB-4C95-AD8A-525BB0AC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2143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421"/>
          </a:solidFill>
          <a:ln xmlns:a="http://schemas.openxmlformats.org/drawingml/2006/main" w="9525">
            <a:solidFill>
              <a:srgbClr val="F5B5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44C39F-1EB2-45BC-A041-32480F71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20040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B54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5B544"/>
                </a:solidFill>
                <a:latin typeface="Malgun Gothic"/>
                <a:ea typeface="Malgun Gothic"/>
                <a:cs typeface="Malgun Gothic"/>
              </a:rPr>
              <a:t>22:10-22:25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490B1A-5018-4D8F-8242-49134F82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2143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C"/>
          </a:solidFill>
          <a:ln xmlns:a="http://schemas.openxmlformats.org/drawingml/2006/main" w="9525">
            <a:solidFill>
              <a:srgbClr val="3851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50F43E-4C07-4BB1-8F40-ECD80217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A-02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06F0DE-B767-45E7-A2A3-59BD5650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76650"/>
            <a:ext cx="2143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421"/>
          </a:solidFill>
          <a:ln xmlns:a="http://schemas.openxmlformats.org/drawingml/2006/main" w="9525">
            <a:solidFill>
              <a:srgbClr val="F5B5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FB4274-2536-44A2-9A27-EFFA3153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5285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B54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5B544"/>
                </a:solidFill>
                <a:latin typeface="Malgun Gothic"/>
                <a:ea typeface="Malgun Gothic"/>
                <a:cs typeface="Malgun Gothic"/>
              </a:rPr>
              <a:t>reward/claim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A6759F-BBC1-49AC-8771-271B4E9E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76650"/>
            <a:ext cx="2143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421"/>
          </a:solidFill>
          <a:ln xmlns:a="http://schemas.openxmlformats.org/drawingml/2006/main" w="9525">
            <a:solidFill>
              <a:srgbClr val="F5B5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E44B40-732E-4EB3-BF08-5E9D483C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5285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B54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5B544"/>
                </a:solidFill>
                <a:latin typeface="Malgun Gothic"/>
                <a:ea typeface="Malgun Gothic"/>
                <a:cs typeface="Malgun Gothic"/>
              </a:rPr>
              <a:t>1.7.22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1E559C-C194-4247-BD1A-0C5414F2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76650"/>
            <a:ext cx="2143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421"/>
          </a:solidFill>
          <a:ln xmlns:a="http://schemas.openxmlformats.org/drawingml/2006/main" w="9525">
            <a:solidFill>
              <a:srgbClr val="F5B54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289369-6F6C-47D8-BB49-7136AEF1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75285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B54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5B544"/>
                </a:solidFill>
                <a:latin typeface="Malgun Gothic"/>
                <a:ea typeface="Malgun Gothic"/>
                <a:cs typeface="Malgun Gothic"/>
              </a:rPr>
              <a:t>22:10-22:25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5B8A26-083F-456F-AACF-28382857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2143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C"/>
          </a:solidFill>
          <a:ln xmlns:a="http://schemas.openxmlformats.org/drawingml/2006/main" w="9525">
            <a:solidFill>
              <a:srgbClr val="3851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A66053-25F7-4CCA-93DD-8BDB25E7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0530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B-07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3C010D-C4E3-4B38-849F-44020C0B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229100"/>
            <a:ext cx="2143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C"/>
          </a:solidFill>
          <a:ln xmlns:a="http://schemas.openxmlformats.org/drawingml/2006/main" w="9525">
            <a:solidFill>
              <a:srgbClr val="38515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1A2BD8-CF48-4574-88D0-15CE2D02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30530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match/join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90EC24-CDE9-4926-8DDE-1E990925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29100"/>
            <a:ext cx="2143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C"/>
          </a:solidFill>
          <a:ln xmlns:a="http://schemas.openxmlformats.org/drawingml/2006/main" w="9525">
            <a:solidFill>
              <a:srgbClr val="38515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1CB28C-625D-4EEC-B401-C4A20A64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30530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1.7.21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186B6E-B169-4BAA-B9E7-49316F2F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29100"/>
            <a:ext cx="2143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C"/>
          </a:solidFill>
          <a:ln xmlns:a="http://schemas.openxmlformats.org/drawingml/2006/main" w="9525">
            <a:solidFill>
              <a:srgbClr val="38515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0EE985-F19A-4BEC-8361-7AB6DC4E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30530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21:50-22:20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731726-5D7D-4AD2-B33B-B20CB01D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5780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83A"/>
          </a:solidFill>
          <a:ln xmlns:a="http://schemas.openxmlformats.org/drawingml/2006/main" w="9525">
            <a:solidFill>
              <a:srgbClr val="39C5B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16EF6D-9CE6-4EE1-9678-A9BEFD00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62575"/>
            <a:ext cx="838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DuckDB로 로그 파일을 직접 묶어 보면, “어느 월드·API·빌드·시간대인가?”를 운영 DB에 부담 주지 않고 빠르게 확인할 수 있습니다.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3D2B1B-7B0F-4790-9DBF-FDFEDBC2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CBE1BC-9520-4FD6-87EE-5D69824E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rPr>
              <a:t>Source: DuckDB official docs; examples are illustrative.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0818B8-1F2E-4E5C-9F2C-348724F4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909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909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254422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CCA367-5658-4C94-A3B1-F0A0D797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2E035A4-ED7B-456C-A3B9-FDA41019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6FE88B4-DFF0-4996-9952-0B743672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C5B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9C5BB"/>
                </a:solidFill>
                <a:latin typeface="Aptos"/>
                <a:ea typeface="Aptos"/>
                <a:cs typeface="Aptos"/>
              </a:rPr>
              <a:t>ECONOMY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B6510-56A3-4439-A378-8C905BA2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38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이벤트 보상과 재화 경제는</a:t>
            </a:r>
          </a:p>
          <a:p xmlns:a="http://schemas.openxmlformats.org/drawingml/2006/main">
            <a:pPr algn="l">
              <a:def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며칠 뒤가 아니라 당일에 확인해야 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B9FC2-C9E4-428A-9DC3-4B1E8830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예시: 이벤트 토큰 획득량 분포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75ED3-EEA1-4460-B1BC-FF6A6BF5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일반 유저 평균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E2C55-79CF-47C0-B239-4D479C40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71825"/>
            <a:ext cx="42005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215D3-01E3-40FD-8ADC-D0915BC0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703" y="31432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rPr>
              <a:t>42개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059E9-9AF2-4106-8A9E-2D336031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상위 10%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11190-5079-45F3-AE8B-BCC753B2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62375"/>
            <a:ext cx="138017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5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69E66-4A78-43D7-8A5D-A8125811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823" y="37338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54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5B544"/>
                </a:solidFill>
                <a:latin typeface="Malgun Gothic"/>
                <a:ea typeface="Malgun Gothic"/>
                <a:cs typeface="Malgun Gothic"/>
              </a:rPr>
              <a:t>138개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E69BAE-81C8-42A8-95E5-2A7EE38A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상위 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F7B8F-1E7B-418F-ABCB-E4E732E3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52925"/>
            <a:ext cx="312039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2B854-DFD9-413C-96FA-DF08AB89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3243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F6F6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F6F6C"/>
                </a:solidFill>
                <a:latin typeface="Malgun Gothic"/>
                <a:ea typeface="Malgun Gothic"/>
                <a:cs typeface="Malgun Gothic"/>
              </a:rPr>
              <a:t>312개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160888-E099-49FF-8225-BBE72230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의심 패턴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E65FE-FA27-491B-A588-9FF398C1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43475"/>
            <a:ext cx="480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293FC-2275-4F9C-934D-F1EDF03D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149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8F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8F70"/>
                </a:solidFill>
                <a:latin typeface="Malgun Gothic"/>
                <a:ea typeface="Malgun Gothic"/>
                <a:cs typeface="Malgun Gothic"/>
              </a:rPr>
              <a:t>480개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00143-EDA8-4B12-B15C-5BDC7606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2857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7"/>
          </a:solidFill>
          <a:ln xmlns:a="http://schemas.openxmlformats.org/drawingml/2006/main" w="9525">
            <a:solidFill>
              <a:srgbClr val="2942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F5A55B-44C7-4906-87E9-D7DE27C7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146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B54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5B544"/>
                </a:solidFill>
                <a:latin typeface="Malgun Gothic"/>
                <a:ea typeface="Malgun Gothic"/>
                <a:cs typeface="Malgun Gothic"/>
              </a:rPr>
              <a:t>바로 확인할 질문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4C2399-B711-4584-8A74-855CF6C2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2900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월드별 공급량</a:t>
            </a:r>
          </a:p>
          <a:p xmlns:a="http://schemas.openxmlformats.org/drawingml/2006/main">
            <a:pPr algn="l">
              <a:defRPr sz="135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유저당 평균·상위 퍼센타일</a:t>
            </a:r>
          </a:p>
          <a:p xmlns:a="http://schemas.openxmlformats.org/drawingml/2006/main">
            <a:pPr algn="l">
              <a:defRPr sz="135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반복 보상 악용 후보</a:t>
            </a:r>
          </a:p>
          <a:p xmlns:a="http://schemas.openxmlformats.org/drawingml/2006/main">
            <a:pPr algn="l">
              <a:defRPr sz="135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소모량 대비 순증가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529C92-1537-44EE-8CFB-AF8F8D93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6C062F-58AB-48B3-966C-4635E73B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rPr>
              <a:t>Source: DuckDB official docs; examples are illustrative.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390ED8-D2A6-436A-92CB-FAECECA1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909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909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68168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DCF312-9E43-4B6B-B04F-B65CD1D9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D6E91FA-134C-40D0-9E99-303734F6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E89880B-4251-4FC2-8A66-78193846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C5B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9C5BB"/>
                </a:solidFill>
                <a:latin typeface="Aptos"/>
                <a:ea typeface="Aptos"/>
                <a:cs typeface="Aptos"/>
              </a:rPr>
              <a:t>QA AUTOMATION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62374-533E-4BF7-B5E5-951256E9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57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QA 로그가 쿼리 가능한 산출물이 되면</a:t>
            </a:r>
          </a:p>
          <a:p xmlns:a="http://schemas.openxmlformats.org/drawingml/2006/main">
            <a:pPr algn="l">
              <a:def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재현 속도와 회귀 탐지가 함께 좋아집니다.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0FCE8-2458-414E-882C-86BF3FF8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1336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C"/>
          </a:solidFill>
          <a:ln xmlns:a="http://schemas.openxmlformats.org/drawingml/2006/main" w="9525">
            <a:solidFill>
              <a:srgbClr val="3851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1894B-23EE-42D3-A14F-21518DD1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테스트 실행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38D3B-FC78-4DBA-BDA5-7896F2DD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봇/시나리오</a:t>
            </a:r>
          </a:p>
          <a:p xmlns:a="http://schemas.openxmlformats.org/drawingml/2006/main">
            <a:pPr algn="l">
              <a:def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부하 테스트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F1A9D-B493-434F-837F-2E0394DC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385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C9ED1-E7B3-4DA7-B539-BC0F36B8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814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9A8FE-A75E-4289-AB8D-3F3B8741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48000"/>
            <a:ext cx="21336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C"/>
          </a:solidFill>
          <a:ln xmlns:a="http://schemas.openxmlformats.org/drawingml/2006/main" w="9525">
            <a:solidFill>
              <a:srgbClr val="3851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999AA-1EEB-47FF-A1C8-3E58F9C3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38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로그 산출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5B0F2-709F-4BB4-84CD-C0552B09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385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상태 변화</a:t>
            </a:r>
          </a:p>
          <a:p xmlns:a="http://schemas.openxmlformats.org/drawingml/2006/main">
            <a:pPr algn="l">
              <a:def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API 응답</a:t>
            </a:r>
          </a:p>
          <a:p xmlns:a="http://schemas.openxmlformats.org/drawingml/2006/main">
            <a:pPr algn="l">
              <a:def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아이템 증감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C7563-D1BF-4CB9-BAAC-286B7621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385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9E2DD-CD1D-41B2-BC5D-769C8F52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814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79256-6C62-49A1-B6A9-627D0A00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48000"/>
            <a:ext cx="21336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83A"/>
          </a:solidFill>
          <a:ln xmlns:a="http://schemas.openxmlformats.org/drawingml/2006/main" w="9525">
            <a:solidFill>
              <a:srgbClr val="39C5B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8799A-CC4A-4498-B326-5701479D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38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rPr>
              <a:t>DuckDB 집계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502908-FB23-4435-B14A-65F5AEA9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385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실패율</a:t>
            </a:r>
          </a:p>
          <a:p xmlns:a="http://schemas.openxmlformats.org/drawingml/2006/main">
            <a:pPr algn="l">
              <a:def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순서 이상</a:t>
            </a:r>
          </a:p>
          <a:p xmlns:a="http://schemas.openxmlformats.org/drawingml/2006/main">
            <a:pPr algn="l">
              <a:def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성능 분포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528900-86EE-4D19-A6C9-DBEFD21C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385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3F95E5-9A54-4CBA-A209-1E5C9882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814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59974A-4FD0-4EA7-AAA4-D41D4480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48000"/>
            <a:ext cx="21336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C"/>
          </a:solidFill>
          <a:ln xmlns:a="http://schemas.openxmlformats.org/drawingml/2006/main" w="9525">
            <a:solidFill>
              <a:srgbClr val="3851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470A3D-2006-441C-8090-11D8D674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리포트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0FA015-DEA1-4024-BDB3-338F4F3B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385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케이스별 원인</a:t>
            </a:r>
          </a:p>
          <a:p xmlns:a="http://schemas.openxmlformats.org/drawingml/2006/main">
            <a:pPr algn="l">
              <a:def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회귀 후보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CD8965-596E-4A65-ABFC-0216DC9D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95875"/>
            <a:ext cx="9382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22"/>
          </a:solidFill>
          <a:ln xmlns:a="http://schemas.openxmlformats.org/drawingml/2006/main" w="9525">
            <a:solidFill>
              <a:srgbClr val="EF6F6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D7872A-B883-4217-9E00-B96E8876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91125"/>
            <a:ext cx="885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핵심 변화: QA 결과를 사람이 눈으로 훑는 파일이 아니라, 서버 개발자가 SQL로 검증하는 데이터셋으로 바꿉니다.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5EAE1D-B3B3-48E7-AB94-A744AE00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E83A07-3E07-4F7E-A20F-B9E9A172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rPr>
              <a:t>Source: DuckDB official docs; examples are illustrative.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52CC57-F873-4F0D-AE55-D96DFD99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909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909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428859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F4FC37-A262-4705-A113-732D2D0B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DEFD22B-36B5-4E0C-82DE-3AAD3448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B75287D-6473-4F85-8A6C-CC56A17C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C5B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9C5BB"/>
                </a:solidFill>
                <a:latin typeface="Aptos"/>
                <a:ea typeface="Aptos"/>
                <a:cs typeface="Aptos"/>
              </a:rPr>
              <a:t>OPS TOOL PATTERN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0B63B-DF9B-4240-AFC4-C7F49A0D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38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운영툴은 정식 기능에 집중하고,</a:t>
            </a:r>
          </a:p>
          <a:p xmlns:a="http://schemas.openxmlformats.org/drawingml/2006/main">
            <a:pPr algn="l">
              <a:def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임시 질문은 DuckDB 분석 모듈로 흡수합니다.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0D20C-52C1-444E-825E-A4CED245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7"/>
          </a:solidFill>
          <a:ln xmlns:a="http://schemas.openxmlformats.org/drawingml/2006/main" w="9525">
            <a:solidFill>
              <a:srgbClr val="2942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21A46-45BE-429D-82D4-14EC3CB4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765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운영자의 질문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BBF9D-FE69-4C01-AA2D-139E6715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이번 주말에만 특정 던전 보상 획득량을 직업별로 보고 싶다.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1EBB4-0CB8-4BFC-A7FD-F3500531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861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5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419FF-268E-4F31-B699-C079A85D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290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B5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60BF7-44D1-4FB6-9442-349A34CF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81250"/>
            <a:ext cx="28575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83A"/>
          </a:solidFill>
          <a:ln xmlns:a="http://schemas.openxmlformats.org/drawingml/2006/main" w="9525">
            <a:solidFill>
              <a:srgbClr val="39C5B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864FF-52E0-48F9-BA07-1C430E62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28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rPr>
              <a:t>DuckDB 모듈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16790-3616-42E4-B610-476614CF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F1E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5F1EF"/>
                </a:solidFill>
                <a:latin typeface="Malgun Gothic"/>
                <a:ea typeface="Malgun Gothic"/>
                <a:cs typeface="Malgun Gothic"/>
              </a:rPr>
              <a:t>추출 파일 또는 로그 저장소</a:t>
            </a:r>
          </a:p>
          <a:p xmlns:a="http://schemas.openxmlformats.org/drawingml/2006/main">
            <a:pPr algn="l">
              <a:defRPr sz="1350" b="0">
                <a:solidFill>
                  <a:srgbClr val="D5F1E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5F1EF"/>
                </a:solidFill>
                <a:latin typeface="Malgun Gothic"/>
                <a:ea typeface="Malgun Gothic"/>
                <a:cs typeface="Malgun Gothic"/>
              </a:rPr>
              <a:t>SQL 템플릿</a:t>
            </a:r>
          </a:p>
          <a:p xmlns:a="http://schemas.openxmlformats.org/drawingml/2006/main">
            <a:pPr algn="l">
              <a:defRPr sz="1350" b="0">
                <a:solidFill>
                  <a:srgbClr val="D5F1E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5F1EF"/>
                </a:solidFill>
                <a:latin typeface="Malgun Gothic"/>
                <a:ea typeface="Malgun Gothic"/>
                <a:cs typeface="Malgun Gothic"/>
              </a:rPr>
              <a:t>CSV/HTML/Slack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A9B6B-8EB3-4820-B46A-FC455057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861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5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24B2B-1783-489D-82CB-A4D6924E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290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B5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C8AA3B-FF76-435E-AC6A-0C504DCB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28900"/>
            <a:ext cx="2571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0F"/>
          </a:solidFill>
          <a:ln xmlns:a="http://schemas.openxmlformats.org/drawingml/2006/main" w="9525">
            <a:solidFill>
              <a:srgbClr val="F5B5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8A76E-EB6F-448E-AFB3-56593DB1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765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가벼운 리포트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ABACD-5ED9-4E21-B4D1-658713A7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DBA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3DBA7"/>
                </a:solidFill>
                <a:latin typeface="Malgun Gothic"/>
                <a:ea typeface="Malgun Gothic"/>
                <a:cs typeface="Malgun Gothic"/>
              </a:rPr>
              <a:t>정식 대시보드를 만들기 전,</a:t>
            </a:r>
          </a:p>
          <a:p xmlns:a="http://schemas.openxmlformats.org/drawingml/2006/main">
            <a:pPr algn="l">
              <a:defRPr sz="1350" b="0">
                <a:solidFill>
                  <a:srgbClr val="F3DBA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3DBA7"/>
                </a:solidFill>
                <a:latin typeface="Malgun Gothic"/>
                <a:ea typeface="Malgun Gothic"/>
                <a:cs typeface="Malgun Gothic"/>
              </a:rPr>
              <a:t>질문에 대한 답을 먼저 확보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7CD8F-55A8-4A57-8394-D22A587D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1DEFAA-296C-4156-A152-BBF2852C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rPr>
              <a:t>Source: DuckDB official docs; examples are illustrative.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0B09C8-235D-4B02-9290-F796BC8C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909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909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307592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9B19C6-2326-43E3-80A2-708D882E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0816994-EFCC-4507-A0C1-3A268651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EB8AAC2-1DD6-490C-83A1-066C70B1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C5B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9C5BB"/>
                </a:solidFill>
                <a:latin typeface="Aptos"/>
                <a:ea typeface="Aptos"/>
                <a:cs typeface="Aptos"/>
              </a:rPr>
              <a:t>DEVELOPER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5A0C8-D5BF-46EB-99F6-B7D5B41C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144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서버 개발자가 배우고 싶어지는 이유는</a:t>
            </a:r>
          </a:p>
          <a:p xmlns:a="http://schemas.openxmlformats.org/drawingml/2006/main">
            <a:pPr algn="l">
              <a:def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새 플랫폼이 아니라 기존 습관에 붙기 때문입니다.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E57AA-FB9F-4C95-A033-FE2ECEE4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3067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83A"/>
          </a:solidFill>
          <a:ln xmlns:a="http://schemas.openxmlformats.org/drawingml/2006/main" w="9525">
            <a:solidFill>
              <a:srgbClr val="39C5B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A3992-82AE-4E1C-8795-12CAFF88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rPr>
              <a:t>SQL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2F7D5-EE64-43A5-BE26-7100237C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새 DSL보다 낮은 학습 비용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41F48-F277-410C-94AD-D1AB4333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86050"/>
            <a:ext cx="3067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C"/>
          </a:solidFill>
          <a:ln xmlns:a="http://schemas.openxmlformats.org/drawingml/2006/main" w="9525">
            <a:solidFill>
              <a:srgbClr val="3851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598AB-F76E-471C-945B-88779274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575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In-process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FFA59-1793-4E80-8E48-94505602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서버, 배치, CLI, 내부툴에 내장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90080-E689-4A57-BB0C-00937069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3067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C"/>
          </a:solidFill>
          <a:ln xmlns:a="http://schemas.openxmlformats.org/drawingml/2006/main" w="9525">
            <a:solidFill>
              <a:srgbClr val="3851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78DD7-062C-4FB4-A2FF-DB8FBD09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File-native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05C61-3D41-4082-8CFE-EB2F3B75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Parquet/CSV/JSON 로그를 직접 읽기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263FC-C78E-4BD7-9075-9F1FFC7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3067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C"/>
          </a:solidFill>
          <a:ln xmlns:a="http://schemas.openxmlformats.org/drawingml/2006/main" w="9525">
            <a:solidFill>
              <a:srgbClr val="3851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B0BD5B-8F1C-429E-A9F0-3B44B3E3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Local-first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E731C-6DD2-4D00-8FB9-FEEB97F8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운영 DB에 부하 없이 가설 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295D9-BEAD-41A0-97D4-59636AF1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38600"/>
            <a:ext cx="3067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C"/>
          </a:solidFill>
          <a:ln xmlns:a="http://schemas.openxmlformats.org/drawingml/2006/main" w="9525">
            <a:solidFill>
              <a:srgbClr val="3851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7567FF-1420-442C-8DA8-75651FC2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100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Scriptable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2852A6-126D-40AA-B9BE-B93E7FC9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720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Python/Node/Java/C++ 워크플로와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110E18-52D2-41BE-8063-73816D42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2FB06A-F68E-4CF9-A5C1-3026A715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rPr>
              <a:t>Source: DuckDB official docs; examples are illustrative.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198A9C-6620-4AC8-8982-657665F4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909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909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6048108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424A7F-92DA-4B84-AC67-F581C1A1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7254769-ED64-43A6-9BD1-938C2543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543F4C2-845E-4A8D-A75E-818A7440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C5B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9C5BB"/>
                </a:solidFill>
                <a:latin typeface="Aptos"/>
                <a:ea typeface="Aptos"/>
                <a:cs typeface="Aptos"/>
              </a:rPr>
              <a:t>ADOPTION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49829-C033-495C-A9FF-733C14DE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95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처음부터 거창한 플랫폼으로 시작하지 말고,</a:t>
            </a:r>
          </a:p>
          <a:p xmlns:a="http://schemas.openxmlformats.org/drawingml/2006/main">
            <a:pPr algn="l">
              <a:def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개발자의 하루 업무 안에 작게 넣습니다.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34A8F-7881-4B5B-9CA3-7BCC92DC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2190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83A"/>
          </a:solidFill>
          <a:ln xmlns:a="http://schemas.openxmlformats.org/drawingml/2006/main" w="9525">
            <a:solidFill>
              <a:srgbClr val="39C5B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BBB5C-B6E3-4380-A252-26DFDE9A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B328E-92F9-4A79-8A43-FEFD1B4E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28975"/>
            <a:ext cx="19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36AD6-D6F4-4448-BA2A-F496F775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CLI 로그 분석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958C1-C006-49FC-B65A-7533B53C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자주 묻는 운영 질문을 SQL 템플릿으로 저장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8C6D3-856B-49ED-A08A-D99892D9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623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5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867FD-0B55-47B7-9DD8-6625B80F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052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B5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034DB-7C22-4FEC-A87A-88204C8B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71800"/>
            <a:ext cx="2190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C"/>
          </a:solidFill>
          <a:ln xmlns:a="http://schemas.openxmlformats.org/drawingml/2006/main" w="9525">
            <a:solidFill>
              <a:srgbClr val="3851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9030E-26ED-4A1C-A4F5-33F909FF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62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2692D-1EFB-4254-AF09-8B710880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228975"/>
            <a:ext cx="19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6C3DA-28DD-45DE-9285-7A74E5C2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147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QA 리포트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A3E0A-FC09-40A6-AE72-058808D8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957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테스트 산출물을 자동 집계해 회귀 후보 노출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C1058-1D1D-4408-8D43-73CDE3B9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623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5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FCCCC5-3C4F-45C2-974E-275ED87E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052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B5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CCE8B-8E7A-4BB6-AF96-21D26C5F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71800"/>
            <a:ext cx="2190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C"/>
          </a:solidFill>
          <a:ln xmlns:a="http://schemas.openxmlformats.org/drawingml/2006/main" w="9525">
            <a:solidFill>
              <a:srgbClr val="3851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7BE457-386C-4ECB-9BCA-2300AF08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62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F1DFDA-4118-47EA-B4CE-5EE6BC4D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228975"/>
            <a:ext cx="19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9B6663-C0FB-4063-A159-EB9C790B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147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일일 운영 배치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F37FB1-F53A-4C75-80D1-71B2FD82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957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보상·재화·에러를 아침 리포트로 요약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85F7BA-FCAF-469E-A6EB-74157C75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623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5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EA9ADC-AF78-4090-B3A8-E607D2C8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052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B5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92DC3B-7DF4-4677-BF50-565E082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71800"/>
            <a:ext cx="2190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C"/>
          </a:solidFill>
          <a:ln xmlns:a="http://schemas.openxmlformats.org/drawingml/2006/main" w="9525">
            <a:solidFill>
              <a:srgbClr val="3851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DD58CF-A2C3-4FC2-B2AF-664F16CA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62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406141-0B1F-4FCD-A159-04687663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228975"/>
            <a:ext cx="19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7FAFBA-F91F-41B3-881B-8CE09452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147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내부툴 연동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96DA71-BBAB-4D54-9FE2-DDC23C5D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957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9D6D6"/>
                </a:solidFill>
                <a:latin typeface="Malgun Gothic"/>
                <a:ea typeface="Malgun Gothic"/>
                <a:cs typeface="Malgun Gothic"/>
              </a:rPr>
              <a:t>임시 분석을 정식 기능 개발 전 단계로 흡수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F245B2-6831-4899-B1D8-0CA2035A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807534-6BB0-47E7-AD35-B6F19952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rPr>
              <a:t>Source: DuckDB official docs; examples are illustrative.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B73A3E-56C2-4081-8BF2-9EEE523B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909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909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812122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4EF4D1-4A29-4F05-8E0C-50236DBE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ADB973D-4BFC-49EB-A3EE-41DF2656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9A3BAA1-41C7-49D4-805C-895B8591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C5B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9C5BB"/>
                </a:solidFill>
                <a:latin typeface="Aptos"/>
                <a:ea typeface="Aptos"/>
                <a:cs typeface="Aptos"/>
              </a:rPr>
              <a:t>BOUNDARIES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DDBC0-7262-467C-978D-2F7DC60F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95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DuckDB는 강력하지만 만능은 아닙니다.</a:t>
            </a:r>
          </a:p>
          <a:p xmlns:a="http://schemas.openxmlformats.org/drawingml/2006/main">
            <a:pPr algn="l">
              <a:def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맞는 자리와 아닌 자리를 분명히 해야 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7889D-1FC6-4AA8-9505-17FFE85D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4572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83A"/>
          </a:solidFill>
          <a:ln xmlns:a="http://schemas.openxmlformats.org/drawingml/2006/main" w="9525">
            <a:solidFill>
              <a:srgbClr val="39C5B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46D50-DB2E-4B30-869D-EC2E9125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765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rPr>
              <a:t>잘 맞는 자리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1178C-6FE9-497B-8B65-DCA52E2D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로그·이벤트 파일 분석</a:t>
            </a:r>
          </a:p>
          <a:p xmlns:a="http://schemas.openxmlformats.org/drawingml/2006/main">
            <a:pPr algn="l">
              <a:defRPr sz="1575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QA 산출물 집계</a:t>
            </a:r>
          </a:p>
          <a:p xmlns:a="http://schemas.openxmlformats.org/drawingml/2006/main">
            <a:pPr algn="l">
              <a:defRPr sz="1575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운영 보조 리포트</a:t>
            </a:r>
          </a:p>
          <a:p xmlns:a="http://schemas.openxmlformats.org/drawingml/2006/main">
            <a:pPr algn="l">
              <a:defRPr sz="1575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로컬 가설 검증</a:t>
            </a:r>
          </a:p>
          <a:p xmlns:a="http://schemas.openxmlformats.org/drawingml/2006/main">
            <a:pPr algn="l">
              <a:defRPr sz="1575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데이터웨어하우스 전 단계 탐색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55047-311C-4275-B31F-A55A203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572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22"/>
          </a:solidFill>
          <a:ln xmlns:a="http://schemas.openxmlformats.org/drawingml/2006/main" w="9525">
            <a:solidFill>
              <a:srgbClr val="EF6F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A4EF4-6756-4E24-A132-13C4D2A6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F6F6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EF6F6C"/>
                </a:solidFill>
                <a:latin typeface="Malgun Gothic"/>
                <a:ea typeface="Malgun Gothic"/>
                <a:cs typeface="Malgun Gothic"/>
              </a:rPr>
              <a:t>맞지 않는 자리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A526E-B948-4CFF-B55C-5A39DF8C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24250"/>
            <a:ext cx="3429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계정·인벤토리 운영 DB</a:t>
            </a:r>
          </a:p>
          <a:p xmlns:a="http://schemas.openxmlformats.org/drawingml/2006/main">
            <a:pPr algn="l">
              <a:defRPr sz="1575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대규모 동시 쓰기 트랜잭션</a:t>
            </a:r>
          </a:p>
          <a:p xmlns:a="http://schemas.openxmlformats.org/drawingml/2006/main">
            <a:pPr algn="l">
              <a:defRPr sz="1575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초저지연 실시간 모니터링 전체</a:t>
            </a:r>
          </a:p>
          <a:p xmlns:a="http://schemas.openxmlformats.org/drawingml/2006/main">
            <a:pPr algn="l">
              <a:defRPr sz="1575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조직 전체 데이터웨어하우스 대체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4BF64-147F-4FEB-9419-456F0BDB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35C88-67F5-43FC-A695-802AC1D3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rPr>
              <a:t>Source: DuckDB official docs; examples are illustrative.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19E0E-5FA6-4CDB-AABC-0633475D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909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909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59765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BF5E50-9607-4033-8809-5449437C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29EF663-DF61-4EE2-8381-C8599DD5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61A3AE0-74A8-40F5-AD12-8D419C0C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C5B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9C5BB"/>
                </a:solidFill>
                <a:latin typeface="Aptos"/>
                <a:ea typeface="Aptos"/>
                <a:cs typeface="Aptos"/>
              </a:rPr>
              <a:t>CLOSING 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FBC49-FFC3-406F-9AAF-5A400E92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81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DuckDB는 팀의 분석 체력을 올립니다.</a:t>
            </a:r>
          </a:p>
          <a:p xmlns:a="http://schemas.openxmlformats.org/drawingml/2006/main">
            <a:pPr algn="l">
              <a:def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서버 개발자가 자기 시스템의 데이터를 더 자주 보게 만듭니다.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EE443-154F-4F80-BCB8-0E57DF03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05125"/>
            <a:ext cx="4000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22"/>
          </a:solidFill>
          <a:ln xmlns:a="http://schemas.openxmlformats.org/drawingml/2006/main" w="9525">
            <a:solidFill>
              <a:srgbClr val="EF6F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F3CA7-D229-4BA0-9331-6998A672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F6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EF6F6C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52902-170F-4218-8FE0-A81D8065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957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질문 → 요청 → 대기 → 가공 →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8B7E2-CD30-42C4-B355-6B34ED4D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95700"/>
            <a:ext cx="156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5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58EBB-E321-4082-902C-88E14F29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385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B5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A9A41-42D5-4BF1-B1A2-E87F60B1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4000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83A"/>
          </a:solidFill>
          <a:ln xmlns:a="http://schemas.openxmlformats.org/drawingml/2006/main" w="9525">
            <a:solidFill>
              <a:srgbClr val="39C5B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157BE-8DAC-444D-8C05-A038E737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9C5BB"/>
                </a:solidFill>
                <a:latin typeface="Malgun Gothic"/>
                <a:ea typeface="Malgun Gothic"/>
                <a:cs typeface="Malgun Gothic"/>
              </a:rPr>
              <a:t>After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B4049-F007-4F0F-A542-94A2715F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957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질문 → SQL → 증거 → 조치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AB1C18-FC39-4E38-85C1-57B8A086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81600"/>
            <a:ext cx="914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0E8"/>
                </a:solidFill>
                <a:latin typeface="Malgun Gothic"/>
                <a:ea typeface="Malgun Gothic"/>
                <a:cs typeface="Malgun Gothic"/>
              </a:rPr>
              <a:t>작게 시작해도 효과는 큽니다. 장애 대응, 이벤트 검증, 경제 확인, QA 자동화 중 하나만 DuckDB로 바꿔도 개발자의 의사결정 루프가 짧아집니다.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B9795-8C42-4016-A96A-B4ECA5D3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14563-8594-4AAB-B152-0DA393DC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8909A"/>
                </a:solidFill>
                <a:latin typeface="Malgun Gothic"/>
                <a:ea typeface="Malgun Gothic"/>
                <a:cs typeface="Malgun Gothic"/>
              </a:rPr>
              <a:t>Source: DuckDB official docs; examples are illustrative.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8241D2-82ED-4A70-968F-FC310FD2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909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909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366526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2026-05-28T14:04:43.7580000Z</dcterms:created>
  <dcterms:modified xsi:type="dcterms:W3CDTF">2026-05-28T14:04:43.7580000Z</dcterms:modified>
</coreProperties>
</file>