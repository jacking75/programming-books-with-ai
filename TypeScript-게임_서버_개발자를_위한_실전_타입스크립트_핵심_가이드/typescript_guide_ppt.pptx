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0D2245"/>
          </a:solidFill>
          <a:ln w="12700">
            <a:solidFill>
              <a:srgbClr val="0D22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3657600" cy="3657600"/>
          </a:xfrm>
          <a:prstGeom prst="ellipse">
            <a:avLst/>
          </a:prstGeom>
          <a:solidFill>
            <a:srgbClr val="00C8E0">
              <a:alpha val="15000"/>
            </a:srgbClr>
          </a:solidFill>
          <a:ln w="12700">
            <a:solidFill>
              <a:srgbClr val="00C8E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8E0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E0"/>
                </a:solidFill>
              </a:rPr>
              <a:t>GAME SERVER DEVELOPMENT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개발자를 위한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타입스크립트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가이드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0292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FC8"/>
                </a:solidFill>
              </a:rPr>
              <a:t>저자: 최흥배 · Claude AI  |  TypeScript 5.9  |  10 Chapters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572768" cy="347472"/>
          </a:xfrm>
          <a:prstGeom prst="rect">
            <a:avLst/>
          </a:prstGeom>
          <a:solidFill>
            <a:srgbClr val="0D2245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타입 안전성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58568" y="4114800"/>
            <a:ext cx="1572768" cy="347472"/>
          </a:xfrm>
          <a:prstGeom prst="rect">
            <a:avLst/>
          </a:prstGeom>
          <a:solidFill>
            <a:srgbClr val="0D2245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4114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실전 패턴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68496" y="4114800"/>
            <a:ext cx="1572768" cy="347472"/>
          </a:xfrm>
          <a:prstGeom prst="rect">
            <a:avLst/>
          </a:prstGeom>
          <a:solidFill>
            <a:srgbClr val="0D2245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8496" y="4114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게임 서버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78424" y="4114800"/>
            <a:ext cx="1572768" cy="347472"/>
          </a:xfrm>
          <a:prstGeom prst="rect">
            <a:avLst/>
          </a:prstGeom>
          <a:solidFill>
            <a:srgbClr val="0D2245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78424" y="4114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WebSocket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88352" y="4114800"/>
            <a:ext cx="1572768" cy="347472"/>
          </a:xfrm>
          <a:prstGeom prst="rect">
            <a:avLst/>
          </a:prstGeom>
          <a:solidFill>
            <a:srgbClr val="0D2245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4114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미니 프로젝트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책은 무엇인가?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86968"/>
            <a:ext cx="804672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C++/C#/Go 등 정적 타입 언어에 익숙한 게임 서버 개발자가 TypeScript를 빠르게 실무에 투입할 수 있도록 설계된 핵심 집약 가이드. "완벽한 이해" 보다 "빠른 실전 투입" 에 초점을 맞춰, 게임 서버에 자주 등장하는 패턴과 실제 코드 예제로 가득 채운 책이다.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84832"/>
            <a:ext cx="269748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중심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82112"/>
            <a:ext cx="27432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9184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Player, Monster, Item 등 게임 엔티티를 예제로 TypeScript 문법을 학습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084832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084832"/>
            <a:ext cx="269748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투입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91840" y="3182112"/>
            <a:ext cx="2743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29184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7까지만 학습해도 실제 게임 서버 프로젝트에 바로 적용 가능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2084832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084832"/>
            <a:ext cx="26974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안전성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2112"/>
            <a:ext cx="2743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29184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에러 없는 안정적인 게임 서버 구축을 위한 타입 설계 전략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📌  대상: Windows + VSCode 환경  |  TypeScript 5.9  |  경력 게임 서버 개발자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게임 서버에 TypeScript인가?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402336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50392"/>
            <a:ext cx="4023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0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JavaScript의 함정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런타임까지 에러를 알 수 없다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오타(helth, ded)가 서버 크래시로 직결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5176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15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null/undefined로 인한 예측 불가 버그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23697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속성명 변경 시 전체 파일 수동 검색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2219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85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간 객체 구조 공유가 어렵다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E0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800600" y="850392"/>
            <a:ext cx="39776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850392"/>
            <a:ext cx="397764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850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TypeScript의 해법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0" y="148132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즉시 IDE에서 에러 표시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0665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타임에 모든 오타·타입 불일치 검출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6517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615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null/undefined 체크 강제로 안전한 코드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23697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 한 번으로 전체 프로젝트 리네이밍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38221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785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Interface가 곧 팀 계약서 &amp; 문서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245"/>
          </a:solidFill>
          <a:ln w="12700">
            <a:solidFill>
              <a:srgbClr val="0D2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TypeScript가 주는 3가지 핵심 가치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50392"/>
            <a:ext cx="2743200" cy="4114800"/>
          </a:xfrm>
          <a:prstGeom prst="rect">
            <a:avLst/>
          </a:prstGeom>
          <a:solidFill>
            <a:srgbClr val="0D2245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50392"/>
            <a:ext cx="2743200" cy="7315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57400" y="9601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타임 에러 검출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전에 버그를 잡는다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2286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VSCode에서 타이핑하는 순간 빨간 밑줄로 오타·타입 불일치 알림. 수백 명이 접속한 라이브 서버에서 크래시가 날 일이 없다.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850392"/>
            <a:ext cx="2743200" cy="4114800"/>
          </a:xfrm>
          <a:prstGeom prst="rect">
            <a:avLst/>
          </a:prstGeom>
          <a:solidFill>
            <a:srgbClr val="0D224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50392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05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37760" y="9601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75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자동완성 &amp; 리팩토링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속도가 2배 빨라진다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450592"/>
            <a:ext cx="2286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5603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점(.) 하나로 객체의 모든 속성이 자동완성. 속성명 변경 시 F2 한 번으로 프로젝트 전체 즉시 반영. 수동 검색은 이제 그만.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850392"/>
            <a:ext cx="2743200" cy="4114800"/>
          </a:xfrm>
          <a:prstGeom prst="rect">
            <a:avLst/>
          </a:prstGeom>
          <a:solidFill>
            <a:srgbClr val="0D22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850392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05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818120" y="9601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 계약 &amp; 팀 협업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Interface가 살아있는 문서다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450592"/>
            <a:ext cx="2286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5603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 정의만 보면 함수에 무엇을 넘겨야 하는지 즉시 파악. 전투·인벤토리·퀘스트 시스템 간 명확한 경계가 생긴다.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커리큘럼 — 10 Chapters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164592" cy="12618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14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0-1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170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&amp; 환경 구축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TypeScript? · VSCode 설정 · tsconfig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82296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22960"/>
            <a:ext cx="164592" cy="12618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914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170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시스템 핵심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1517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타입 · 인터페이스 · 유니온 · 타입 좁히기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82296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822960"/>
            <a:ext cx="164592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914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82512" y="1170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함수와 제네릭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82512" y="1517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제네릭 패킷 핸들러 · Promise&lt;T&gt; · async/await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21284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12848"/>
            <a:ext cx="164592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042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클래스와 OOP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29077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제어자 · 상속 · Abstract · 컴포넌트 패턴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221284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2212848"/>
            <a:ext cx="16459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3042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타입 패턴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74720" y="29077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Types · 타입 가드 · 맵드 타입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221284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2212848"/>
            <a:ext cx="16459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3042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82512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모듈과 프로젝트 구조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82512" y="29077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ES6 모듈 · Barrel Export · @types 패키지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602736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602736"/>
            <a:ext cx="164592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3950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게임 서버 패턴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6928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· Room 관리 · TypeORM · 에러 핸들링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27832" y="3602736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27832" y="3602736"/>
            <a:ext cx="164592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8-9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74720" y="3950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&amp; 테스팅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47472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최적화 · Jest + TS · Mock 객체 활용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35624" y="3602736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35624" y="3602736"/>
            <a:ext cx="164592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10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82512" y="3950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미니 프로젝트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382512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멀티플레이어 배틀 서버 완전 구현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245"/>
          </a:solidFill>
          <a:ln w="12700">
            <a:solidFill>
              <a:srgbClr val="0D2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학습 로드맵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34640" cy="4114800"/>
          </a:xfrm>
          <a:prstGeom prst="rect">
            <a:avLst/>
          </a:prstGeom>
          <a:solidFill>
            <a:srgbClr val="0D2245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2834640" cy="7315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다지기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0 → 1 → 2 → 3 →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76272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39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설정 &amp; tsconfig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42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시스템 핵심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45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제네릭 패턴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&amp; OOP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4315968"/>
            <a:ext cx="2560320" cy="475488"/>
          </a:xfrm>
          <a:prstGeom prst="rect">
            <a:avLst/>
          </a:prstGeom>
          <a:solidFill>
            <a:srgbClr val="00C8E0">
              <a:alpha val="1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기본 문법 완전 숙지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822960"/>
            <a:ext cx="2834640" cy="4114800"/>
          </a:xfrm>
          <a:prstGeom prst="rect">
            <a:avLst/>
          </a:prstGeom>
          <a:solidFill>
            <a:srgbClr val="0D224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822960"/>
            <a:ext cx="28346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932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12618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패턴 습득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38328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5 → 6 → 7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20299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21762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139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타입 유틸리티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9000" y="2679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642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구조화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290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145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서버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29000" y="368503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연동 &amp; 에러 처리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3280" y="4315968"/>
            <a:ext cx="2560320" cy="47548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실제 서버에 바로 투입 가능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822960"/>
            <a:ext cx="2834640" cy="4114800"/>
          </a:xfrm>
          <a:prstGeom prst="rect">
            <a:avLst/>
          </a:prstGeom>
          <a:solidFill>
            <a:srgbClr val="0D22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822960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932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12618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&amp; 마스터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35508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8 → 9 → 10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55080" y="20299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21762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139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최적화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0" y="26791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642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Jest 테스팅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0" y="318211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3145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배틀 서버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00800" y="368503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 &amp; 리팩토링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355080" y="4315968"/>
            <a:ext cx="2560320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완전한 게임 서버 구현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학습 내용 ① — 타입 시스템 · 제네릭 · 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160520" cy="384048"/>
          </a:xfrm>
          <a:prstGeom prst="rect">
            <a:avLst/>
          </a:prstGeom>
          <a:solidFill>
            <a:srgbClr val="00C8E0">
              <a:alpha val="12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595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타입 시스템 핵심 (Ch 2)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335024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29844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 · number · boolean 기본 타입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6276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any vs unknown — 언제 쓸까?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9568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 · Monster · Item 인터페이스 설계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2860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유니온 타입으로 게임 상태 관리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6151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좁히기(Type Narrowing)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80944"/>
            <a:ext cx="4160520" cy="38404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클래스 &amp; OOP (Ch 4)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49300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4564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/ private / protected 접근 제어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22192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7856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엔티티 상속 계층 구조 설계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151376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1148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Abstract 클래스로 기반 체력 시스템 구현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480560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44439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 구현 — 컴포넌트 패턴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822960"/>
            <a:ext cx="416052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822960"/>
            <a:ext cx="4160520" cy="38404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8595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함수 &amp; 제네릭 (Ch 3)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1298448"/>
            <a:ext cx="3977640" cy="3621024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371600"/>
            <a:ext cx="3840480" cy="3474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패킷 핸들러 제네릭 구현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Packet&lt;T&gt;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string;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T;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async/await DB 쿼리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findPlayer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(id: string)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Promise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&lt;Player | null&gt;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db.players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.findOne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id });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학습 내용 ② — 고급 타입 · 실전 서버 패턴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  Utility Types TOP 5 (Ch 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536192" cy="694944"/>
          </a:xfrm>
          <a:prstGeom prst="rect">
            <a:avLst/>
          </a:prstGeom>
          <a:solidFill>
            <a:srgbClr val="F0F9FF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31673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Partial&lt;T&gt;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6276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업데이트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21408" y="1280160"/>
            <a:ext cx="1536192" cy="694944"/>
          </a:xfrm>
          <a:prstGeom prst="rect">
            <a:avLst/>
          </a:prstGeom>
          <a:solidFill>
            <a:srgbClr val="F0F9FF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31673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Required&lt;T&gt;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76272" y="16276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 강제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85616" y="1280160"/>
            <a:ext cx="1536192" cy="694944"/>
          </a:xfrm>
          <a:prstGeom prst="rect">
            <a:avLst/>
          </a:prstGeom>
          <a:solidFill>
            <a:srgbClr val="F0F9FF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31673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Pick&lt;T,K&gt;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16276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선택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9824" y="1280160"/>
            <a:ext cx="1536192" cy="694944"/>
          </a:xfrm>
          <a:prstGeom prst="rect">
            <a:avLst/>
          </a:prstGeom>
          <a:solidFill>
            <a:srgbClr val="F0F9FF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131673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Omit&lt;T,K&gt;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04688" y="16276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제외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14032" y="1280160"/>
            <a:ext cx="1536192" cy="694944"/>
          </a:xfrm>
          <a:prstGeom prst="rect">
            <a:avLst/>
          </a:prstGeom>
          <a:solidFill>
            <a:srgbClr val="F0F9FF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68896" y="131673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Record&lt;K,T&gt;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68896" y="16276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 타입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304288"/>
            <a:ext cx="416052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304288"/>
            <a:ext cx="4160520" cy="38404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340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실전 게임 서버 패턴 (Ch 7)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281635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Socket.io + TypeScript 타입 안전한 이벤트 핸들링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310128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기반 플레이어 세션 관리 시스템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80390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TypeORM / Prisma 타입 안전한 DB 쿼리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429768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에러 타입 &amp; 에러 처리 미들웨어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2304288"/>
            <a:ext cx="416052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304288"/>
            <a:ext cx="4160520" cy="38404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40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최적화 &amp; 테스팅 (Ch 8-9)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46320" y="28163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옵션 최적화 &amp; 빌드 속도 향상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46320" y="331012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56632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 const assertion 활용법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3803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any 남용 방지 &amp; 순환 의존성 해결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46320" y="42976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Jest 단위 테스트 &amp; Mock 객체 활용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245"/>
          </a:solidFill>
          <a:ln w="12700">
            <a:solidFill>
              <a:srgbClr val="0D2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미니 프로젝트 — Real-time Battle Server (Ch 10)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777240"/>
          </a:xfrm>
          <a:prstGeom prst="rect">
            <a:avLst/>
          </a:prstGeom>
          <a:solidFill>
            <a:srgbClr val="0D2245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챕터에서 배운 내용을 통합하는 클라이맥스. TypeScript로 실시간 멀티플레이어 턴제 배틀 서버를 처음부터 완성까지 단계별로 구현한다.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1572768" cy="3154680"/>
          </a:xfrm>
          <a:prstGeom prst="rect">
            <a:avLst/>
          </a:prstGeom>
          <a:solidFill>
            <a:srgbClr val="0D2245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37360"/>
            <a:ext cx="1572768" cy="7315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745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" y="24688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 Connection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1188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218688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안전한 WebSocket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&amp; 세션 관리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20824" y="1737360"/>
            <a:ext cx="1572768" cy="3154680"/>
          </a:xfrm>
          <a:prstGeom prst="rect">
            <a:avLst/>
          </a:prstGeom>
          <a:solidFill>
            <a:srgbClr val="0D224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0824" y="1737360"/>
            <a:ext cx="15727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0824" y="18745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93976" y="24688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Room-based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Matchmaking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03704" y="3145536"/>
            <a:ext cx="1188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3976" y="3218688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단위 매칭 및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배치 로직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21608" y="1737360"/>
            <a:ext cx="1572768" cy="3154680"/>
          </a:xfrm>
          <a:prstGeom prst="rect">
            <a:avLst/>
          </a:prstGeom>
          <a:solidFill>
            <a:srgbClr val="0D22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1737360"/>
            <a:ext cx="15727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18745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⚔️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794760" y="24688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Turn-based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Combat Logic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904488" y="3145536"/>
            <a:ext cx="1188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218688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기반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계산 시스템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2392" y="1737360"/>
            <a:ext cx="1572768" cy="3154680"/>
          </a:xfrm>
          <a:prstGeom prst="rect">
            <a:avLst/>
          </a:prstGeom>
          <a:solidFill>
            <a:srgbClr val="0D224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1737360"/>
            <a:ext cx="157276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18745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95544" y="24688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Real-time State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Synchronization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05272" y="3145536"/>
            <a:ext cx="1188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95544" y="3218688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제네릭 패킷으로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동기화 구현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23176" y="1737360"/>
            <a:ext cx="1572768" cy="3154680"/>
          </a:xfrm>
          <a:prstGeom prst="rect">
            <a:avLst/>
          </a:prstGeom>
          <a:solidFill>
            <a:srgbClr val="0D224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23176" y="1737360"/>
            <a:ext cx="15727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23176" y="18745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196328" y="24688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Type-safe Packet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06056" y="3145536"/>
            <a:ext cx="1188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3218688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클라이언트-서버 간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 타입 정의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후 실무 활용 방안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94183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게임 서버 신규 개발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Socket.io 기반 실시간 서버에 즉시 적용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901952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안전한 패킷 프로토콜 정의로 오류 원천 차단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322576"/>
            <a:ext cx="118872" cy="1188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Colyseus / NestJS 등 TS 프레임워크 빠른 적응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42062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418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0" y="94183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JS 서버 점진적 마이그레이션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148132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allowJs 옵션으로 JS/TS 혼용하며 단계적 전환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90195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비즈니스 로직부터 타입 정의 우선 적용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2322576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코드에 타입을 입혀 안전망 구축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953512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53512"/>
            <a:ext cx="420624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906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309067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개발 (Node.js 환경)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63016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SDK, OpenAI SDK 타입 완비 패키지 활용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050792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4014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응답 스키마를 Interface로 정의해 파싱 안정성 확보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471416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구현 시 Tool 파라미터 타입 안전하게 관리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2953512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53512"/>
            <a:ext cx="4206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0906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303520" y="309067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코드 품질 &amp; 협업 개선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92040" y="363016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93208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팀원 온보딩 속도 향상 — 타입이 곧 문서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92040" y="40507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93208" y="4014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리뷰 시 타입 불일치 자동 검출로 부담 감소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92040" y="44714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93208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패킷 구조, 공통 유틸 타입 라이브러리 구축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245"/>
          </a:solidFill>
          <a:ln w="12700">
            <a:solidFill>
              <a:srgbClr val="0D2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책이 필요한 분들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206240" cy="2011680"/>
          </a:xfrm>
          <a:prstGeom prst="rect">
            <a:avLst/>
          </a:prstGeom>
          <a:solidFill>
            <a:srgbClr val="0D2245"/>
          </a:solidFill>
          <a:ln w="15240">
            <a:solidFill>
              <a:srgbClr val="00C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4206240" cy="914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987552"/>
            <a:ext cx="1051560" cy="274320"/>
          </a:xfrm>
          <a:prstGeom prst="rect">
            <a:avLst/>
          </a:prstGeom>
          <a:solidFill>
            <a:srgbClr val="00C8E0">
              <a:alpha val="2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9875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E0"/>
                </a:solidFill>
              </a:rPr>
              <a:t>최적 독자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9692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9692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C++/C#/Go 게임 서버 개발자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499616"/>
            <a:ext cx="3749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91056"/>
            <a:ext cx="3840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타입에 익숙하지만 JavaScript의 동적 특성이 불편한 개발자. TypeScript로 기존 언어 감각을 그대로 살릴 수 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206240" cy="2011680"/>
          </a:xfrm>
          <a:prstGeom prst="rect">
            <a:avLst/>
          </a:prstGeom>
          <a:solidFill>
            <a:srgbClr val="0D224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22960"/>
            <a:ext cx="42062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987552"/>
            <a:ext cx="105156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9875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강력 추천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9692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9692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서버 마이그레이션 검토 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499616"/>
            <a:ext cx="3749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591056"/>
            <a:ext cx="3840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JS 서버를 TypeScript로 전환하고 싶지만 시작점을 모르는 팀. Ch 1의 환경 설정과 Ch 6의 모듈 구조부터 바로 적용 가능하다.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4206240" cy="2011680"/>
          </a:xfrm>
          <a:prstGeom prst="rect">
            <a:avLst/>
          </a:prstGeom>
          <a:solidFill>
            <a:srgbClr val="0D224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971800"/>
            <a:ext cx="42062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136392"/>
            <a:ext cx="105156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136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강력 추천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1181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05840" y="3118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개발 입문자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648456"/>
            <a:ext cx="3749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39896"/>
            <a:ext cx="3840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환경에서 AI 에이전트/MCP 서버를 TypeScript로 구현하고자 하는 개발자. SDK 타입 활용과 안전한 API 호출 패턴을 배울 수 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206240" cy="2011680"/>
          </a:xfrm>
          <a:prstGeom prst="rect">
            <a:avLst/>
          </a:prstGeom>
          <a:solidFill>
            <a:srgbClr val="0D224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971800"/>
            <a:ext cx="42062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3136392"/>
            <a:ext cx="105156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3136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빠른 흡수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1181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394960" y="3118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23년 경력 게임 서버 개발자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3648456"/>
            <a:ext cx="3749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39896"/>
            <a:ext cx="3840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방대한 서버 개발 경험이 있기 때문에 챕터를 빠르게 훑으며 TypeScript만의 특성을 흡수하는 것으로 충분하다. Chapter 7부터 읽어도 무방하다.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D2245"/>
          </a:solidFill>
          <a:ln w="12700">
            <a:solidFill>
              <a:srgbClr val="0D2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C8E0">
              <a:alpha val="10000"/>
            </a:srgbClr>
          </a:solidFill>
          <a:ln w="12700">
            <a:solidFill>
              <a:srgbClr val="00C8E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E0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TypeScript는
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서버의 방어구다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4864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249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런타임 크래시 없는 안정적인 게임 서버 구축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자동완성과 리팩토링으로 개발 속도 2배 향상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295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Interface 기반 팀 협업 품질 비약적 개선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실전 예제(Player, Room, WebSocket)로 즉시 적용 가능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3425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미니 프로젝트로 완전한 서버 구현 경험 확보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4389120" cy="3474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63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저자: 최흥배 · Claude AI  |  TypeScript 5.9  |  10 Chapters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서버 개발자를 위한 실전 타입스크립트 핵심 가이드</dc:title>
  <dc:subject>PptxGenJS Presentation</dc:subject>
  <dc:creator>PptxGenJS</dc:creator>
  <cp:lastModifiedBy>PptxGenJS</cp:lastModifiedBy>
  <cp:revision>1</cp:revision>
  <dcterms:created xsi:type="dcterms:W3CDTF">2026-05-17T14:47:58Z</dcterms:created>
  <dcterms:modified xsi:type="dcterms:W3CDTF">2026-05-17T14:47:58Z</dcterms:modified>
</cp:coreProperties>
</file>