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37" d="100"/>
          <a:sy n="137" d="100"/>
        </p:scale>
        <p:origin x="15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5DA4F8-E2C1-4898-B378-E2534B9CCD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4" name="kicker-01-marker">
            <a:extLst>
              <a:ext uri="{FF2B5EF4-FFF2-40B4-BE49-F238E27FC236}">
                <a16:creationId xmlns:a16="http://schemas.microsoft.com/office/drawing/2014/main" id="{C23BDD84-C590-4C19-9645-39A359F07670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95250" cy="95250"/>
          </a:xfrm>
          <a:prstGeom prst="rect">
            <a:avLst/>
          </a:prstGeom>
          <a:solidFill>
            <a:srgbClr val="D8A33D"/>
          </a:solidFill>
          <a:ln>
            <a:noFill/>
          </a:ln>
        </p:spPr>
      </p:sp>
      <p:sp>
        <p:nvSpPr>
          <p:cNvPr id="5" name="kicker-01-label">
            <a:extLst>
              <a:ext uri="{FF2B5EF4-FFF2-40B4-BE49-F238E27FC236}">
                <a16:creationId xmlns:a16="http://schemas.microsoft.com/office/drawing/2014/main" id="{A8618C4A-31A1-4418-BB12-6120938CD48C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3429000" cy="2476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BOOK INTRODUCTION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616D3B-C8D6-4928-845D-E05085313FDE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6667500" cy="7429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43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Rust 빌림과 참조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457181-6DD5-4CDC-AE87-983069712A83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6191250" cy="4572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210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rPr>
              <a:t>C++ 프로그래머를 위한 실전 가이드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5FCC38-70D7-405D-A8EB-D5B8752CB90D}"/>
              </a:ext>
            </a:extLst>
          </p:cNvPr>
          <p:cNvSpPr>
            <a:spLocks noGrp="1"/>
          </p:cNvSpPr>
          <p:nvPr/>
        </p:nvSpPr>
        <p:spPr>
          <a:xfrm>
            <a:off x="590550" y="2457450"/>
            <a:ext cx="6096000" cy="7620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65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rPr>
              <a:t>포인터와 참조에 익숙한 개발자가 Rust의 소유권, 빌림, 라이프타임을 실전 설계 언어로 바꾸는 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3E762E-942A-4645-A577-CC9D8AE86024}"/>
              </a:ext>
            </a:extLst>
          </p:cNvPr>
          <p:cNvSpPr>
            <a:spLocks noGrp="1"/>
          </p:cNvSpPr>
          <p:nvPr/>
        </p:nvSpPr>
        <p:spPr>
          <a:xfrm>
            <a:off x="590550" y="5657850"/>
            <a:ext cx="4953000" cy="2667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rPr>
              <a:t>저자: 최흥배, Claude AI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284437-AD9F-4B50-A676-33E8770642AA}"/>
              </a:ext>
            </a:extLst>
          </p:cNvPr>
          <p:cNvSpPr>
            <a:spLocks noGrp="1"/>
          </p:cNvSpPr>
          <p:nvPr/>
        </p:nvSpPr>
        <p:spPr>
          <a:xfrm>
            <a:off x="8210550" y="5257800"/>
            <a:ext cx="2857500" cy="4953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이 책은 그 질문에 대한 실전 패턴집이다.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19162F-AEB0-4C83-BA84-381699DE2599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64770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750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rPr>
              <a:t>Source: provided Markdown manuscript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F2ED0FE-3F90-46FE-8DBF-6AE435A7C5D3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143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r">
              <a:defRPr sz="825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1529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54E8BF-9EF2-46D9-8C8C-F0FB381767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EB501B61-5B71-48B0-B42D-E1C2FB18D501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95250" cy="9525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D7DF5B75-8719-4619-BD09-C52EF5FBC6D2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3429000" cy="2476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WHY THIS BOOK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F33CA-A492-47C1-94A0-538C1D51ECD4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858250" cy="9144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31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C++ 습관이 Rust에서 막히는 지점을 정면으로 다룬다.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4609DD-D1A7-4E32-9F8A-763529513165}"/>
              </a:ext>
            </a:extLst>
          </p:cNvPr>
          <p:cNvSpPr>
            <a:spLocks noGrp="1"/>
          </p:cNvSpPr>
          <p:nvPr/>
        </p:nvSpPr>
        <p:spPr>
          <a:xfrm>
            <a:off x="590550" y="1676400"/>
            <a:ext cx="7524750" cy="4953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575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문법 설명보다 중요한 것은 참조 관계를 어떻게 다시 설계할지다. 원고는 반복적으로 부딪히는 빌림 검사기 오류를 설계 패턴으로 바꾼다.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5D25CA-7822-409F-B0E0-B61490F5D2E0}"/>
              </a:ext>
            </a:extLst>
          </p:cNvPr>
          <p:cNvSpPr>
            <a:spLocks noGrp="1"/>
          </p:cNvSpPr>
          <p:nvPr/>
        </p:nvSpPr>
        <p:spPr>
          <a:xfrm>
            <a:off x="4857750" y="2952750"/>
            <a:ext cx="2857500" cy="175260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0CACC1-6D4B-4E01-A4A6-28D753F92AFC}"/>
              </a:ext>
            </a:extLst>
          </p:cNvPr>
          <p:cNvSpPr>
            <a:spLocks noGrp="1"/>
          </p:cNvSpPr>
          <p:nvPr/>
        </p:nvSpPr>
        <p:spPr>
          <a:xfrm>
            <a:off x="5124450" y="3429000"/>
            <a:ext cx="2324100" cy="76200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ctr">
              <a:defRPr sz="270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Borrow</a:t>
            </a:r>
          </a:p>
          <a:p>
            <a:pPr algn="ctr">
              <a:defRPr sz="270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Checker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1EF8D6-0DEA-45CE-922E-8A70C0B9D471}"/>
              </a:ext>
            </a:extLst>
          </p:cNvPr>
          <p:cNvSpPr>
            <a:spLocks noGrp="1"/>
          </p:cNvSpPr>
          <p:nvPr/>
        </p:nvSpPr>
        <p:spPr>
          <a:xfrm>
            <a:off x="1200150" y="2838450"/>
            <a:ext cx="21526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554D89-0A8D-4693-8474-F944BE0E216C}"/>
              </a:ext>
            </a:extLst>
          </p:cNvPr>
          <p:cNvSpPr>
            <a:spLocks noGrp="1"/>
          </p:cNvSpPr>
          <p:nvPr/>
        </p:nvSpPr>
        <p:spPr>
          <a:xfrm>
            <a:off x="1371600" y="3048000"/>
            <a:ext cx="18097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직접 포인터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654EBD-9A4B-4FBC-8698-52776AF18B88}"/>
              </a:ext>
            </a:extLst>
          </p:cNvPr>
          <p:cNvSpPr>
            <a:spLocks noGrp="1"/>
          </p:cNvSpPr>
          <p:nvPr/>
        </p:nvSpPr>
        <p:spPr>
          <a:xfrm>
            <a:off x="1371600" y="3333750"/>
            <a:ext cx="1809750" cy="1905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05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부모-자식·양방향 참조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340B13-5B77-42FF-99B6-4BECB255CAFC}"/>
              </a:ext>
            </a:extLst>
          </p:cNvPr>
          <p:cNvSpPr>
            <a:spLocks noGrp="1"/>
          </p:cNvSpPr>
          <p:nvPr/>
        </p:nvSpPr>
        <p:spPr>
          <a:xfrm>
            <a:off x="1200150" y="3924591"/>
            <a:ext cx="2152650" cy="781050"/>
          </a:xfrm>
          <a:prstGeom prst="rect">
            <a:avLst/>
          </a:prstGeom>
          <a:solidFill>
            <a:srgbClr val="EADAC6"/>
          </a:solidFill>
          <a:ln w="9525">
            <a:solidFill>
              <a:srgbClr val="D8C8B7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B34FDE-9CD3-48E1-9A2E-082976AADD72}"/>
              </a:ext>
            </a:extLst>
          </p:cNvPr>
          <p:cNvSpPr>
            <a:spLocks noGrp="1"/>
          </p:cNvSpPr>
          <p:nvPr/>
        </p:nvSpPr>
        <p:spPr>
          <a:xfrm>
            <a:off x="1371600" y="3952875"/>
            <a:ext cx="18097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가변</a:t>
            </a:r>
            <a:r>
              <a:rPr sz="150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별칭</a:t>
            </a:r>
            <a:endParaRPr sz="1500" b="1" dirty="0">
              <a:solidFill>
                <a:srgbClr val="10182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64FC1D-D481-4C18-82A4-E1AF5DABB134}"/>
              </a:ext>
            </a:extLst>
          </p:cNvPr>
          <p:cNvSpPr>
            <a:spLocks noGrp="1"/>
          </p:cNvSpPr>
          <p:nvPr/>
        </p:nvSpPr>
        <p:spPr>
          <a:xfrm>
            <a:off x="1295400" y="4253865"/>
            <a:ext cx="1809750" cy="1905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05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동시에</a:t>
            </a:r>
            <a:r>
              <a:rPr sz="1050" b="0" dirty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읽고</a:t>
            </a:r>
            <a:r>
              <a:rPr sz="1050" b="0" dirty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수정하기</a:t>
            </a:r>
            <a:endParaRPr sz="1050" b="0" dirty="0">
              <a:solidFill>
                <a:srgbClr val="53606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B55F26-6E4D-488E-BBCD-D1AA95C88B6E}"/>
              </a:ext>
            </a:extLst>
          </p:cNvPr>
          <p:cNvSpPr>
            <a:spLocks noGrp="1"/>
          </p:cNvSpPr>
          <p:nvPr/>
        </p:nvSpPr>
        <p:spPr>
          <a:xfrm>
            <a:off x="9029700" y="3914411"/>
            <a:ext cx="21526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428CD3-980A-4BDC-A824-43A0CC6C7308}"/>
              </a:ext>
            </a:extLst>
          </p:cNvPr>
          <p:cNvSpPr>
            <a:spLocks noGrp="1"/>
          </p:cNvSpPr>
          <p:nvPr/>
        </p:nvSpPr>
        <p:spPr>
          <a:xfrm>
            <a:off x="9201150" y="4123961"/>
            <a:ext cx="18097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런타임 공유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074FCE-AC6C-4394-B5C7-9691986AEA0F}"/>
              </a:ext>
            </a:extLst>
          </p:cNvPr>
          <p:cNvSpPr>
            <a:spLocks noGrp="1"/>
          </p:cNvSpPr>
          <p:nvPr/>
        </p:nvSpPr>
        <p:spPr>
          <a:xfrm>
            <a:off x="9201150" y="4409711"/>
            <a:ext cx="1809750" cy="1905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05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Rc / RefCell 남발 위험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186A25-6619-41D8-9F58-9D5ABA0FC913}"/>
              </a:ext>
            </a:extLst>
          </p:cNvPr>
          <p:cNvSpPr>
            <a:spLocks noGrp="1"/>
          </p:cNvSpPr>
          <p:nvPr/>
        </p:nvSpPr>
        <p:spPr>
          <a:xfrm>
            <a:off x="9029700" y="2838450"/>
            <a:ext cx="2152650" cy="781050"/>
          </a:xfrm>
          <a:prstGeom prst="rect">
            <a:avLst/>
          </a:prstGeom>
          <a:solidFill>
            <a:srgbClr val="EADAC6"/>
          </a:solidFill>
          <a:ln w="9525">
            <a:solidFill>
              <a:srgbClr val="D8C8B7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77DA47-9DCA-41A4-B579-CB8CC0F62991}"/>
              </a:ext>
            </a:extLst>
          </p:cNvPr>
          <p:cNvSpPr>
            <a:spLocks noGrp="1"/>
          </p:cNvSpPr>
          <p:nvPr/>
        </p:nvSpPr>
        <p:spPr>
          <a:xfrm>
            <a:off x="9201150" y="3048000"/>
            <a:ext cx="18097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수명 추론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B08C3D-3201-4E28-BD7D-9F54D8078366}"/>
              </a:ext>
            </a:extLst>
          </p:cNvPr>
          <p:cNvSpPr>
            <a:spLocks noGrp="1"/>
          </p:cNvSpPr>
          <p:nvPr/>
        </p:nvSpPr>
        <p:spPr>
          <a:xfrm>
            <a:off x="9201150" y="3333750"/>
            <a:ext cx="1809750" cy="1905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05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구조체에 참조 저장하기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D758FA-BE06-4F53-8ED3-B5799DB941BF}"/>
              </a:ext>
            </a:extLst>
          </p:cNvPr>
          <p:cNvSpPr>
            <a:spLocks noGrp="1"/>
          </p:cNvSpPr>
          <p:nvPr/>
        </p:nvSpPr>
        <p:spPr>
          <a:xfrm>
            <a:off x="3352800" y="3219450"/>
            <a:ext cx="1524000" cy="3810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16F1BC-9BC8-490E-899B-1CC95AF0AC95}"/>
              </a:ext>
            </a:extLst>
          </p:cNvPr>
          <p:cNvSpPr>
            <a:spLocks noGrp="1"/>
          </p:cNvSpPr>
          <p:nvPr/>
        </p:nvSpPr>
        <p:spPr>
          <a:xfrm flipV="1">
            <a:off x="3333750" y="4231006"/>
            <a:ext cx="1524000" cy="45719"/>
          </a:xfrm>
          <a:prstGeom prst="rect">
            <a:avLst/>
          </a:prstGeom>
          <a:solidFill>
            <a:srgbClr val="2CA6A4"/>
          </a:solidFill>
          <a:ln>
            <a:noFill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D24378B-D7C9-4ADD-AFD9-5977D45AC1EE}"/>
              </a:ext>
            </a:extLst>
          </p:cNvPr>
          <p:cNvSpPr>
            <a:spLocks noGrp="1"/>
          </p:cNvSpPr>
          <p:nvPr/>
        </p:nvSpPr>
        <p:spPr>
          <a:xfrm>
            <a:off x="7715248" y="4211955"/>
            <a:ext cx="1314451" cy="45719"/>
          </a:xfrm>
          <a:prstGeom prst="rect">
            <a:avLst/>
          </a:prstGeom>
          <a:solidFill>
            <a:srgbClr val="2CA6A4"/>
          </a:solidFill>
          <a:ln>
            <a:noFill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7ACC1C0-7040-49C5-AA34-5DDC55EA2B30}"/>
              </a:ext>
            </a:extLst>
          </p:cNvPr>
          <p:cNvSpPr>
            <a:spLocks noGrp="1"/>
          </p:cNvSpPr>
          <p:nvPr/>
        </p:nvSpPr>
        <p:spPr>
          <a:xfrm>
            <a:off x="7715250" y="3211831"/>
            <a:ext cx="1314450" cy="45719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922D016-4D4A-40A1-AFDF-9AAD9A727064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64770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Source: provided Markdown manuscript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1F7E020-E132-4EFC-B04C-0B082356C83E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143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r">
              <a:def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2572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1657D50F-309E-49DD-81FF-3A183E3BDF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8FC47EA6-AFFD-4DDE-BBF3-8B29752D6DF0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95250" cy="9525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C2BEFBD7-2122-4BD6-B433-186F60F966AC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3429000" cy="2476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LEARNING ROUTE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408441-85CA-4149-80CE-2BB927A0AFEC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10801350" cy="8572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31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10개 </a:t>
            </a:r>
            <a:r>
              <a:rPr sz="315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장은</a:t>
            </a:r>
            <a:r>
              <a:rPr sz="315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규칙</a:t>
            </a:r>
            <a:r>
              <a:rPr sz="315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암기보다</a:t>
            </a:r>
            <a:r>
              <a:rPr sz="315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315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해결</a:t>
            </a:r>
            <a:r>
              <a:rPr sz="315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순서로</a:t>
            </a:r>
            <a:r>
              <a:rPr sz="315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배열되어</a:t>
            </a:r>
            <a:r>
              <a:rPr sz="315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3150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9C7ED2-A0E7-489D-B84F-BBC23D0BFBA0}"/>
              </a:ext>
            </a:extLst>
          </p:cNvPr>
          <p:cNvSpPr>
            <a:spLocks noGrp="1"/>
          </p:cNvSpPr>
          <p:nvPr/>
        </p:nvSpPr>
        <p:spPr>
          <a:xfrm>
            <a:off x="1695450" y="2305050"/>
            <a:ext cx="8210550" cy="1905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88CBC9-4E46-4DB0-BC3A-E36871B8ADDA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819150" cy="590550"/>
          </a:xfrm>
          <a:prstGeom prst="rect">
            <a:avLst/>
          </a:prstGeom>
          <a:solidFill>
            <a:srgbClr val="C7502C"/>
          </a:solidFill>
          <a:ln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0A71C6-1308-4FFF-A6EA-FCE27BEE1E45}"/>
              </a:ext>
            </a:extLst>
          </p:cNvPr>
          <p:cNvSpPr>
            <a:spLocks noGrp="1"/>
          </p:cNvSpPr>
          <p:nvPr/>
        </p:nvSpPr>
        <p:spPr>
          <a:xfrm>
            <a:off x="1809750" y="1733550"/>
            <a:ext cx="2476500" cy="3619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기초 모델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6A952E-3A65-4F36-B93F-4A68643E20A6}"/>
              </a:ext>
            </a:extLst>
          </p:cNvPr>
          <p:cNvSpPr>
            <a:spLocks noGrp="1"/>
          </p:cNvSpPr>
          <p:nvPr/>
        </p:nvSpPr>
        <p:spPr>
          <a:xfrm>
            <a:off x="4438650" y="1809750"/>
            <a:ext cx="5219700" cy="30480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소유권 · 빌림 · C++ 차이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BBBF91-B545-40F6-A07B-E4F797695445}"/>
              </a:ext>
            </a:extLst>
          </p:cNvPr>
          <p:cNvSpPr>
            <a:spLocks noGrp="1"/>
          </p:cNvSpPr>
          <p:nvPr/>
        </p:nvSpPr>
        <p:spPr>
          <a:xfrm>
            <a:off x="1695450" y="3295650"/>
            <a:ext cx="8210550" cy="19050"/>
          </a:xfrm>
          <a:prstGeom prst="rect">
            <a:avLst/>
          </a:prstGeom>
          <a:solidFill>
            <a:srgbClr val="D8C8B7"/>
          </a:solidFill>
          <a:ln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40717C-C57F-4BEC-A9E2-5B465DE7C7D7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819150" cy="590550"/>
          </a:xfrm>
          <a:prstGeom prst="rect">
            <a:avLst/>
          </a:prstGeom>
          <a:solidFill>
            <a:srgbClr val="2CA6A4"/>
          </a:solidFill>
          <a:ln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2-4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162944-6746-46B1-AD97-96C073D4AD87}"/>
              </a:ext>
            </a:extLst>
          </p:cNvPr>
          <p:cNvSpPr>
            <a:spLocks noGrp="1"/>
          </p:cNvSpPr>
          <p:nvPr/>
        </p:nvSpPr>
        <p:spPr>
          <a:xfrm>
            <a:off x="1809750" y="2724150"/>
            <a:ext cx="2476500" cy="3619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일상 코드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3D39CA-DE06-4C45-9358-3BFC8D47C225}"/>
              </a:ext>
            </a:extLst>
          </p:cNvPr>
          <p:cNvSpPr>
            <a:spLocks noGrp="1"/>
          </p:cNvSpPr>
          <p:nvPr/>
        </p:nvSpPr>
        <p:spPr>
          <a:xfrm>
            <a:off x="4438650" y="2800350"/>
            <a:ext cx="5219700" cy="30480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메서드 · 필드 · 컬렉션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427B94-3DA8-4B61-AA67-6D3808905C58}"/>
              </a:ext>
            </a:extLst>
          </p:cNvPr>
          <p:cNvSpPr>
            <a:spLocks noGrp="1"/>
          </p:cNvSpPr>
          <p:nvPr/>
        </p:nvSpPr>
        <p:spPr>
          <a:xfrm>
            <a:off x="1695450" y="4286250"/>
            <a:ext cx="8210550" cy="19050"/>
          </a:xfrm>
          <a:prstGeom prst="rect">
            <a:avLst/>
          </a:prstGeom>
          <a:solidFill>
            <a:srgbClr val="D8C8B7"/>
          </a:solidFill>
          <a:ln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EC139A-7F27-40B2-851F-245E1DC0C6DD}"/>
              </a:ext>
            </a:extLst>
          </p:cNvPr>
          <p:cNvSpPr>
            <a:spLocks noGrp="1"/>
          </p:cNvSpPr>
          <p:nvPr/>
        </p:nvSpPr>
        <p:spPr>
          <a:xfrm>
            <a:off x="723900" y="3676650"/>
            <a:ext cx="819150" cy="590550"/>
          </a:xfrm>
          <a:prstGeom prst="rect">
            <a:avLst/>
          </a:prstGeom>
          <a:solidFill>
            <a:srgbClr val="D8A33D"/>
          </a:solidFill>
          <a:ln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5-7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817A72-5867-4808-9F64-5BD646660881}"/>
              </a:ext>
            </a:extLst>
          </p:cNvPr>
          <p:cNvSpPr>
            <a:spLocks noGrp="1"/>
          </p:cNvSpPr>
          <p:nvPr/>
        </p:nvSpPr>
        <p:spPr>
          <a:xfrm>
            <a:off x="1809750" y="3714750"/>
            <a:ext cx="2476500" cy="3619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관계 설계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C007F0-6DC4-4A3D-B0BD-286FDD25DC2A}"/>
              </a:ext>
            </a:extLst>
          </p:cNvPr>
          <p:cNvSpPr>
            <a:spLocks noGrp="1"/>
          </p:cNvSpPr>
          <p:nvPr/>
        </p:nvSpPr>
        <p:spPr>
          <a:xfrm>
            <a:off x="4438650" y="3790950"/>
            <a:ext cx="5219700" cy="30480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객체 그래프 · 라이프타임 · 내부 가변성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CDCAE3-B420-40A7-9E51-B34D44305D62}"/>
              </a:ext>
            </a:extLst>
          </p:cNvPr>
          <p:cNvSpPr>
            <a:spLocks noGrp="1"/>
          </p:cNvSpPr>
          <p:nvPr/>
        </p:nvSpPr>
        <p:spPr>
          <a:xfrm>
            <a:off x="1695450" y="5276850"/>
            <a:ext cx="8210550" cy="19050"/>
          </a:xfrm>
          <a:prstGeom prst="rect">
            <a:avLst/>
          </a:prstGeom>
          <a:solidFill>
            <a:srgbClr val="D8C8B7"/>
          </a:solidFill>
          <a:ln>
            <a:noFill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DB68D2-2EF1-4284-B600-55436E9FDD15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819150" cy="59055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8-10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B57C04-6F1A-48E2-997F-C922934CA221}"/>
              </a:ext>
            </a:extLst>
          </p:cNvPr>
          <p:cNvSpPr>
            <a:spLocks noGrp="1"/>
          </p:cNvSpPr>
          <p:nvPr/>
        </p:nvSpPr>
        <p:spPr>
          <a:xfrm>
            <a:off x="1809750" y="4705350"/>
            <a:ext cx="2476500" cy="3619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실전 적용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432E785-A478-4B83-895F-393F0A6B980D}"/>
              </a:ext>
            </a:extLst>
          </p:cNvPr>
          <p:cNvSpPr>
            <a:spLocks noGrp="1"/>
          </p:cNvSpPr>
          <p:nvPr/>
        </p:nvSpPr>
        <p:spPr>
          <a:xfrm>
            <a:off x="4438650" y="4781550"/>
            <a:ext cx="5219700" cy="30480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리팩토링 · 고급 기법 · GUI 프로젝트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03235A-37AC-475B-A486-45A51DCC188F}"/>
              </a:ext>
            </a:extLst>
          </p:cNvPr>
          <p:cNvSpPr>
            <a:spLocks noGrp="1"/>
          </p:cNvSpPr>
          <p:nvPr/>
        </p:nvSpPr>
        <p:spPr>
          <a:xfrm>
            <a:off x="10077450" y="1809750"/>
            <a:ext cx="1257300" cy="367665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B7775F-317B-4781-A159-E7995ACD7489}"/>
              </a:ext>
            </a:extLst>
          </p:cNvPr>
          <p:cNvSpPr>
            <a:spLocks noGrp="1"/>
          </p:cNvSpPr>
          <p:nvPr/>
        </p:nvSpPr>
        <p:spPr>
          <a:xfrm>
            <a:off x="10258425" y="2038350"/>
            <a:ext cx="895350" cy="4762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95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3D2A68A-F184-468F-97A6-7E1502BD983F}"/>
              </a:ext>
            </a:extLst>
          </p:cNvPr>
          <p:cNvSpPr>
            <a:spLocks noGrp="1"/>
          </p:cNvSpPr>
          <p:nvPr/>
        </p:nvSpPr>
        <p:spPr>
          <a:xfrm>
            <a:off x="10229850" y="2800350"/>
            <a:ext cx="952500" cy="148590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ctr">
              <a:def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에러 메시지</a:t>
            </a:r>
          </a:p>
          <a:p>
            <a:pPr algn="ctr">
              <a:def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치트시트</a:t>
            </a:r>
          </a:p>
          <a:p>
            <a:pPr algn="ctr">
              <a:def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대응표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F28B44-757B-4005-A815-6A70ABBDA9C2}"/>
              </a:ext>
            </a:extLst>
          </p:cNvPr>
          <p:cNvSpPr>
            <a:spLocks noGrp="1"/>
          </p:cNvSpPr>
          <p:nvPr/>
        </p:nvSpPr>
        <p:spPr>
          <a:xfrm>
            <a:off x="10058400" y="4762500"/>
            <a:ext cx="1295400" cy="304800"/>
          </a:xfrm>
          <a:prstGeom prst="rect">
            <a:avLst/>
          </a:prstGeom>
          <a:solidFill>
            <a:srgbClr val="283641"/>
          </a:solidFill>
          <a:ln w="9525">
            <a:solidFill>
              <a:srgbClr val="3C505D"/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빠른 복습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874ECF-782B-4C51-889C-10535FC3FF86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64770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Source: provided Markdown manuscript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7C5027-8F52-4F30-8CA6-952066281034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143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r">
              <a:def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8578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063209-6E34-4C52-8ADF-7A5CBA7BDF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C3AB2AD6-2CA7-46E7-97E0-EC88B11C26B3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95250" cy="95250"/>
          </a:xfrm>
          <a:prstGeom prst="rect">
            <a:avLst/>
          </a:prstGeom>
          <a:solidFill>
            <a:srgbClr val="D8A33D"/>
          </a:solidFill>
          <a:ln>
            <a:noFill/>
          </a:ln>
        </p:spPr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5DF509FD-F662-4E15-9E44-58BC899221E0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3429000" cy="2476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MENTAL MODEL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BACF0E-1A54-4F6A-944E-CAC1EEBF0185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7239000" cy="6858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31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핵심 모델은 세 질문으로 압축된다.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12B118-9201-4485-B79E-3D32694A9837}"/>
              </a:ext>
            </a:extLst>
          </p:cNvPr>
          <p:cNvSpPr>
            <a:spLocks noGrp="1"/>
          </p:cNvSpPr>
          <p:nvPr/>
        </p:nvSpPr>
        <p:spPr>
          <a:xfrm>
            <a:off x="590550" y="1676400"/>
            <a:ext cx="4191000" cy="5715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575" b="0">
                <a:solidFill>
                  <a:srgbClr val="C9D4D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값의 소유자, 접근 방식, 참조의 유효 범위를 분리해서 보면 복잡한 오류도 설계 판단으로 바뀐다.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3DEEDF-7EC8-441F-AEDE-0B2F52FA2F99}"/>
              </a:ext>
            </a:extLst>
          </p:cNvPr>
          <p:cNvSpPr>
            <a:spLocks noGrp="1"/>
          </p:cNvSpPr>
          <p:nvPr/>
        </p:nvSpPr>
        <p:spPr>
          <a:xfrm>
            <a:off x="6553200" y="2876550"/>
            <a:ext cx="38100" cy="1695450"/>
          </a:xfrm>
          <a:prstGeom prst="rect">
            <a:avLst/>
          </a:prstGeom>
          <a:solidFill>
            <a:srgbClr val="4D5E66"/>
          </a:solidFill>
          <a:ln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DC6421-D6AB-4040-9F68-4D0B188744B2}"/>
              </a:ext>
            </a:extLst>
          </p:cNvPr>
          <p:cNvSpPr>
            <a:spLocks noGrp="1"/>
          </p:cNvSpPr>
          <p:nvPr/>
        </p:nvSpPr>
        <p:spPr>
          <a:xfrm>
            <a:off x="5524500" y="4362450"/>
            <a:ext cx="2114550" cy="38100"/>
          </a:xfrm>
          <a:prstGeom prst="rect">
            <a:avLst/>
          </a:prstGeom>
          <a:solidFill>
            <a:srgbClr val="4D5E66"/>
          </a:solidFill>
          <a:ln>
            <a:noFill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1E10E3-DE2C-4124-BED0-29CFC9145A93}"/>
              </a:ext>
            </a:extLst>
          </p:cNvPr>
          <p:cNvSpPr>
            <a:spLocks noGrp="1"/>
          </p:cNvSpPr>
          <p:nvPr/>
        </p:nvSpPr>
        <p:spPr>
          <a:xfrm>
            <a:off x="7620000" y="4362450"/>
            <a:ext cx="2000250" cy="38100"/>
          </a:xfrm>
          <a:prstGeom prst="rect">
            <a:avLst/>
          </a:prstGeom>
          <a:solidFill>
            <a:srgbClr val="4D5E66"/>
          </a:solidFill>
          <a:ln>
            <a:noFill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A96AD7-44FB-4FD8-A0C9-366F25DD2DA4}"/>
              </a:ext>
            </a:extLst>
          </p:cNvPr>
          <p:cNvSpPr>
            <a:spLocks noGrp="1"/>
          </p:cNvSpPr>
          <p:nvPr/>
        </p:nvSpPr>
        <p:spPr>
          <a:xfrm>
            <a:off x="5524500" y="1638300"/>
            <a:ext cx="2095500" cy="800100"/>
          </a:xfrm>
          <a:prstGeom prst="rect">
            <a:avLst/>
          </a:prstGeom>
          <a:solidFill>
            <a:srgbClr val="C7502C"/>
          </a:solidFill>
          <a:ln>
            <a:noFill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Ownership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C06728D-A5C0-4C84-B06A-AAD9FE089F1E}"/>
              </a:ext>
            </a:extLst>
          </p:cNvPr>
          <p:cNvSpPr>
            <a:spLocks noGrp="1"/>
          </p:cNvSpPr>
          <p:nvPr/>
        </p:nvSpPr>
        <p:spPr>
          <a:xfrm>
            <a:off x="5314950" y="2552700"/>
            <a:ext cx="2514600" cy="4000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200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누가 해제 책임을 가지는가?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244802-F8B8-488D-8B1E-ADD5AEF6B089}"/>
              </a:ext>
            </a:extLst>
          </p:cNvPr>
          <p:cNvSpPr>
            <a:spLocks noGrp="1"/>
          </p:cNvSpPr>
          <p:nvPr/>
        </p:nvSpPr>
        <p:spPr>
          <a:xfrm>
            <a:off x="3543300" y="4514850"/>
            <a:ext cx="2095500" cy="800100"/>
          </a:xfrm>
          <a:prstGeom prst="rect">
            <a:avLst/>
          </a:prstGeom>
          <a:solidFill>
            <a:srgbClr val="2CA6A4"/>
          </a:solidFill>
          <a:ln>
            <a:noFill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Borrowing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61781F-2543-4BFA-BF9F-240FD2C0DA4B}"/>
              </a:ext>
            </a:extLst>
          </p:cNvPr>
          <p:cNvSpPr>
            <a:spLocks noGrp="1"/>
          </p:cNvSpPr>
          <p:nvPr/>
        </p:nvSpPr>
        <p:spPr>
          <a:xfrm>
            <a:off x="3333750" y="5429250"/>
            <a:ext cx="2762250" cy="4000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200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읽기</a:t>
            </a:r>
            <a:r>
              <a:rPr sz="1200" b="0" dirty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200" b="0" dirty="0" err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200" b="0" dirty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권한은</a:t>
            </a:r>
            <a:r>
              <a:rPr sz="1200" b="0" dirty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어떻게</a:t>
            </a:r>
            <a:r>
              <a:rPr sz="1200" b="0" dirty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나뉘는가</a:t>
            </a:r>
            <a:r>
              <a:rPr sz="1200" b="0" dirty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4778CA-7557-40AC-BC4D-A9A779B613EF}"/>
              </a:ext>
            </a:extLst>
          </p:cNvPr>
          <p:cNvSpPr>
            <a:spLocks noGrp="1"/>
          </p:cNvSpPr>
          <p:nvPr/>
        </p:nvSpPr>
        <p:spPr>
          <a:xfrm>
            <a:off x="7543800" y="4514850"/>
            <a:ext cx="2095500" cy="800100"/>
          </a:xfrm>
          <a:prstGeom prst="rect">
            <a:avLst/>
          </a:prstGeom>
          <a:solidFill>
            <a:srgbClr val="D8A33D"/>
          </a:solidFill>
          <a:ln>
            <a:noFill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Lifetime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88F2DE-8D19-41BE-B6A0-16138E2B38B9}"/>
              </a:ext>
            </a:extLst>
          </p:cNvPr>
          <p:cNvSpPr>
            <a:spLocks noGrp="1"/>
          </p:cNvSpPr>
          <p:nvPr/>
        </p:nvSpPr>
        <p:spPr>
          <a:xfrm>
            <a:off x="7334250" y="5429250"/>
            <a:ext cx="2514600" cy="4000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200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참조는 어디까지 유효한가?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31B40C-9625-4185-B514-A9BA1BFCD48A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2381250" cy="1162050"/>
          </a:xfrm>
          <a:prstGeom prst="rect">
            <a:avLst/>
          </a:prstGeom>
          <a:solidFill>
            <a:srgbClr val="1D2A33"/>
          </a:solidFill>
          <a:ln w="9525">
            <a:solidFill>
              <a:srgbClr val="31424C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32E302-4CCF-44A6-B480-14134059B5B8}"/>
              </a:ext>
            </a:extLst>
          </p:cNvPr>
          <p:cNvSpPr>
            <a:spLocks noGrp="1"/>
          </p:cNvSpPr>
          <p:nvPr/>
        </p:nvSpPr>
        <p:spPr>
          <a:xfrm>
            <a:off x="971550" y="4114800"/>
            <a:ext cx="1924050" cy="2857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575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rPr>
              <a:t>빌림의 두 규칙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2443EE-7D12-49A8-83EA-84B20C327285}"/>
              </a:ext>
            </a:extLst>
          </p:cNvPr>
          <p:cNvSpPr>
            <a:spLocks noGrp="1"/>
          </p:cNvSpPr>
          <p:nvPr/>
        </p:nvSpPr>
        <p:spPr>
          <a:xfrm>
            <a:off x="971550" y="4533900"/>
            <a:ext cx="1943100" cy="4953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하나의 가변 참조</a:t>
            </a:r>
          </a:p>
          <a:p>
            <a:pPr algn="l">
              <a:def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또는 여러 불변 참조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EF1FCCF-7C0E-40A2-B8F3-7D712B0BD2DA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2381250" cy="514350"/>
          </a:xfrm>
          <a:prstGeom prst="rect">
            <a:avLst/>
          </a:prstGeom>
          <a:solidFill>
            <a:srgbClr val="243540"/>
          </a:solidFill>
          <a:ln>
            <a:noFill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BDE263-FCB1-4F67-88E2-DEF67F4CC3E8}"/>
              </a:ext>
            </a:extLst>
          </p:cNvPr>
          <p:cNvSpPr>
            <a:spLocks noGrp="1"/>
          </p:cNvSpPr>
          <p:nvPr/>
        </p:nvSpPr>
        <p:spPr>
          <a:xfrm>
            <a:off x="971550" y="5295900"/>
            <a:ext cx="1924050" cy="3238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rPr>
              <a:t>댕글링 참조는 컴파일 타임에 차단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D4BED2-95A0-4BD1-A23A-FC11C8562B4F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64770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750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rPr>
              <a:t>Source: provided Markdown manuscript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BCA819-1809-4FA6-B22F-8ED3896A37A5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143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r">
              <a:defRPr sz="825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104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A847DDF-B850-4DCA-AF95-DA266427F4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6FC3B041-97D3-471D-A175-7D1A24C1BE12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95250" cy="9525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FAB4363F-2A59-42ED-9D16-D54F2D7BF563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3429000" cy="2476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PATTERN LIBRARY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B7210B-F01F-4D90-A870-AACC578E1EA2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9334500" cy="10477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31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반복되는 오류는 세 가지 패턴 묶음으로 정리된다.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BD8A31-1865-449B-86CA-B02CE33523A4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3124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412431-FD70-4F1F-9CC9-10B66E50F4E1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3124200" cy="9525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336A5F-4CBC-4870-8EF1-2D45E774F1E5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2628900" cy="3238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구조체와 메서드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D0AC03-C62C-466A-868E-368E633E0015}"/>
              </a:ext>
            </a:extLst>
          </p:cNvPr>
          <p:cNvSpPr>
            <a:spLocks noGrp="1"/>
          </p:cNvSpPr>
          <p:nvPr/>
        </p:nvSpPr>
        <p:spPr>
          <a:xfrm>
            <a:off x="990599" y="2914650"/>
            <a:ext cx="2785663" cy="11430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self / &amp;self / &amp;mut self </a:t>
            </a:r>
            <a:r>
              <a:rPr sz="150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선택</a:t>
            </a:r>
            <a:endParaRPr sz="1500" b="0" dirty="0">
              <a:solidFill>
                <a:srgbClr val="53606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메서드</a:t>
            </a:r>
            <a:r>
              <a:rPr sz="1500" b="0" dirty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체이닝</a:t>
            </a:r>
            <a:r>
              <a:rPr sz="1500" b="0" dirty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충돌</a:t>
            </a:r>
            <a:endParaRPr sz="1500" b="0" dirty="0">
              <a:solidFill>
                <a:srgbClr val="53606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내부</a:t>
            </a:r>
            <a:r>
              <a:rPr sz="1500" b="0" dirty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가변성의</a:t>
            </a:r>
            <a:r>
              <a:rPr sz="1500" b="0" dirty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신호</a:t>
            </a:r>
            <a:endParaRPr sz="1500" b="0" dirty="0">
              <a:solidFill>
                <a:srgbClr val="53606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FC57C7-50F8-45B0-A539-F555E6B0F208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1409700" cy="342900"/>
          </a:xfrm>
          <a:prstGeom prst="rect">
            <a:avLst/>
          </a:prstGeom>
          <a:solidFill>
            <a:srgbClr val="F1E7D9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API 설계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926FEF-4885-42A8-A0ED-6A8CD9F68305}"/>
              </a:ext>
            </a:extLst>
          </p:cNvPr>
          <p:cNvSpPr>
            <a:spLocks noGrp="1"/>
          </p:cNvSpPr>
          <p:nvPr/>
        </p:nvSpPr>
        <p:spPr>
          <a:xfrm>
            <a:off x="4419600" y="1962150"/>
            <a:ext cx="3124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D51F40-15D9-4B5B-BF03-1597EEB40867}"/>
              </a:ext>
            </a:extLst>
          </p:cNvPr>
          <p:cNvSpPr>
            <a:spLocks noGrp="1"/>
          </p:cNvSpPr>
          <p:nvPr/>
        </p:nvSpPr>
        <p:spPr>
          <a:xfrm>
            <a:off x="4419600" y="1962150"/>
            <a:ext cx="3124200" cy="95250"/>
          </a:xfrm>
          <a:prstGeom prst="rect">
            <a:avLst/>
          </a:prstGeom>
          <a:solidFill>
            <a:srgbClr val="2CA6A4"/>
          </a:solidFill>
          <a:ln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451CF1-007C-4A9D-A528-8CE83964F0A0}"/>
              </a:ext>
            </a:extLst>
          </p:cNvPr>
          <p:cNvSpPr>
            <a:spLocks noGrp="1"/>
          </p:cNvSpPr>
          <p:nvPr/>
        </p:nvSpPr>
        <p:spPr>
          <a:xfrm>
            <a:off x="4667250" y="2247900"/>
            <a:ext cx="2628900" cy="3238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필드와 컬렉션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E0D040-C208-453E-9E3E-019EDF747EFD}"/>
              </a:ext>
            </a:extLst>
          </p:cNvPr>
          <p:cNvSpPr>
            <a:spLocks noGrp="1"/>
          </p:cNvSpPr>
          <p:nvPr/>
        </p:nvSpPr>
        <p:spPr>
          <a:xfrm>
            <a:off x="4667250" y="2914650"/>
            <a:ext cx="2628900" cy="11430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필드 빌림 vs 전체 빌림</a:t>
            </a:r>
          </a:p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Vec 순회 중 수정</a:t>
            </a:r>
          </a:p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HashMap 접근 순서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4C927F-F40A-42A0-8FFD-D2AEB72CD55D}"/>
              </a:ext>
            </a:extLst>
          </p:cNvPr>
          <p:cNvSpPr>
            <a:spLocks noGrp="1"/>
          </p:cNvSpPr>
          <p:nvPr/>
        </p:nvSpPr>
        <p:spPr>
          <a:xfrm>
            <a:off x="4667250" y="4171950"/>
            <a:ext cx="1409700" cy="342900"/>
          </a:xfrm>
          <a:prstGeom prst="rect">
            <a:avLst/>
          </a:prstGeom>
          <a:solidFill>
            <a:srgbClr val="F1E7D9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접근 순서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0BAECB-C5A6-466A-BBF4-48C36AFCCFF9}"/>
              </a:ext>
            </a:extLst>
          </p:cNvPr>
          <p:cNvSpPr>
            <a:spLocks noGrp="1"/>
          </p:cNvSpPr>
          <p:nvPr/>
        </p:nvSpPr>
        <p:spPr>
          <a:xfrm>
            <a:off x="8096250" y="1962150"/>
            <a:ext cx="3124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31B8B45-7BD8-4FBB-BB1D-483C01512082}"/>
              </a:ext>
            </a:extLst>
          </p:cNvPr>
          <p:cNvSpPr>
            <a:spLocks noGrp="1"/>
          </p:cNvSpPr>
          <p:nvPr/>
        </p:nvSpPr>
        <p:spPr>
          <a:xfrm>
            <a:off x="8096250" y="1962150"/>
            <a:ext cx="3124200" cy="95250"/>
          </a:xfrm>
          <a:prstGeom prst="rect">
            <a:avLst/>
          </a:prstGeom>
          <a:solidFill>
            <a:srgbClr val="D8A33D"/>
          </a:solidFill>
          <a:ln>
            <a:noFill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5237EA-146E-4014-B22A-2F0917916872}"/>
              </a:ext>
            </a:extLst>
          </p:cNvPr>
          <p:cNvSpPr>
            <a:spLocks noGrp="1"/>
          </p:cNvSpPr>
          <p:nvPr/>
        </p:nvSpPr>
        <p:spPr>
          <a:xfrm>
            <a:off x="8343900" y="2247900"/>
            <a:ext cx="2628900" cy="3238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복잡한 참조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33D627-4B46-4E45-8963-D838E005396A}"/>
              </a:ext>
            </a:extLst>
          </p:cNvPr>
          <p:cNvSpPr>
            <a:spLocks noGrp="1"/>
          </p:cNvSpPr>
          <p:nvPr/>
        </p:nvSpPr>
        <p:spPr>
          <a:xfrm>
            <a:off x="8343900" y="2914650"/>
            <a:ext cx="2628900" cy="11430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라이프타임 매개변수</a:t>
            </a:r>
          </a:p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RefCell·Mutex·RwLock</a:t>
            </a:r>
          </a:p>
          <a:p>
            <a:pPr algn="l">
              <a:def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인덱스·아레나·슬롯맵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84A032-B894-4AE1-B51E-4586CBB4A72D}"/>
              </a:ext>
            </a:extLst>
          </p:cNvPr>
          <p:cNvSpPr>
            <a:spLocks noGrp="1"/>
          </p:cNvSpPr>
          <p:nvPr/>
        </p:nvSpPr>
        <p:spPr>
          <a:xfrm>
            <a:off x="8343900" y="4171950"/>
            <a:ext cx="1409700" cy="342900"/>
          </a:xfrm>
          <a:prstGeom prst="rect">
            <a:avLst/>
          </a:prstGeom>
          <a:solidFill>
            <a:srgbClr val="F1E7D9"/>
          </a:solidFill>
          <a:ln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소유 경계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C6E21F-B3A2-41E7-ADBF-2DC99E222508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47625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6352B2-7321-40D0-AD87-56F4AFB9BEC5}"/>
              </a:ext>
            </a:extLst>
          </p:cNvPr>
          <p:cNvSpPr>
            <a:spLocks noGrp="1"/>
          </p:cNvSpPr>
          <p:nvPr/>
        </p:nvSpPr>
        <p:spPr>
          <a:xfrm>
            <a:off x="1409700" y="5334000"/>
            <a:ext cx="9372600" cy="2476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3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목표는 borrow checker를 우회하는 것이 아니라, borrow checker가 설명하는 소유 관계를 코드 구조에 반영하는 것이다.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B9AE05-943F-4B2A-A1DC-7B6E75E5EC36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64770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Source: provided Markdown manuscript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7677791-5445-476E-AB17-3307655A0535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143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r">
              <a:def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3048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29685B-8C29-45FB-9536-F12B990251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681D20C1-A0FD-4C2D-8769-E5D7B083B972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95250" cy="9525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184B215F-75BD-4455-9E72-90F3B49AC47B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3429000" cy="2476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OBJECT RELATIONSHIPS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DBB2C7-48B1-4A2D-A71D-789BB06F3EC9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9144000" cy="10477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31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객체 그래프는 직접 참조보다 소유 경계가 먼저다.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94C252-0F07-481A-BD8A-63EBFD052EF6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028950" cy="1809750"/>
          </a:xfrm>
          <a:prstGeom prst="rect">
            <a:avLst/>
          </a:prstGeom>
          <a:solidFill>
            <a:srgbClr val="242F36"/>
          </a:solidFill>
          <a:ln w="9525">
            <a:solidFill>
              <a:srgbClr val="31424C"/>
            </a:solidFill>
          </a:ln>
        </p:spPr>
        <p:txBody>
          <a:bodyPr/>
          <a:lstStyle/>
          <a:p>
            <a:r>
              <a:rPr sz="1275">
                <a:solidFill>
                  <a:srgbClr val="F7F2E8"/>
                </a:solidFill>
                <a:latin typeface="Consolas"/>
                <a:ea typeface="Consolas"/>
                <a:cs typeface="Consolas"/>
              </a:rPr>
              <a:t>struct Widget {</a:t>
            </a:r>
          </a:p>
          <a:p>
            <a:r>
              <a:rPr sz="1275">
                <a:solidFill>
                  <a:srgbClr val="F7F2E8"/>
                </a:solidFill>
                <a:latin typeface="Consolas"/>
                <a:ea typeface="Consolas"/>
                <a:cs typeface="Consolas"/>
              </a:rPr>
              <a:t>  parent: Option&lt;&amp;Widget&gt;,</a:t>
            </a:r>
          </a:p>
          <a:p>
            <a:r>
              <a:rPr sz="1275">
                <a:solidFill>
                  <a:srgbClr val="F7F2E8"/>
                </a:solidFill>
                <a:latin typeface="Consolas"/>
                <a:ea typeface="Consolas"/>
                <a:cs typeface="Consolas"/>
              </a:rPr>
              <a:t>  children: Vec&lt;Box&lt;Widget&gt;&gt;,</a:t>
            </a:r>
          </a:p>
          <a:p>
            <a:r>
              <a:rPr sz="1275">
                <a:solidFill>
                  <a:srgbClr val="F7F2E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275">
              <a:solidFill>
                <a:srgbClr val="F7F2E8"/>
              </a:solidFill>
              <a:latin typeface="Consolas"/>
              <a:ea typeface="Consolas"/>
              <a:cs typeface="Consolas"/>
            </a:endParaRPr>
          </a:p>
          <a:p>
            <a:r>
              <a:rPr sz="1275">
                <a:solidFill>
                  <a:srgbClr val="F7F2E8"/>
                </a:solidFill>
                <a:latin typeface="Consolas"/>
                <a:ea typeface="Consolas"/>
                <a:cs typeface="Consolas"/>
              </a:rPr>
              <a:t>// lifetime problem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53F594-8690-416D-A597-53717A103AAA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2514600" cy="2857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500" b="1">
                <a:solidFill>
                  <a:srgbClr val="C7502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7502C"/>
                </a:solidFill>
                <a:latin typeface="Malgun Gothic"/>
                <a:ea typeface="Malgun Gothic"/>
                <a:cs typeface="Malgun Gothic"/>
              </a:rPr>
              <a:t>C++식 직접 참조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9FDA1E-83EC-423F-A8EE-88B51B043DB8}"/>
              </a:ext>
            </a:extLst>
          </p:cNvPr>
          <p:cNvSpPr>
            <a:spLocks noGrp="1"/>
          </p:cNvSpPr>
          <p:nvPr/>
        </p:nvSpPr>
        <p:spPr>
          <a:xfrm>
            <a:off x="4038600" y="2609850"/>
            <a:ext cx="704850" cy="4000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2700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982B83-190D-4C65-9A8B-8B6FCD88C638}"/>
              </a:ext>
            </a:extLst>
          </p:cNvPr>
          <p:cNvSpPr>
            <a:spLocks noGrp="1"/>
          </p:cNvSpPr>
          <p:nvPr/>
        </p:nvSpPr>
        <p:spPr>
          <a:xfrm>
            <a:off x="5010150" y="1752600"/>
            <a:ext cx="56578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DBC811-4D76-4DDA-BD59-F80E3BBD1FCE}"/>
              </a:ext>
            </a:extLst>
          </p:cNvPr>
          <p:cNvSpPr>
            <a:spLocks noGrp="1"/>
          </p:cNvSpPr>
          <p:nvPr/>
        </p:nvSpPr>
        <p:spPr>
          <a:xfrm>
            <a:off x="5010150" y="1752600"/>
            <a:ext cx="95250" cy="800100"/>
          </a:xfrm>
          <a:prstGeom prst="rect">
            <a:avLst/>
          </a:prstGeom>
          <a:solidFill>
            <a:srgbClr val="D8A33D"/>
          </a:solidFill>
          <a:ln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79A882-9DF3-4765-A448-CC29FEC3D89C}"/>
              </a:ext>
            </a:extLst>
          </p:cNvPr>
          <p:cNvSpPr>
            <a:spLocks noGrp="1"/>
          </p:cNvSpPr>
          <p:nvPr/>
        </p:nvSpPr>
        <p:spPr>
          <a:xfrm>
            <a:off x="5334000" y="1895475"/>
            <a:ext cx="2000250" cy="2667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Rc&lt;RefCell&lt;T&gt;&gt;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063957-C37C-41A4-A4D3-5AA9A0F00A33}"/>
              </a:ext>
            </a:extLst>
          </p:cNvPr>
          <p:cNvSpPr>
            <a:spLocks noGrp="1"/>
          </p:cNvSpPr>
          <p:nvPr/>
        </p:nvSpPr>
        <p:spPr>
          <a:xfrm>
            <a:off x="5334000" y="2209800"/>
            <a:ext cx="48768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작동은 쉽지만 런타임 borrow panic과 오버헤드를 감수한다.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170887-0AAA-44AE-A925-D87C67C2C384}"/>
              </a:ext>
            </a:extLst>
          </p:cNvPr>
          <p:cNvSpPr>
            <a:spLocks noGrp="1"/>
          </p:cNvSpPr>
          <p:nvPr/>
        </p:nvSpPr>
        <p:spPr>
          <a:xfrm>
            <a:off x="5010150" y="2857500"/>
            <a:ext cx="56578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789DC0-976E-437E-BFBE-CDE245916034}"/>
              </a:ext>
            </a:extLst>
          </p:cNvPr>
          <p:cNvSpPr>
            <a:spLocks noGrp="1"/>
          </p:cNvSpPr>
          <p:nvPr/>
        </p:nvSpPr>
        <p:spPr>
          <a:xfrm>
            <a:off x="5010150" y="2857500"/>
            <a:ext cx="95250" cy="800100"/>
          </a:xfrm>
          <a:prstGeom prst="rect">
            <a:avLst/>
          </a:prstGeom>
          <a:solidFill>
            <a:srgbClr val="2CA6A4"/>
          </a:solidFill>
          <a:ln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7F532B-A26D-4A09-B57D-1C65CC48B2C8}"/>
              </a:ext>
            </a:extLst>
          </p:cNvPr>
          <p:cNvSpPr>
            <a:spLocks noGrp="1"/>
          </p:cNvSpPr>
          <p:nvPr/>
        </p:nvSpPr>
        <p:spPr>
          <a:xfrm>
            <a:off x="5334000" y="3000375"/>
            <a:ext cx="2000250" cy="2667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Weak&lt;T&gt;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1094AA-FDFE-4DB6-A737-7959992832BB}"/>
              </a:ext>
            </a:extLst>
          </p:cNvPr>
          <p:cNvSpPr>
            <a:spLocks noGrp="1"/>
          </p:cNvSpPr>
          <p:nvPr/>
        </p:nvSpPr>
        <p:spPr>
          <a:xfrm>
            <a:off x="5334000" y="3314700"/>
            <a:ext cx="48768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순환 참조를 끊어 부모-자식 관계의 누수를 막는다.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6972CE-534D-438A-8693-1ECF51E39D66}"/>
              </a:ext>
            </a:extLst>
          </p:cNvPr>
          <p:cNvSpPr>
            <a:spLocks noGrp="1"/>
          </p:cNvSpPr>
          <p:nvPr/>
        </p:nvSpPr>
        <p:spPr>
          <a:xfrm>
            <a:off x="5010150" y="3962400"/>
            <a:ext cx="56578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7E9C43-9FE4-4923-985C-CADE604F1A70}"/>
              </a:ext>
            </a:extLst>
          </p:cNvPr>
          <p:cNvSpPr>
            <a:spLocks noGrp="1"/>
          </p:cNvSpPr>
          <p:nvPr/>
        </p:nvSpPr>
        <p:spPr>
          <a:xfrm>
            <a:off x="5010150" y="3962400"/>
            <a:ext cx="95250" cy="80010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8A102B-8236-4153-AFB2-824D55FF4D3C}"/>
              </a:ext>
            </a:extLst>
          </p:cNvPr>
          <p:cNvSpPr>
            <a:spLocks noGrp="1"/>
          </p:cNvSpPr>
          <p:nvPr/>
        </p:nvSpPr>
        <p:spPr>
          <a:xfrm>
            <a:off x="5334000" y="4105275"/>
            <a:ext cx="2000250" cy="2667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WidgetId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E5EA39-E6F5-4EF9-B601-8241BBE6A136}"/>
              </a:ext>
            </a:extLst>
          </p:cNvPr>
          <p:cNvSpPr>
            <a:spLocks noGrp="1"/>
          </p:cNvSpPr>
          <p:nvPr/>
        </p:nvSpPr>
        <p:spPr>
          <a:xfrm>
            <a:off x="5334000" y="4419600"/>
            <a:ext cx="48768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인덱스 기반 간접 참조로 트리와 그래프를 안정적으로 다룬다.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3F4903-AB73-4050-94BF-AA321729178F}"/>
              </a:ext>
            </a:extLst>
          </p:cNvPr>
          <p:cNvSpPr>
            <a:spLocks noGrp="1"/>
          </p:cNvSpPr>
          <p:nvPr/>
        </p:nvSpPr>
        <p:spPr>
          <a:xfrm>
            <a:off x="5029200" y="5219700"/>
            <a:ext cx="2457450" cy="4572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책의 권장 방향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4B847F-22F8-471C-842A-E4F989574AC1}"/>
              </a:ext>
            </a:extLst>
          </p:cNvPr>
          <p:cNvSpPr>
            <a:spLocks noGrp="1"/>
          </p:cNvSpPr>
          <p:nvPr/>
        </p:nvSpPr>
        <p:spPr>
          <a:xfrm>
            <a:off x="7677150" y="5286375"/>
            <a:ext cx="3143250" cy="3048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복잡한 관계일수록 ID, 아레나, 슬롯맵으로 참조를 명시화한다.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A88999-A7A5-469A-9849-8709C9A8A515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64770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Source: provided Markdown manuscript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D13B3A9-6A57-416C-9C0F-1865411AE1A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143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r">
              <a:def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3211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442A1B-A616-40F6-BFD7-B27EED7F28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4EA97E30-D238-4BFD-8C9D-BE281289E003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95250" cy="95250"/>
          </a:xfrm>
          <a:prstGeom prst="rect">
            <a:avLst/>
          </a:prstGeom>
          <a:solidFill>
            <a:srgbClr val="D8A33D"/>
          </a:solidFill>
          <a:ln>
            <a:noFill/>
          </a:ln>
        </p:spPr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F2B79972-DB7D-40FE-A9D3-C9EA70447C21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3429000" cy="2476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REFACTORING PLAYBOOK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5C1B8C-CF5E-4D97-9A97-4C7C4739E93D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382000" cy="6858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31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후반부는 C++ 패턴을 Rust 설계로 번역한다.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1100FA-0449-4C79-B617-C2332DE458AB}"/>
              </a:ext>
            </a:extLst>
          </p:cNvPr>
          <p:cNvSpPr>
            <a:spLocks noGrp="1"/>
          </p:cNvSpPr>
          <p:nvPr/>
        </p:nvSpPr>
        <p:spPr>
          <a:xfrm>
            <a:off x="590550" y="1676400"/>
            <a:ext cx="10439400" cy="4572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575" b="0">
                <a:solidFill>
                  <a:srgbClr val="C9D4D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단순한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문법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포팅이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소유권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이동과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불변성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우선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원칙에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맞게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API와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흐름을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다시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잡는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연습이다</a:t>
            </a:r>
            <a:r>
              <a:rPr sz="1575" b="0" dirty="0">
                <a:solidFill>
                  <a:srgbClr val="C9D4D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B75144-32AE-4330-A30F-7618CD27F381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676400" cy="7620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611B36-9BC8-4808-A8BF-25AB5F900D47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1676400" cy="723900"/>
          </a:xfrm>
          <a:prstGeom prst="rect">
            <a:avLst/>
          </a:prstGeom>
          <a:solidFill>
            <a:srgbClr val="202F38"/>
          </a:solidFill>
          <a:ln w="9525">
            <a:solidFill>
              <a:srgbClr val="405461"/>
            </a:solidFill>
          </a:ln>
        </p:spPr>
        <p:txBody>
          <a:bodyPr anchor="ctr"/>
          <a:lstStyle/>
          <a:p>
            <a:pPr algn="ctr">
              <a:def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C++ style class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C7BC1-0F4F-4358-B415-49A5F3664188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752600" cy="8191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rPr>
              <a:t>소유권을 드러내는 타입과 생성 흐름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43C80E-87B0-42CA-AF79-F3874377FB56}"/>
              </a:ext>
            </a:extLst>
          </p:cNvPr>
          <p:cNvSpPr>
            <a:spLocks noGrp="1"/>
          </p:cNvSpPr>
          <p:nvPr/>
        </p:nvSpPr>
        <p:spPr>
          <a:xfrm>
            <a:off x="2914650" y="3009900"/>
            <a:ext cx="1676400" cy="76200"/>
          </a:xfrm>
          <a:prstGeom prst="rect">
            <a:avLst/>
          </a:prstGeom>
          <a:solidFill>
            <a:srgbClr val="2CA6A4"/>
          </a:solidFill>
          <a:ln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17F9FF-C879-4A13-B54C-7DC74177639E}"/>
              </a:ext>
            </a:extLst>
          </p:cNvPr>
          <p:cNvSpPr>
            <a:spLocks noGrp="1"/>
          </p:cNvSpPr>
          <p:nvPr/>
        </p:nvSpPr>
        <p:spPr>
          <a:xfrm>
            <a:off x="2914650" y="3238500"/>
            <a:ext cx="1676400" cy="723900"/>
          </a:xfrm>
          <a:prstGeom prst="rect">
            <a:avLst/>
          </a:prstGeom>
          <a:solidFill>
            <a:srgbClr val="202F38"/>
          </a:solidFill>
          <a:ln w="9525">
            <a:solidFill>
              <a:srgbClr val="405461"/>
            </a:solidFill>
          </a:ln>
        </p:spPr>
        <p:txBody>
          <a:bodyPr anchor="ctr"/>
          <a:lstStyle/>
          <a:p>
            <a:pPr algn="ctr">
              <a:def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Getter / Setter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0B6F0F-96D2-492D-A71D-48DBB8C05115}"/>
              </a:ext>
            </a:extLst>
          </p:cNvPr>
          <p:cNvSpPr>
            <a:spLocks noGrp="1"/>
          </p:cNvSpPr>
          <p:nvPr/>
        </p:nvSpPr>
        <p:spPr>
          <a:xfrm>
            <a:off x="2876550" y="4133850"/>
            <a:ext cx="1752600" cy="8191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rPr>
              <a:t>무분별한 노출 대신 목적 중심 메서드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64086D-E3B2-49FF-8BC3-8157E47E675D}"/>
              </a:ext>
            </a:extLst>
          </p:cNvPr>
          <p:cNvSpPr>
            <a:spLocks noGrp="1"/>
          </p:cNvSpPr>
          <p:nvPr/>
        </p:nvSpPr>
        <p:spPr>
          <a:xfrm>
            <a:off x="5048250" y="3009900"/>
            <a:ext cx="1676400" cy="7620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54AE49-1B81-435C-BED8-A966F7E8697D}"/>
              </a:ext>
            </a:extLst>
          </p:cNvPr>
          <p:cNvSpPr>
            <a:spLocks noGrp="1"/>
          </p:cNvSpPr>
          <p:nvPr/>
        </p:nvSpPr>
        <p:spPr>
          <a:xfrm>
            <a:off x="5048250" y="3238500"/>
            <a:ext cx="1676400" cy="723900"/>
          </a:xfrm>
          <a:prstGeom prst="rect">
            <a:avLst/>
          </a:prstGeom>
          <a:solidFill>
            <a:srgbClr val="202F38"/>
          </a:solidFill>
          <a:ln w="9525">
            <a:solidFill>
              <a:srgbClr val="405461"/>
            </a:solidFill>
          </a:ln>
        </p:spPr>
        <p:txBody>
          <a:bodyPr anchor="ctr"/>
          <a:lstStyle/>
          <a:p>
            <a:pPr algn="ctr">
              <a:def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Builder pattern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5E4E7A-B10A-4FF4-AF62-88AF9C232089}"/>
              </a:ext>
            </a:extLst>
          </p:cNvPr>
          <p:cNvSpPr>
            <a:spLocks noGrp="1"/>
          </p:cNvSpPr>
          <p:nvPr/>
        </p:nvSpPr>
        <p:spPr>
          <a:xfrm>
            <a:off x="5010150" y="4133850"/>
            <a:ext cx="1752600" cy="8191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rPr>
              <a:t>빌림 충돌 없이 단계적으로 값 구성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F2E6A2-8E63-45B8-AD7A-C79FFCCA50E5}"/>
              </a:ext>
            </a:extLst>
          </p:cNvPr>
          <p:cNvSpPr>
            <a:spLocks noGrp="1"/>
          </p:cNvSpPr>
          <p:nvPr/>
        </p:nvSpPr>
        <p:spPr>
          <a:xfrm>
            <a:off x="7181850" y="3009900"/>
            <a:ext cx="1676400" cy="76200"/>
          </a:xfrm>
          <a:prstGeom prst="rect">
            <a:avLst/>
          </a:prstGeom>
          <a:solidFill>
            <a:srgbClr val="2CA6A4"/>
          </a:solidFill>
          <a:ln>
            <a:noFill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E57E4D-D21A-42B8-A2BF-0E763743850B}"/>
              </a:ext>
            </a:extLst>
          </p:cNvPr>
          <p:cNvSpPr>
            <a:spLocks noGrp="1"/>
          </p:cNvSpPr>
          <p:nvPr/>
        </p:nvSpPr>
        <p:spPr>
          <a:xfrm>
            <a:off x="7181850" y="3238500"/>
            <a:ext cx="1676400" cy="723900"/>
          </a:xfrm>
          <a:prstGeom prst="rect">
            <a:avLst/>
          </a:prstGeom>
          <a:solidFill>
            <a:srgbClr val="202F38"/>
          </a:solidFill>
          <a:ln w="9525">
            <a:solidFill>
              <a:srgbClr val="405461"/>
            </a:solidFill>
          </a:ln>
        </p:spPr>
        <p:txBody>
          <a:bodyPr anchor="ctr"/>
          <a:lstStyle/>
          <a:p>
            <a:pPr algn="ctr">
              <a:def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Observer pattern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67FFB6D-EB3A-4F5C-86A1-AA23FB4BC21B}"/>
              </a:ext>
            </a:extLst>
          </p:cNvPr>
          <p:cNvSpPr>
            <a:spLocks noGrp="1"/>
          </p:cNvSpPr>
          <p:nvPr/>
        </p:nvSpPr>
        <p:spPr>
          <a:xfrm>
            <a:off x="7143750" y="4133850"/>
            <a:ext cx="1752600" cy="8191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rPr>
              <a:t>리스너를 임시로 꺼내 호출하는 업데이트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A26D43-22A4-446B-A3C7-0FD053A1F647}"/>
              </a:ext>
            </a:extLst>
          </p:cNvPr>
          <p:cNvSpPr>
            <a:spLocks noGrp="1"/>
          </p:cNvSpPr>
          <p:nvPr/>
        </p:nvSpPr>
        <p:spPr>
          <a:xfrm>
            <a:off x="9315450" y="3009900"/>
            <a:ext cx="1676400" cy="7620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BFEE9D-97D8-4633-BB58-A32A2AEAF114}"/>
              </a:ext>
            </a:extLst>
          </p:cNvPr>
          <p:cNvSpPr>
            <a:spLocks noGrp="1"/>
          </p:cNvSpPr>
          <p:nvPr/>
        </p:nvSpPr>
        <p:spPr>
          <a:xfrm>
            <a:off x="9315450" y="3238500"/>
            <a:ext cx="1676400" cy="723900"/>
          </a:xfrm>
          <a:prstGeom prst="rect">
            <a:avLst/>
          </a:prstGeom>
          <a:solidFill>
            <a:srgbClr val="202F38"/>
          </a:solidFill>
          <a:ln w="9525">
            <a:solidFill>
              <a:srgbClr val="405461"/>
            </a:solidFill>
          </a:ln>
        </p:spPr>
        <p:txBody>
          <a:bodyPr anchor="ctr"/>
          <a:lstStyle/>
          <a:p>
            <a:pPr algn="ctr">
              <a:def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State machine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79A5DBF-5E3A-4200-88EA-4AEF7FB648ED}"/>
              </a:ext>
            </a:extLst>
          </p:cNvPr>
          <p:cNvSpPr>
            <a:spLocks noGrp="1"/>
          </p:cNvSpPr>
          <p:nvPr/>
        </p:nvSpPr>
        <p:spPr>
          <a:xfrm>
            <a:off x="9277350" y="4133850"/>
            <a:ext cx="1752600" cy="8191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4E6"/>
                </a:solidFill>
                <a:latin typeface="Malgun Gothic"/>
                <a:ea typeface="Malgun Gothic"/>
                <a:cs typeface="Malgun Gothic"/>
              </a:rPr>
              <a:t>상태 전이를 소유권 이동으로 표현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E36E2B7-2597-4C2B-8D14-78E992F9CF98}"/>
              </a:ext>
            </a:extLst>
          </p:cNvPr>
          <p:cNvSpPr>
            <a:spLocks noGrp="1"/>
          </p:cNvSpPr>
          <p:nvPr/>
        </p:nvSpPr>
        <p:spPr>
          <a:xfrm>
            <a:off x="876300" y="5391150"/>
            <a:ext cx="10439400" cy="19050"/>
          </a:xfrm>
          <a:prstGeom prst="rect">
            <a:avLst/>
          </a:prstGeom>
          <a:solidFill>
            <a:srgbClr val="52636B"/>
          </a:solidFill>
          <a:ln>
            <a:noFill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C7307B-C7BC-4E59-96AF-F70E139AA221}"/>
              </a:ext>
            </a:extLst>
          </p:cNvPr>
          <p:cNvSpPr>
            <a:spLocks noGrp="1"/>
          </p:cNvSpPr>
          <p:nvPr/>
        </p:nvSpPr>
        <p:spPr>
          <a:xfrm>
            <a:off x="895350" y="5657850"/>
            <a:ext cx="4762500" cy="2667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35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rPr>
              <a:t>8장: 실전 리팩토링 사례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2719894-E3B2-4197-8E41-866182868198}"/>
              </a:ext>
            </a:extLst>
          </p:cNvPr>
          <p:cNvSpPr>
            <a:spLocks noGrp="1"/>
          </p:cNvSpPr>
          <p:nvPr/>
        </p:nvSpPr>
        <p:spPr>
          <a:xfrm>
            <a:off x="6553200" y="5657850"/>
            <a:ext cx="4762500" cy="2667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r">
              <a:defRPr sz="135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rPr>
              <a:t>9장: 고급 해결 기법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3F9AA4-B2A0-4BBC-9635-8F2661F61113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64770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750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rPr>
              <a:t>Source: provided Markdown manuscript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91921B-5F10-41D7-AEE9-012C8D56AE02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143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r">
              <a:defRPr sz="825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BFC7C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6000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29736A0-F026-456C-BD1D-EC105C1CEC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23B5814F-6F09-4019-BD99-55835CDFF08D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95250" cy="9525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D0DEFA06-5396-45E7-ACDC-88D06E8DC927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3429000" cy="24765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FINAL PROJECT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29480E-FE32-4E1F-B259-9872CC41AA6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10001250" cy="10477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31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GUI 프로젝트는 책 전체의 패턴을 하나의 업데이트 루프로 묶는다.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0AFF76-7B52-468F-BAAE-363D4E9FBFCA}"/>
              </a:ext>
            </a:extLst>
          </p:cNvPr>
          <p:cNvSpPr>
            <a:spLocks noGrp="1"/>
          </p:cNvSpPr>
          <p:nvPr/>
        </p:nvSpPr>
        <p:spPr>
          <a:xfrm>
            <a:off x="1200150" y="2038350"/>
            <a:ext cx="48196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9D62D5-746D-4E80-97C5-25D687F10F7E}"/>
              </a:ext>
            </a:extLst>
          </p:cNvPr>
          <p:cNvSpPr>
            <a:spLocks noGrp="1"/>
          </p:cNvSpPr>
          <p:nvPr/>
        </p:nvSpPr>
        <p:spPr>
          <a:xfrm>
            <a:off x="1200150" y="2038350"/>
            <a:ext cx="114300" cy="781050"/>
          </a:xfrm>
          <a:prstGeom prst="rect">
            <a:avLst/>
          </a:prstGeom>
          <a:solidFill>
            <a:srgbClr val="C7502C"/>
          </a:solidFill>
          <a:ln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46A404-3819-4A5E-9940-88F8575B2C48}"/>
              </a:ext>
            </a:extLst>
          </p:cNvPr>
          <p:cNvSpPr>
            <a:spLocks noGrp="1"/>
          </p:cNvSpPr>
          <p:nvPr/>
        </p:nvSpPr>
        <p:spPr>
          <a:xfrm>
            <a:off x="1504950" y="2171700"/>
            <a:ext cx="2000250" cy="2476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기반 계층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3FF43F-BB1C-4A72-9E6C-F52F850D8E34}"/>
              </a:ext>
            </a:extLst>
          </p:cNvPr>
          <p:cNvSpPr>
            <a:spLocks noGrp="1"/>
          </p:cNvSpPr>
          <p:nvPr/>
        </p:nvSpPr>
        <p:spPr>
          <a:xfrm>
            <a:off x="1504950" y="2495550"/>
            <a:ext cx="37909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275" b="0">
                <a:solidFill>
                  <a:srgbClr val="53606A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3606A"/>
                </a:solidFill>
                <a:latin typeface="Consolas"/>
                <a:ea typeface="Consolas"/>
                <a:cs typeface="Consolas"/>
              </a:rPr>
              <a:t>WidgetTree · WidgetId · Rect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2F03A6-C534-40DD-B98B-E19CF4E62C75}"/>
              </a:ext>
            </a:extLst>
          </p:cNvPr>
          <p:cNvSpPr>
            <a:spLocks noGrp="1"/>
          </p:cNvSpPr>
          <p:nvPr/>
        </p:nvSpPr>
        <p:spPr>
          <a:xfrm>
            <a:off x="1200150" y="3143250"/>
            <a:ext cx="48196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D026CF-DE27-4223-A33F-3BD6E0447D8E}"/>
              </a:ext>
            </a:extLst>
          </p:cNvPr>
          <p:cNvSpPr>
            <a:spLocks noGrp="1"/>
          </p:cNvSpPr>
          <p:nvPr/>
        </p:nvSpPr>
        <p:spPr>
          <a:xfrm>
            <a:off x="1200150" y="3143250"/>
            <a:ext cx="114300" cy="781050"/>
          </a:xfrm>
          <a:prstGeom prst="rect">
            <a:avLst/>
          </a:prstGeom>
          <a:solidFill>
            <a:srgbClr val="2CA6A4"/>
          </a:solidFill>
          <a:ln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0067C7-88C0-4AC5-B3C4-1A6D96B92808}"/>
              </a:ext>
            </a:extLst>
          </p:cNvPr>
          <p:cNvSpPr>
            <a:spLocks noGrp="1"/>
          </p:cNvSpPr>
          <p:nvPr/>
        </p:nvSpPr>
        <p:spPr>
          <a:xfrm>
            <a:off x="1504950" y="3276600"/>
            <a:ext cx="2000250" cy="2476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이벤트 계층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5CCC39-642C-4FF6-B57B-F4665D01D519}"/>
              </a:ext>
            </a:extLst>
          </p:cNvPr>
          <p:cNvSpPr>
            <a:spLocks noGrp="1"/>
          </p:cNvSpPr>
          <p:nvPr/>
        </p:nvSpPr>
        <p:spPr>
          <a:xfrm>
            <a:off x="1504950" y="3600450"/>
            <a:ext cx="37909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275" b="0">
                <a:solidFill>
                  <a:srgbClr val="53606A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3606A"/>
                </a:solidFill>
                <a:latin typeface="Consolas"/>
                <a:ea typeface="Consolas"/>
                <a:cs typeface="Consolas"/>
              </a:rPr>
              <a:t>UiEvent · UiCommand · EventBus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242323-92D8-4CCD-A0B5-C012DAA8BFA4}"/>
              </a:ext>
            </a:extLst>
          </p:cNvPr>
          <p:cNvSpPr>
            <a:spLocks noGrp="1"/>
          </p:cNvSpPr>
          <p:nvPr/>
        </p:nvSpPr>
        <p:spPr>
          <a:xfrm>
            <a:off x="1200150" y="4248150"/>
            <a:ext cx="48196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B7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D5D234-1880-476A-A77A-91075511E9FB}"/>
              </a:ext>
            </a:extLst>
          </p:cNvPr>
          <p:cNvSpPr>
            <a:spLocks noGrp="1"/>
          </p:cNvSpPr>
          <p:nvPr/>
        </p:nvSpPr>
        <p:spPr>
          <a:xfrm>
            <a:off x="1200150" y="4248150"/>
            <a:ext cx="114300" cy="781050"/>
          </a:xfrm>
          <a:prstGeom prst="rect">
            <a:avLst/>
          </a:prstGeom>
          <a:solidFill>
            <a:srgbClr val="D8A33D"/>
          </a:solidFill>
          <a:ln>
            <a:noFill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B06076-7F1B-4320-8A49-8C1855261C6E}"/>
              </a:ext>
            </a:extLst>
          </p:cNvPr>
          <p:cNvSpPr>
            <a:spLocks noGrp="1"/>
          </p:cNvSpPr>
          <p:nvPr/>
        </p:nvSpPr>
        <p:spPr>
          <a:xfrm>
            <a:off x="1504950" y="4381500"/>
            <a:ext cx="2000250" cy="2476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애플리케이션 계층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B1AE6D-F7EB-452F-B793-682AC965C7AD}"/>
              </a:ext>
            </a:extLst>
          </p:cNvPr>
          <p:cNvSpPr>
            <a:spLocks noGrp="1"/>
          </p:cNvSpPr>
          <p:nvPr/>
        </p:nvSpPr>
        <p:spPr>
          <a:xfrm>
            <a:off x="1504950" y="4705350"/>
            <a:ext cx="37909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1275" b="0">
                <a:solidFill>
                  <a:srgbClr val="53606A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3606A"/>
                </a:solidFill>
                <a:latin typeface="Consolas"/>
                <a:ea typeface="Consolas"/>
                <a:cs typeface="Consolas"/>
              </a:rPr>
              <a:t>FormData · FormApp · run_frame()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A82AC4-7360-406B-B36D-1D2D7AA22B72}"/>
              </a:ext>
            </a:extLst>
          </p:cNvPr>
          <p:cNvSpPr>
            <a:spLocks noGrp="1"/>
          </p:cNvSpPr>
          <p:nvPr/>
        </p:nvSpPr>
        <p:spPr>
          <a:xfrm>
            <a:off x="3448050" y="2895600"/>
            <a:ext cx="495300" cy="3619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2250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FFD0ED-672A-453C-96F8-7D864B5A0B34}"/>
              </a:ext>
            </a:extLst>
          </p:cNvPr>
          <p:cNvSpPr>
            <a:spLocks noGrp="1"/>
          </p:cNvSpPr>
          <p:nvPr/>
        </p:nvSpPr>
        <p:spPr>
          <a:xfrm>
            <a:off x="3448050" y="4000500"/>
            <a:ext cx="495300" cy="3619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2250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3606A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2386A9-DDB5-4096-8848-8D36112C93D8}"/>
              </a:ext>
            </a:extLst>
          </p:cNvPr>
          <p:cNvSpPr>
            <a:spLocks noGrp="1"/>
          </p:cNvSpPr>
          <p:nvPr/>
        </p:nvSpPr>
        <p:spPr>
          <a:xfrm>
            <a:off x="7086600" y="2038350"/>
            <a:ext cx="3371850" cy="299085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9EB18C1-0224-4E50-AB0F-5595BE68A3FD}"/>
              </a:ext>
            </a:extLst>
          </p:cNvPr>
          <p:cNvSpPr>
            <a:spLocks noGrp="1"/>
          </p:cNvSpPr>
          <p:nvPr/>
        </p:nvSpPr>
        <p:spPr>
          <a:xfrm>
            <a:off x="7429500" y="2343150"/>
            <a:ext cx="2686050" cy="3238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95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D8A33D"/>
                </a:solidFill>
                <a:latin typeface="Malgun Gothic"/>
                <a:ea typeface="Malgun Gothic"/>
                <a:cs typeface="Malgun Gothic"/>
              </a:rPr>
              <a:t>독자가 가져가는 것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0BF64A-2490-46FC-97EB-119B2ED988E8}"/>
              </a:ext>
            </a:extLst>
          </p:cNvPr>
          <p:cNvSpPr>
            <a:spLocks noGrp="1"/>
          </p:cNvSpPr>
          <p:nvPr/>
        </p:nvSpPr>
        <p:spPr>
          <a:xfrm>
            <a:off x="7505700" y="3028950"/>
            <a:ext cx="2552700" cy="1219200"/>
          </a:xfrm>
          <a:prstGeom prst="rect">
            <a:avLst/>
          </a:prstGeom>
          <a:ln>
            <a:noFill/>
          </a:ln>
        </p:spPr>
        <p:txBody>
          <a:bodyPr anchor="ctr"/>
          <a:lstStyle/>
          <a:p>
            <a:pPr algn="ctr">
              <a:defRPr sz="17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빌림 오류를 해석하고</a:t>
            </a:r>
          </a:p>
          <a:p>
            <a:pPr algn="ctr">
              <a:defRPr sz="17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패턴을 선택하며</a:t>
            </a:r>
          </a:p>
          <a:p>
            <a:pPr algn="ctr">
              <a:defRPr sz="17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복잡한 구조를 안전하게 설계하는 감각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44E7A03-79EE-4261-971E-879435C4E1D2}"/>
              </a:ext>
            </a:extLst>
          </p:cNvPr>
          <p:cNvSpPr>
            <a:spLocks noGrp="1"/>
          </p:cNvSpPr>
          <p:nvPr/>
        </p:nvSpPr>
        <p:spPr>
          <a:xfrm>
            <a:off x="7734300" y="4514850"/>
            <a:ext cx="2076450" cy="381000"/>
          </a:xfrm>
          <a:prstGeom prst="rect">
            <a:avLst/>
          </a:prstGeom>
          <a:solidFill>
            <a:srgbClr val="273640"/>
          </a:solidFill>
          <a:ln w="9525">
            <a:solidFill>
              <a:srgbClr val="405461"/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compile-time confidence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2B8403-FA33-45EF-9486-52EEE6664F3D}"/>
              </a:ext>
            </a:extLst>
          </p:cNvPr>
          <p:cNvSpPr>
            <a:spLocks noGrp="1"/>
          </p:cNvSpPr>
          <p:nvPr/>
        </p:nvSpPr>
        <p:spPr>
          <a:xfrm>
            <a:off x="1276350" y="5391150"/>
            <a:ext cx="9182100" cy="419100"/>
          </a:xfrm>
          <a:prstGeom prst="rect">
            <a:avLst/>
          </a:prstGeom>
          <a:solidFill>
            <a:srgbClr val="EFE5D5"/>
          </a:solidFill>
          <a:ln>
            <a:noFill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50250C2-0876-4445-B386-83E9892B3FD1}"/>
              </a:ext>
            </a:extLst>
          </p:cNvPr>
          <p:cNvSpPr>
            <a:spLocks noGrp="1"/>
          </p:cNvSpPr>
          <p:nvPr/>
        </p:nvSpPr>
        <p:spPr>
          <a:xfrm>
            <a:off x="1524000" y="5505450"/>
            <a:ext cx="8667750" cy="20955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ctr"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기초 규칙에서 출발하지만, 끝은 GUI처럼 참조 관계가 복잡한 실제 프로그램 설계다.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37FAB2-D2D5-41EC-B78F-EBF851A050C8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647700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l">
              <a:def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Source: provided Markdown manuscript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778E49-D056-4E01-AB33-CE1E216ABA83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14350" cy="228600"/>
          </a:xfrm>
          <a:prstGeom prst="rect">
            <a:avLst/>
          </a:prstGeom>
          <a:ln>
            <a:noFill/>
          </a:ln>
        </p:spPr>
        <p:txBody>
          <a:bodyPr anchor="t"/>
          <a:lstStyle/>
          <a:p>
            <a:pPr algn="r">
              <a:def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7919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99782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Microsoft Office PowerPoint</Application>
  <DocSecurity>0</DocSecurity>
  <PresentationFormat>와이드스크린</PresentationFormat>
  <Paragraphs>134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Malgun Gothic</vt:lpstr>
      <vt:lpstr>Calibri</vt:lpstr>
      <vt:lpstr>Consolas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흥배 최</cp:lastModifiedBy>
  <cp:revision>1</cp:revision>
  <dcterms:created xsi:type="dcterms:W3CDTF">2026-06-16T13:35:12Z</dcterms:created>
  <dcterms:modified xsi:type="dcterms:W3CDTF">2026-06-16T13:41:26Z</dcterms:modified>
</cp:coreProperties>
</file>