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0"/>
            <a:ext cx="411480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76656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개발  ·  C#  ·  .NET 9  ·  MonoGame 3.8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MonoGame으로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게임 클라이언트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만들기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292608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C#과 MonoGame으로 배우는 멀티플레이 게임 클라이언트 개발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최흥배  ·  Claude AI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389888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9768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 3.8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65960" y="4297680"/>
            <a:ext cx="1389888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429768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4297680"/>
            <a:ext cx="1389888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429768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83480" y="4297680"/>
            <a:ext cx="1389888" cy="3383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4297680"/>
            <a:ext cx="13898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949440" y="457200"/>
            <a:ext cx="1645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E3D5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046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686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  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457200" cy="6035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326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6384" y="987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MonoGame과 온라인 게임의 기초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1부: 기초 개념과 환경 구축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00784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700784"/>
            <a:ext cx="457200" cy="60350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7007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통신의 기본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" y="2029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1부: 기초 개념과 환경 구축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457200" cy="60350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468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" y="25237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바이너리 프로토콜 설계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6384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2부: 네트워크 통신 구현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36976"/>
            <a:ext cx="457200" cy="60350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2369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6384" y="3291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관리와 메시지 처리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6384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2부: 네트워크 통신 구현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05072"/>
            <a:ext cx="45720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00507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86384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 프로젝트 시작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86384" y="4334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3부: MonoGame 게임 개발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932688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932688"/>
            <a:ext cx="457200" cy="60350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932688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266944" y="9875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캐릭터 만들기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66944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3부: MonoGame 게임 개발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1700784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1700784"/>
            <a:ext cx="457200" cy="6035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1700784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266944" y="1755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위치 동기화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66944" y="2029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4부: 온라인 기능 통합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0" y="2468880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2468880"/>
            <a:ext cx="457200" cy="6035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2468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5266944" y="25237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멀티플레이 게임 완성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66944" y="27980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4부: 온라인 기능 통합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236976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236976"/>
            <a:ext cx="457200" cy="6035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236976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266944" y="32918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최적화와 디버깅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266944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5부: 심화 학습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54880" y="4005072"/>
            <a:ext cx="4251960" cy="60350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005072"/>
            <a:ext cx="457200" cy="60350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54880" y="4005072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5266944" y="405993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266944" y="433425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5부: 심화 학습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572000" y="868680"/>
            <a:ext cx="0" cy="4160520"/>
          </a:xfrm>
          <a:prstGeom prst="line">
            <a:avLst/>
          </a:prstGeom>
          <a:noFill/>
          <a:ln w="10160">
            <a:solidFill>
              <a:srgbClr val="B0BEC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1장: MonoGame과 온라인 게임의 기초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6012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MonoGame이란?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44168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XNA Framework 기반 오픈소스 크로스플랫폼 게임 프레임워크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.NET으로 개발, 낮은 추상화 → 성능과 제어권 보장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macOS · Linux · iOS · Android 지원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인디 게임에 적합, Terraria · Celeste 등이 MonoGame으로 제작됨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926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92608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6012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게임 클라이언트 구조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44168"/>
            <a:ext cx="27249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클라이언트: 사용자 입력 처리, 렌더링, 서버 통신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서버: 게임 상태 관리, 클라이언트 동기화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권한 서버(Authoritative Server) 모델 → 치트 방지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기반 데이터 교환 (TCP/UDP)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606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960120"/>
            <a:ext cx="26060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960120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환경 구축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344168"/>
            <a:ext cx="2404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2022 Community 이상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9 SDK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 3.8 NuGet 패키지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new mgdesktopgl 프로젝트 생성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864108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44368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4436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개념: 게임 루프 (Game Loop)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310128"/>
            <a:ext cx="8321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Initialize: 게임 초기화 (리소스 로드, 변수 설정)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LoadContent: 텍스처·사운드 등 콘텐츠 로드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Update(GameTime): 게임 로직 처리, 입력 처리, 네트워크 수신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Draw(GameTime): SpriteBatch로 화면 렌더링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2장: 네트워크 통신의 기본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74320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74320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6012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44168"/>
            <a:ext cx="254203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TCP: 연결 지향, 순서·무결성 보장, 게임 로그인·채팅에 사용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UDP: 비연결, 빠른 전송, 위치 동기화에 활용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소켓(Socket): 네트워크 통신의 끝점(endpoint)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포트: 동일 호스트에서 여러 프로세스 구분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92608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60120"/>
            <a:ext cx="292608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60120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클라이언트-서버 아키텍처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44168"/>
            <a:ext cx="27249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클라이언트: 입력 전송, 렌더링, UX 처리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서버: 게임 상태 권한(Authority) 보유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핸드셰이크로 TCP 연결 수립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ConnectAsync로 비동기 연결 (타임아웃 5초)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60120"/>
            <a:ext cx="26060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960120"/>
            <a:ext cx="26060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960120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바이너리 직렬화 원리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344168"/>
            <a:ext cx="24048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JSON·XML 대비 낮은 오버헤드 → 게임에 최적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BinaryPrimitives: 정수·부동소수 직렬화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 바이트 순서 일관 사용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= 헤더(타입+길이) + 페이로드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86410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35808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358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4계층 (게임 통신 관점)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429000"/>
            <a:ext cx="1965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429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계층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8221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패킷 프로토콜 (패킷 타입, 직렬화)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32888" y="3429000"/>
            <a:ext cx="1965960" cy="34747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2888" y="3429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계층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32888" y="38221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(신뢰성) / UDP (속도)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54296" y="3429000"/>
            <a:ext cx="19659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54296" y="3429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계층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54296" y="38221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라우팅, 주소 지정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75704" y="3429000"/>
            <a:ext cx="1965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75704" y="3429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인터페이스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75704" y="382219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물리적 데이터 전송 (이더넷 등)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3장: 바이너리 프로토콜 설계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114800" cy="28803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4114800" cy="32918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구조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" y="1417320"/>
            <a:ext cx="13716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41732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PacketType (1 byte)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463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종류 식별자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(Login=1, Position=2, Chat=3…)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167128"/>
            <a:ext cx="137160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67128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(2 bytes)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페이로드 전체 길이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BinaryPrimitives.WriteUInt16LittleEndian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" y="2916936"/>
            <a:ext cx="1371600" cy="5669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1693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(N bytes)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9626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데이터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(플레이어ID, 좌표, 메시지 등)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6576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헤더: 3 bytes   /   LoginPacket: ~12B   /   PositionUpdate: 15B   /   ChatPacket: 가변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987552"/>
            <a:ext cx="425196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987552"/>
            <a:ext cx="42519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987552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PacketType 상수 정의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1371600"/>
            <a:ext cx="405079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= 1, LoginResponse = 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PositionUpdate = 3, ChatMessage = 4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PlayerJoin = 5, PlayerLeave = 6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= 10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450592"/>
            <a:ext cx="425196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450592"/>
            <a:ext cx="425196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450592"/>
            <a:ext cx="4087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BinaryPrimitives 직렬화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2834640"/>
            <a:ext cx="405079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WriteInt32LittleEndian / ReadInt32LittleEndian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WriteSingleLittleEndian → float 좌표 기록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Span&lt;byte&gt; 활용으로 힙 할당 최소화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PacketBuffer로 수신 버퍼 누적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703320"/>
            <a:ext cx="4251960" cy="1143000"/>
          </a:xfrm>
          <a:prstGeom prst="rect">
            <a:avLst/>
          </a:prstGeom>
          <a:solidFill>
            <a:srgbClr val="1E2A38"/>
          </a:solidFill>
          <a:ln w="10160">
            <a:solidFill>
              <a:srgbClr val="2D3E5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794760"/>
            <a:ext cx="40233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패킷 송신 예시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buf = new byte[3 + payload.Length];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buf[0] = (byte)PacketType.PositionUpdate;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BinaryPrimitives.WriteUInt16LittleEndian(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buf.AsSpan(1), (ushort)payload.Length);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payload.CopyTo(buf.AsSpan(3));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_stream.WriteAsync(buf);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4장: 연결 관리와 메시지 처리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74320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74320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연결 관리 (NetworkClient)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54203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ConnectAsync: CancellationToken 5초 타임아웃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SendPacketAsync: 직렬화 후 스트림 전송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StartReceivingAsync: 백그라운드 수신 루프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연결 해제·재연결·에러 핸들링 포함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987552"/>
            <a:ext cx="2926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87552"/>
            <a:ext cx="292608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0128" y="98755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패킷 수신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371600"/>
            <a:ext cx="27249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NetworkStream.ReadAsync로 헤더 3바이트 수신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페이로드 길이 파싱 후 나머지 수신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PacketReceiver 클래스로 수신 로직 캡슐화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멀티스레드 환경에서 안전한 버퍼 처리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987552"/>
            <a:ext cx="26060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987552"/>
            <a:ext cx="260604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987552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처리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8232" y="1371600"/>
            <a:ext cx="240487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ConcurrentQueue&lt;Packet&gt;으로 스레드 안전 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MessageProcessor.RegisterHandler(type, handler)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Update() 루프에서 큐 Dequeue &amp; 디스패치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Thread에서만 상태 변경 → 동기화 문제 해소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8641080" cy="1847088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71800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7180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흐름도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364992"/>
            <a:ext cx="129844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01368" y="3364992"/>
            <a:ext cx="1298448" cy="64008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NetworkStream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3364992"/>
            <a:ext cx="1298448" cy="6400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PacketReceiver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파싱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3364992"/>
            <a:ext cx="1298448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ConcurrentQueue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3364992"/>
            <a:ext cx="1298448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Update()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디스패치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70648" y="3364992"/>
            <a:ext cx="1298448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3364992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게임 상태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업데이트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5장: MonoGame 프로젝트 시작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65176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65176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생성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45059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new mgdesktopgl -n MyGame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Content/ 폴더: 리소스 파일 관리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Game1.cs: 기본 게임 클래스 (Game 상속)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MGCB Editor로 콘텐츠 빌드 파이프라인 관리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987552"/>
            <a:ext cx="292608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87552"/>
            <a:ext cx="292608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98755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기본 게임 루프 이해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27832" y="1371600"/>
            <a:ext cx="272491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Initialize(): 변수 초기화, 네트워크 연결 시작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LoadContent(): Texture2D·SpriteFont 로드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Update(GameTime): 입력·네트워크·로직 처리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Draw(GameTime): SpriteBatch.Begin/Draw/End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GameTime.ElapsedGameTime.TotalSeconds: 프레임 δt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987552"/>
            <a:ext cx="265176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987552"/>
            <a:ext cx="265176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9875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GameManager 분리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1371600"/>
            <a:ext cx="245059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Game1 클래스를 단순 진입점으로 유지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GameManager가 플레이어·네트워크·UI 관리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SceneManager로 화면 전환 추상화 가능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관심사 분리 → 유지보수성 향상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389120" cy="2148840"/>
          </a:xfrm>
          <a:prstGeom prst="rect">
            <a:avLst/>
          </a:prstGeom>
          <a:solidFill>
            <a:srgbClr val="1E2A38"/>
          </a:solidFill>
          <a:ln w="1016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35808"/>
            <a:ext cx="416052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Update: 게임 로직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Update(GameTime gt)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dt = (float)gt.ElapsedGameTime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.TotalSeconds;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_inputManager.Update();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_networkClient.ProcessMessages();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_player.Update(dt);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Draw: 렌더링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Draw(GameTime gt)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_spriteBatch.Begin();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_player.Draw(_spriteBatch);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_spriteBatch.End();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944368"/>
            <a:ext cx="4023360" cy="1856232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2944368"/>
            <a:ext cx="402336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944368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렌더링 핵심 메서드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3328416"/>
            <a:ext cx="382219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SpriteBatch.Begin()/End() — 렌더 배치 시작/종료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Draw(texture, position, color) — 기본 스프라이트 그리기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DrawString(font, text, pos, color) — UI 텍스트 출력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MathHelper.Clamp() — 화면 경계 제한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IsFixedTimeStep = true — 고정 프레임레이트 (60fps)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6장: 간단한 플레이어 캐릭터 만들기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7889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78892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 &amp; Texture2D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5877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Texture2D: GPU에 업로드된 이미지 리소스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SpriteGenerator: Content 없이 동적 텍스처 생성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Content.Load&lt;Texture2D&gt;("player") — 파일 로드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Rectangle(x,y,w,h)로 스프라이트 시트 잘라내기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2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7552"/>
            <a:ext cx="283464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875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InputManager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371600"/>
            <a:ext cx="26334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Keyboard.GetState()로 현재 키 상태 조회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IsKeyDown: 키 누르는 중 / IsKeyUp: 키 뗀 상태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IsKeyPressed: 이번 프레임에 처음 눌림 (엣지 감지)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IsKeyReleased: 이번 프레임에 뗌 (엣지 감지)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987552"/>
            <a:ext cx="26243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987552"/>
            <a:ext cx="2624328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98755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클래스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9944" y="13716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Position(Vector2), Velocity(Vector2), Speed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PlayerState enum: Idle/Moving/Attacking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대각선 이동 시 Velocity.Normalize() 필수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상태에 따른 스프라이트 변경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4572000" cy="1828800"/>
          </a:xfrm>
          <a:prstGeom prst="rect">
            <a:avLst/>
          </a:prstGeom>
          <a:solidFill>
            <a:srgbClr val="1E2A38"/>
          </a:solidFill>
          <a:ln w="1016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90672"/>
            <a:ext cx="43434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대각선 이동 정규화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velocity = Vector2.Zero;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(_input.IsKeyDown(Keys.W)) velocity.Y -=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(_input.IsKeyDown(Keys.S)) velocity.Y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(_input.IsKeyDown(Keys.A)) velocity.X -=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(_input.IsKeyDown(Keys.D)) velocity.X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(velocity.LengthSquared() &gt;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velocity.Normalize();   // 대각선도 동일 속도 유지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+= velocity * Speed * deltaTime;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= Vector2.Clamp(Position, Vector2.Zero, _bounds);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999232"/>
            <a:ext cx="38404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74920" y="2999232"/>
            <a:ext cx="3840480" cy="32918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999232"/>
            <a:ext cx="3675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PlayerState &amp; 애니메이션 흐름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93792" y="3383280"/>
            <a:ext cx="363931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Moving: 방향키 입력 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→ Idle: 모든 방향키 해제 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→ Attacking: 공격키 입력 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State에 따른 스프라이트 프레임 선택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animTimer로 프레임 교체 타이밍 관리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7장: 플레이어 위치 동기화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7889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78892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PositionUpdate 패킷 (15 bytes)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5877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1B: PacketType.PositionUpdate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2B: 페이로드 길이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4B: Player ID (int32)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4B: X 좌표 (float)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4B: Y 좌표 (float)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1B: Direction (byte)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2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7552"/>
            <a:ext cx="283464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875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PositionSynchronizer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371600"/>
            <a:ext cx="26334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0.1초(100ms) 간격으로 위치 패킷 전송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임계치(Threshold) 이상 이동 시에만 전송 (최적화)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syncTimer += deltaTime으로 전송 타이밍 관리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전송 위치와 현재 위치 비교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987552"/>
            <a:ext cx="26243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987552"/>
            <a:ext cx="2624328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98755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RemotePlayerManager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9944" y="13716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Dictionary&lt;int, RemotePlayer&gt;로 원격 플레이어 관리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UpdatePlayer(id, x, y, dir): 수신 위치 업데이트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수신 시간 기록 → 타임아웃 시 제거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RemotePlayer는 선형 보간(Lerp)으로 부드럽게 이동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8641080" cy="1819656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992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동기화 흐름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392424"/>
            <a:ext cx="1298448" cy="6583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 플레이어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01368" y="3392424"/>
            <a:ext cx="1298448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Synchronizer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0.1초 체크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3392424"/>
            <a:ext cx="1298448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서버로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전송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3392424"/>
            <a:ext cx="1298448" cy="65836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서버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브로드캐스트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3392424"/>
            <a:ext cx="1298448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다른 클라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 수신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70648" y="3392424"/>
            <a:ext cx="1298448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3392424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Lerp 보간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부드러운 이동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8장: 간단한 멀티플레이 게임 완성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6517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65176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기능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4505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ChatPacket: BinaryWriter로 가변 길이 직렬화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BinaryReader.ReadString()으로 역직렬화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TextBox UI로 입력 처리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채팅 메시지 리스트 화면에 오버레이 표시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08960" y="987552"/>
            <a:ext cx="292608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87552"/>
            <a:ext cx="292608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987552"/>
            <a:ext cx="2761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GameState 관리 (enum)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27832" y="1371600"/>
            <a:ext cx="272491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Connecting: 서버 연결 대기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Connected: 연결 완료, 로그인 전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InGame: 게임 플레이 중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Disconnected: 연결 끊김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Error: 오류 발생 상태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987552"/>
            <a:ext cx="265176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987552"/>
            <a:ext cx="2651760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98755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CompleteMultiplayerGame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82512" y="1371600"/>
            <a:ext cx="245059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PlayerJoinPacket / PlayerLeavePacket 처리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NetworkHandler로 패킷 타입별 분기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HUD: 접속 플레이어 수, 레이턴시 표시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로컬·원격 플레이어 통합 렌더링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8641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992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멀티플레이 게임 구조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3401568"/>
            <a:ext cx="1298448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InputManager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(키 입력)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01368" y="3401568"/>
            <a:ext cx="1298448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0136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(로컬)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3401568"/>
            <a:ext cx="1298448" cy="6400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RemotePlayer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36008" y="3401568"/>
            <a:ext cx="1298448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NetworkClient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(TCP 연결)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53328" y="3401568"/>
            <a:ext cx="1298448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5332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ChatSystem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(채팅)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70648" y="3401568"/>
            <a:ext cx="1298448" cy="6400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70648" y="340156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HUD/UI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(오버레이)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모두 CompleteMultiplayerGame 클래스에서 통합 관리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9장: 성능 최적화와 디버깅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7889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788920" cy="32918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트래픽 최소화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58775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델타 압축: 변경된 좌표만 전송 (임계치 비교)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배칭: 큐에 모았다가 일정 주기로 일괄 전송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압축: float(4B) → short(2B), 방향 → 1byte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전송 빈도 조절: 위치 100ms, 채팅은 즉시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2"/>
            <a:ext cx="283464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7552"/>
            <a:ext cx="283464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875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프레임 동기화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371600"/>
            <a:ext cx="2633472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IsFixedTimeStep = true (기본 60fps)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TargetElapsedTime으로 목표 프레임 설정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NetworkTimingSynchronization: 서버 시간 동기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 사이드 예측(Prediction)으로 지연 은폐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롤백(Rollback) 메커니즘 기초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987552"/>
            <a:ext cx="2624328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987552"/>
            <a:ext cx="2624328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98755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디버깅 도구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9944" y="1371600"/>
            <a:ext cx="242316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NetworkPacketAnalyzer: 패킷 로그 기록·분석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PerformanceMonitor: FPS·레이턴시·패킷수 추적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GameLogger: 파일 기반 로그, 레벨별 필터링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Wireshark로 실제 네트워크 트래픽 분석 가능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035808"/>
            <a:ext cx="8641080" cy="178308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35808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0358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최적화 기법 비교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429000"/>
            <a:ext cx="1371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29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델타 압축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874520" y="3465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이전: 매 프레임 X,Y 전송 (8B)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이후: 변화량만 전송 (2~4B)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98080" y="3465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 절감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58768"/>
            <a:ext cx="1371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587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메시지 배칭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874520" y="38953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이전: 패킷마다 즉시 전송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89534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이후: 100ms마다 묶어서 전송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498080" y="38953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헤더 오버헤드 감소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288536"/>
            <a:ext cx="13716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885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압축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874520" y="43251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이전: float 좌표 (4B×2=8B)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325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이후: short 좌표 (2B×2=4B)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0" y="43251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크기 감소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8686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155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10장: 다음 단계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278892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87552"/>
            <a:ext cx="2788920" cy="329184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98755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 네트워킹 라이브러리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258775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PUN: 클라우드 기반 멀티플레이 서비스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LiteNetLib: 경량 UDP 라이브러리 (C#)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/ Netcode for GameObjects (Unity)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ENet: 신뢰성 있는 UDP, 저지연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987552"/>
            <a:ext cx="2834640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87552"/>
            <a:ext cx="283464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55848" y="987552"/>
            <a:ext cx="2670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확장 방향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64992" y="1371600"/>
            <a:ext cx="2633472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/ Inventory / Combat System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/ QuestManager 시스템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QuadTree로 공간 분할 → 광역 쿼리 최적화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Animator / ParticleEmitter / SoundManager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PlayerSaveData / GameSaveManager (세이브 시스템)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91072" y="987552"/>
            <a:ext cx="2624328" cy="19202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987552"/>
            <a:ext cx="2624328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987552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NetworkObject 패턴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9944" y="1371600"/>
            <a:ext cx="24231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INetworkObject 인터페이스로 추상화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NetworkObjectManager로 통합 관리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NetworkBehaviour + RPC 패턴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속성 자동 동기화 (SyncVar 개념)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99232"/>
            <a:ext cx="8641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99232"/>
            <a:ext cx="8641080" cy="3108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99923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완성 체크리스트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3383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게임플레이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플레이어 이동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멀티플레이 동기화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채팅 시스템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입장/퇴장 처리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10128" y="3383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요소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네트워크 에러 처리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재연결 로직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패킷 암호화 고려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서버 인증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08776" y="33832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출시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로딩 화면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설정 저장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패키징 (Windows EXE)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성능 프로파일링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3364992"/>
            <a:ext cx="0" cy="137160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7336" y="3364992"/>
            <a:ext cx="0" cy="137160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640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여정을 마치며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200400" cy="45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책에서 배운 것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1부  기초: MonoGame 구조와 .NET 네트워크 API 이해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  구현: TCP 바이너리 프로토콜 설계 및 패킷 핸들러 구현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3부  게임: MonoGame 게임 루프, 스프라이트, 플레이어 구현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4부  통합: 위치 동기화, 채팅, 완성된 멀티플레이 게임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5부  심화: 성능 최적화, 디버깅, 고급 패턴 및 확장 방향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852160" y="1097280"/>
            <a:ext cx="3017520" cy="1691640"/>
          </a:xfrm>
          <a:prstGeom prst="rect">
            <a:avLst/>
          </a:prstGeom>
          <a:solidFill>
            <a:srgbClr val="1B3A5C"/>
          </a:solidFill>
          <a:ln w="10160">
            <a:solidFill>
              <a:srgbClr val="2D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52160" y="1097280"/>
            <a:ext cx="3017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61888" y="10972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기술 스택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61888" y="1499616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.NET 9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MonoGame 3.8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 소켓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BinaryPrimitives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52160" y="3017520"/>
            <a:ext cx="3017520" cy="1691640"/>
          </a:xfrm>
          <a:prstGeom prst="rect">
            <a:avLst/>
          </a:prstGeom>
          <a:solidFill>
            <a:srgbClr val="1B3A5C"/>
          </a:solidFill>
          <a:ln w="10160">
            <a:solidFill>
              <a:srgbClr val="2D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0" y="3017520"/>
            <a:ext cx="301752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301752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도전 과제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61888" y="3419856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사이드 구현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클라우드 연동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Unity로 확장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상용 게임 출시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9728" y="4754880"/>
            <a:ext cx="9034272" cy="38862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저자: 최흥배  ·  Claude AI      |      MonoGame으로 온라인 게임 클라이언트 만들기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MonoGame으로 온라인 게임 클라이언트 만들기</dc:title>
  <dc:subject>PptxGenJS Presentation</dc:subject>
  <dc:creator>최흥배, Claude AI</dc:creator>
  <cp:lastModifiedBy>최흥배, Claude AI</cp:lastModifiedBy>
  <cp:revision>1</cp:revision>
  <dcterms:created xsi:type="dcterms:W3CDTF">2026-05-12T14:50:35Z</dcterms:created>
  <dcterms:modified xsi:type="dcterms:W3CDTF">2026-05-12T14:50:35Z</dcterms:modified>
</cp:coreProperties>
</file>