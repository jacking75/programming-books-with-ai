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ec0b8d27041f1" /><Relationship Type="http://schemas.openxmlformats.org/officeDocument/2006/relationships/extended-properties" Target="/docProps/app.xml" Id="Reb25102a548e4918" /><Relationship Type="http://schemas.openxmlformats.org/officeDocument/2006/relationships/officeDocument" Target="/ppt/presentation.xml" Id="Rebbf66276ffb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6e758831fc41c9"/>
  </p:sldMasterIdLst>
  <p:notesMasterIdLst>
    <p:notesMasterId xmlns:r="http://schemas.openxmlformats.org/officeDocument/2006/relationships" r:id="R1b99c634373d4cfd"/>
  </p:notesMasterIdLst>
  <p:sldIdLst>
    <p:sldId xmlns:r="http://schemas.openxmlformats.org/officeDocument/2006/relationships" id="256" r:id="R84ad7e3b94d74c5c"/>
    <p:sldId xmlns:r="http://schemas.openxmlformats.org/officeDocument/2006/relationships" id="257" r:id="R440391cf7db84554"/>
    <p:sldId xmlns:r="http://schemas.openxmlformats.org/officeDocument/2006/relationships" id="258" r:id="Rb1d39947eaf3453b"/>
    <p:sldId xmlns:r="http://schemas.openxmlformats.org/officeDocument/2006/relationships" id="259" r:id="Rede11b6815ce4de8"/>
    <p:sldId xmlns:r="http://schemas.openxmlformats.org/officeDocument/2006/relationships" id="260" r:id="Rbc6e463812924bf2"/>
    <p:sldId xmlns:r="http://schemas.openxmlformats.org/officeDocument/2006/relationships" id="261" r:id="R9d03a33faa764555"/>
    <p:sldId xmlns:r="http://schemas.openxmlformats.org/officeDocument/2006/relationships" id="262" r:id="R94e22d2a85cb4ad6"/>
    <p:sldId xmlns:r="http://schemas.openxmlformats.org/officeDocument/2006/relationships" id="263" r:id="R222bc9153e2e48c5"/>
    <p:sldId xmlns:r="http://schemas.openxmlformats.org/officeDocument/2006/relationships" id="264" r:id="R2383f535339a453e"/>
    <p:sldId xmlns:r="http://schemas.openxmlformats.org/officeDocument/2006/relationships" id="265" r:id="R2f3236847e5441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1beee0aef64277" /><Relationship Type="http://schemas.openxmlformats.org/officeDocument/2006/relationships/slideMaster" Target="/ppt/slideMasters/slideMaster1.xml" Id="Rf16e758831fc41c9" /><Relationship Type="http://schemas.openxmlformats.org/officeDocument/2006/relationships/notesMaster" Target="/ppt/notesMasters/notesMaster1.xml" Id="R1b99c634373d4cfd" /><Relationship Type="http://schemas.openxmlformats.org/officeDocument/2006/relationships/presProps" Target="/ppt/presProps.xml" Id="R9dad93b87e324fe4" /><Relationship Type="http://schemas.openxmlformats.org/officeDocument/2006/relationships/viewProps" Target="/ppt/viewProps.xml" Id="R55b775f359394382" /><Relationship Type="http://schemas.openxmlformats.org/officeDocument/2006/relationships/tableStyles" Target="/ppt/tableStyles.xml" Id="R80b56318e7a64455" /><Relationship Type="http://schemas.openxmlformats.org/officeDocument/2006/relationships/slide" Target="/ppt/slides/slide1.xml" Id="R84ad7e3b94d74c5c" /><Relationship Type="http://schemas.openxmlformats.org/officeDocument/2006/relationships/slide" Target="/ppt/slides/slide2.xml" Id="R440391cf7db84554" /><Relationship Type="http://schemas.openxmlformats.org/officeDocument/2006/relationships/slide" Target="/ppt/slides/slide3.xml" Id="Rb1d39947eaf3453b" /><Relationship Type="http://schemas.openxmlformats.org/officeDocument/2006/relationships/slide" Target="/ppt/slides/slide4.xml" Id="Rede11b6815ce4de8" /><Relationship Type="http://schemas.openxmlformats.org/officeDocument/2006/relationships/slide" Target="/ppt/slides/slide5.xml" Id="Rbc6e463812924bf2" /><Relationship Type="http://schemas.openxmlformats.org/officeDocument/2006/relationships/slide" Target="/ppt/slides/slide6.xml" Id="R9d03a33faa764555" /><Relationship Type="http://schemas.openxmlformats.org/officeDocument/2006/relationships/slide" Target="/ppt/slides/slide7.xml" Id="R94e22d2a85cb4ad6" /><Relationship Type="http://schemas.openxmlformats.org/officeDocument/2006/relationships/slide" Target="/ppt/slides/slide8.xml" Id="R222bc9153e2e48c5" /><Relationship Type="http://schemas.openxmlformats.org/officeDocument/2006/relationships/slide" Target="/ppt/slides/slide9.xml" Id="R2383f535339a453e" /><Relationship Type="http://schemas.openxmlformats.org/officeDocument/2006/relationships/slide" Target="/ppt/slides/slide10.xml" Id="R2f3236847e54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b36a1423f46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b878523b64c5d" /><Relationship Type="http://schemas.openxmlformats.org/officeDocument/2006/relationships/notesMaster" Target="/ppt/notesMasters/notesMaster1.xml" Id="R831334d720a2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d0b31ca19c49ba" /><Relationship Type="http://schemas.openxmlformats.org/officeDocument/2006/relationships/notesMaster" Target="/ppt/notesMasters/notesMaster1.xml" Id="Rc6ca1696b37d4c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9aa3bf235b4d01" /><Relationship Type="http://schemas.openxmlformats.org/officeDocument/2006/relationships/notesMaster" Target="/ppt/notesMasters/notesMaster1.xml" Id="R926a0af0459f4c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03e635e9aa4c3b" /><Relationship Type="http://schemas.openxmlformats.org/officeDocument/2006/relationships/notesMaster" Target="/ppt/notesMasters/notesMaster1.xml" Id="Re2d6562f6be044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72bb535a9145f8" /><Relationship Type="http://schemas.openxmlformats.org/officeDocument/2006/relationships/notesMaster" Target="/ppt/notesMasters/notesMaster1.xml" Id="R72823c0524c041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91f8b1e93e404b" /><Relationship Type="http://schemas.openxmlformats.org/officeDocument/2006/relationships/notesMaster" Target="/ppt/notesMasters/notesMaster1.xml" Id="R9d19a4c6fc464b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51bde2dbd417b" /><Relationship Type="http://schemas.openxmlformats.org/officeDocument/2006/relationships/notesMaster" Target="/ppt/notesMasters/notesMaster1.xml" Id="R9151f807f4534e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0e5e0d62c0435d" /><Relationship Type="http://schemas.openxmlformats.org/officeDocument/2006/relationships/notesMaster" Target="/ppt/notesMasters/notesMaster1.xml" Id="Rc7ee186b6af14f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c93e55584d4240" /><Relationship Type="http://schemas.openxmlformats.org/officeDocument/2006/relationships/notesMaster" Target="/ppt/notesMasters/notesMaster1.xml" Id="R538c991e80e94e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04d9ffd7aa4f62" /><Relationship Type="http://schemas.openxmlformats.org/officeDocument/2006/relationships/notesMaster" Target="/ppt/notesMasters/notesMaster1.xml" Id="Rde614a3c8108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24a181a13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07e832a604b42" /><Relationship Type="http://schemas.openxmlformats.org/officeDocument/2006/relationships/slideLayout" Target="/ppt/slideLayouts/slideLayout1.xml" Id="Rfaf6b80d2fa3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6b80d2fa3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3ea423abb48f3" /><Relationship Type="http://schemas.openxmlformats.org/officeDocument/2006/relationships/notesSlide" Target="/ppt/notesSlides/notesSlide1.xml" Id="Rc1af56a7a122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195ef4dd940ed" /><Relationship Type="http://schemas.openxmlformats.org/officeDocument/2006/relationships/notesSlide" Target="/ppt/notesSlides/notesSlide2.xml" Id="Rf7e20b50bc4e47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240c7f0d44a23" /><Relationship Type="http://schemas.openxmlformats.org/officeDocument/2006/relationships/notesSlide" Target="/ppt/notesSlides/notesSlide3.xml" Id="R54d68e29bc614e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0ea1c8024152" /><Relationship Type="http://schemas.openxmlformats.org/officeDocument/2006/relationships/notesSlide" Target="/ppt/notesSlides/notesSlide4.xml" Id="Rdf0c170d390d4b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ba9039b84641" /><Relationship Type="http://schemas.openxmlformats.org/officeDocument/2006/relationships/notesSlide" Target="/ppt/notesSlides/notesSlide5.xml" Id="R54a429c5efec48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462b7882b4889" /><Relationship Type="http://schemas.openxmlformats.org/officeDocument/2006/relationships/notesSlide" Target="/ppt/notesSlides/notesSlide6.xml" Id="R774515101dc749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65173737243a1" /><Relationship Type="http://schemas.openxmlformats.org/officeDocument/2006/relationships/notesSlide" Target="/ppt/notesSlides/notesSlide7.xml" Id="Rac1a1721d3c8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ec7cc6af54967" /><Relationship Type="http://schemas.openxmlformats.org/officeDocument/2006/relationships/notesSlide" Target="/ppt/notesSlides/notesSlide8.xml" Id="R33f84f80f40542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552c24aa34b27" /><Relationship Type="http://schemas.openxmlformats.org/officeDocument/2006/relationships/notesSlide" Target="/ppt/notesSlides/notesSlide9.xml" Id="Rbcbfd83ca8464e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3cff82ed54066" /><Relationship Type="http://schemas.openxmlformats.org/officeDocument/2006/relationships/notesSlide" Target="/ppt/notesSlides/notesSlide10.xml" Id="Rfb394d25c5bc43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4F8E1-A34D-4FD5-9BDD-16E2AE9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25C7F-8C2F-45ED-AA12-31AE7DF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4FA70-4BA8-42CE-A848-C1376AE4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9A26B-5FC2-4791-879F-38BC7A71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A12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7A12E"/>
                </a:solidFill>
                <a:latin typeface="Malgun Gothic"/>
                <a:ea typeface="Malgun Gothic"/>
                <a:cs typeface="Malgun Gothic"/>
              </a:rPr>
              <a:t>C++23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D3D4A-5E42-4F6A-BB22-34516531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메모리 모델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완벽 가이드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0EB5F-5923-42D7-AE78-A39A3A81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6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DE6EF"/>
                </a:solidFill>
                <a:latin typeface="Malgun Gothic"/>
                <a:ea typeface="Malgun Gothic"/>
                <a:cs typeface="Malgun Gothic"/>
              </a:rPr>
              <a:t>Memory Order를 “문법”이 아니라</a:t>
            </a:r>
          </a:p>
          <a:p xmlns:a="http://schemas.openxmlformats.org/drawingml/2006/main">
            <a:pPr algn="l">
              <a:defRPr sz="1800" b="0">
                <a:solidFill>
                  <a:srgbClr val="DDE6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DE6EF"/>
                </a:solidFill>
                <a:latin typeface="Malgun Gothic"/>
                <a:ea typeface="Malgun Gothic"/>
                <a:cs typeface="Malgun Gothic"/>
              </a:rPr>
              <a:t>고성능 멀티스레드 설계의 판단 체계로 설명하는 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E9675-7164-4D64-B101-BF0169C7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C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7C2CF"/>
                </a:solidFill>
                <a:latin typeface="Malgun Gothic"/>
                <a:ea typeface="Malgun Gothic"/>
                <a:cs typeface="Malgun Gothic"/>
              </a:rPr>
              <a:t>저자: 최흥배, Claude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C0735-D786-4FCD-853C-F31F2D6A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47FCA-1F8B-4E49-8B4E-F9F3E0AA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239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seq_cst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80D07-4403-417E-B293-E1DADDDF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93172-E2B0-4601-A09B-40FDF429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669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acq_rel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15173-7308-4102-80B1-B6FBEE60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1800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A6D81-5DD4-4DA3-A7E0-0C930BF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98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release / acquire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826DB-E30F-4158-86D7-BEBC55A6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1400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CCEDB-E365-4EB3-9000-2D62ADA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5D72B-DA58-428F-8C90-020CD4A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64360-D494-40E9-8FC1-12919520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957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relaxed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A2FF7-FB13-40F5-BE16-6BAC1B2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66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보장 강도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0D51A-6273-4CF7-9241-17B9C934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53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성능 여지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4E51E-7A0E-4878-9605-F003F52F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8D0D8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B72EF-07B5-4FC9-A79B-CF0DEE19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D0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12836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7296C-643C-4046-BE6C-4FE240A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D89BB85-A79D-49F2-9D6D-CE03A836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ABBE23C-2327-4C4E-9DB1-A456365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PROBLEM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6123D-5D56-4289-A61A-886C3D9C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이 책의 출발점은 “정상처럼 보이는 코드도 틀릴 수 있다”는 사실이다.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FCCBB-6B88-4E9B-AE9E-C5E5E506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CPU 캐시, 컴파일러 재배치, 스레드 간 가시성이 한 줄짜리 플래그 코드까지 흔든다.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2CE5E-E5DD-45B3-BD13-43783615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79577-AE1C-4CC4-929A-663E560F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13D62-7B30-48DE-A347-FB8F06AB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rPr>
              <a:t>데이터 레이스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3C588-975C-4CB3-806B-8B4CF30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data와 ready가 동시에 접근되면 결과는 정의되지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14CA0-521C-468C-84A7-3EFF65D9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207FB-72C1-4898-A354-8DE3BCA3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6D504-3022-4F79-BE3F-F4AE832C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캐시 가시성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6821F-7393-4CAB-BBCE-0B12F6E3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한 코어의 L1에만 남은 값은 다른 스레드에서 보이지 않을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D6E33-B4A4-4E92-B48F-ADABF53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89030-4647-4E15-8B0B-262399E3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62A4D-676C-4342-99C9-0336C87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A1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7A12E"/>
                </a:solidFill>
                <a:latin typeface="Malgun Gothic"/>
                <a:ea typeface="Malgun Gothic"/>
                <a:cs typeface="Malgun Gothic"/>
              </a:rPr>
              <a:t>명령 재배치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2FF25-127C-4834-A041-7EB03DE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컴파일러와 CPU는 성능을 위해 실행 순서를 바꿀 수 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4883C-09F1-4354-9566-67D18B0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CDD6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733A8-8398-4FBD-9EB1-AFCFF17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3467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14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53143"/>
                </a:solidFill>
                <a:latin typeface="Consolas"/>
                <a:ea typeface="Consolas"/>
                <a:cs typeface="Consolas"/>
              </a:rPr>
              <a:t>data = 42;</a:t>
            </a:r>
          </a:p>
          <a:p xmlns:a="http://schemas.openxmlformats.org/drawingml/2006/main">
            <a:pPr algn="l">
              <a:defRPr sz="1275" b="0">
                <a:solidFill>
                  <a:srgbClr val="25314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53143"/>
                </a:solidFill>
                <a:latin typeface="Consolas"/>
                <a:ea typeface="Consolas"/>
                <a:cs typeface="Consolas"/>
              </a:rPr>
              <a:t>ready.store(true, release);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5314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53143"/>
                </a:solidFill>
                <a:latin typeface="Consolas"/>
                <a:ea typeface="Consolas"/>
                <a:cs typeface="Consolas"/>
              </a:rPr>
              <a:t>while (!ready.load(acquire)) {}</a:t>
            </a:r>
          </a:p>
          <a:p xmlns:a="http://schemas.openxmlformats.org/drawingml/2006/main">
            <a:pPr algn="l">
              <a:defRPr sz="1275" b="0">
                <a:solidFill>
                  <a:srgbClr val="25314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53143"/>
                </a:solidFill>
                <a:latin typeface="Consolas"/>
                <a:ea typeface="Consolas"/>
                <a:cs typeface="Consolas"/>
              </a:rPr>
              <a:t>use(data);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586D1-1DC2-4018-8431-F9231ACF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71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핵심 메시지: atomic은 값의 원자성만이 아니라 “언제 무엇이 보이는가”를 설계하는 언어다.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1B871-62CB-4392-ABDF-0702416A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BEE5D-1165-4740-9238-3158209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80197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05B29-7201-4AF1-A5BC-06F2D708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FB540F0D-B0C3-4407-8EFB-244666A7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3BFAF72-0CAD-4B3B-A7F8-5D0C92FB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BOOK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4D30A-73CE-4F20-9E58-41D3CC2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전체 구성은 기초 이론에서 실전 프로젝트까지 한 번에 이어진다.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863BE-8119-4597-8852-40FC0BD4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README 목차와 첨부 원고 01-05.md 기준으로 책의 큰 모습을 압축했다.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4D1CA-FB11-4E46-B5B8-0F77FF8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759E0-557D-4870-8FAA-F4DE1C84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1부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37D34-17CC-4637-B60C-B5D2F68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기초 이론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9AD56-7C66-46F5-BB8C-459ACBE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메모리 모델, 순차 일관성, 6가지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3BE28-EB41-49C7-AC1E-E16458D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0D278-A917-4F93-BE46-6C8C67B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2부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04B2E-F346-48AC-9411-915D52F9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574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상세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A8130-4907-4B30-8A80-EA7876AC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95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relaxed, acquire-release, seq_cst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9FFD0-7FEA-4B5B-8EFF-E24A5FA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9EF38-E281-4F4D-8168-FDE31C2C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3부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8BD98-32E1-4646-B92C-8169F94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실전 패턴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885C0-3584-471D-A74F-83959892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spinlock, lock-free, DCL, fence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4034A-F8E0-4604-9222-48BB784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DA028-6B04-4A17-8A1A-F2F2B6FD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4부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06CF0-3B60-44CD-81C3-224595D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148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고급 주제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FC02C-58AF-4779-B863-9D45E0C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happens-before, 플랫폼 차이, false sharing, C++23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F6542-C49E-4028-9C39-9E515F7A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8DE3-18C0-4A86-84D1-CDB7B36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529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5부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3859B-D91F-4A0E-A7E2-F56F1E86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062DD-F35E-4275-A943-FBEF2698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thread-safe logger, work queue, memory pool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CBBDD-58A2-44E7-A4C8-31260320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62400"/>
            <a:ext cx="3028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043E8D-6DEC-4FB0-A87C-4462E84A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6부/부록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03178-AE46-4E4B-BBDC-E56E585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검증과 참조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F17A19-9C55-4788-8AF4-D69A336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디버깅, 테스트, 치트시트, 학습 자료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94D0B-2E17-4EBD-A982-2B5A8D46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00ECC5-FB5F-4469-B9C9-997E13B1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23076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2C882-8D25-4964-887A-1D6EC01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D90DD47C-E4D6-4092-A5C9-2A4F75C3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B14940C-A7BB-4002-BB9D-2407FDFC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CORE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1AE71-7B2C-4E1C-9322-1F933DB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6가지 memory_order는 안전성과 성능 사이의 조절 장치다.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E52C1-D243-40C5-A666-E1F2973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책은 각 order를 단순 암기가 아니라 적용 시나리오와 금지 조건으로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23491-9045-4BCB-B750-013CF801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D7B07-EF96-43CA-B321-E0384F6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22624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7A1DA-8D16-4104-A446-A96C7E1C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seq_cst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514E0-B29D-4361-AE2C-631644D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24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가장 강한 전역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7E713-3FD3-4B65-AA24-4378895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복잡하거나 확신이 없을 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F9FCA-405F-483F-A443-29CFCEA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427F-6C12-4108-815D-7DB6CB8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59473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F712C-55C4-4766-8D62-3C58D5C3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acq_rel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EC436-5761-4C87-96D3-E980C1F1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57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RMW의 획득+방출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4D08D-8EBC-4AA6-A6B3-9696F7A0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exchange, CAS, fetch_add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6AD12-37A2-488F-87A8-D5389F2B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E1CDC-AA4F-4047-856C-F6A40183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96322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C0D6B-478E-478D-B3F2-4990D25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F11CA-80AC-4B63-8E09-FF054865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909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이전 쓰기를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27D58-E1EE-4C08-A17E-F28E304A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producer가 데이터를 내보낼 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1FB3E-7B9F-4C87-A894-287A2A0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1D933-0FA2-4FE9-BD12-E2B1E15D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3317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2E930-260C-4178-9D38-535D99D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acquire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2F641-232A-4467-A333-0B9F862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243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게시된 값을 소비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2B5FA-A831-4024-947C-D362DA13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consumer가 안전하게 읽을 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4B13D-4D49-4372-B326-F0F6ACF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0EDAD-DC7B-4D0D-BA40-DD4E5C6E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7002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6A8B0-C05C-4C50-9A66-7A49FA6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consume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EC298-8EAC-42B0-B7AA-94B87A0E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577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의존 로드 전용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097A5B-6018-4BFF-959E-BB7522B8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deprecated, acquire 권장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34D4D-BEBD-4588-8419-E58408B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D0106-615C-445C-BD49-D9F097C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687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5D881E-3CE4-46FB-A56D-6F9CB4E4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relaxed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E1141D-CC07-424A-A706-388FE379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91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원자성만 보장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C83805-905C-4E86-9190-81B225D7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카운터, 통계, 독립 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D92028-B9A4-4950-B395-299C447B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rPr>
              <a:t>강한 보장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564DB7-CAA2-44AF-A4B0-1D16299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53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7A1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7A12E"/>
                </a:solidFill>
                <a:latin typeface="Malgun Gothic"/>
                <a:ea typeface="Malgun Gothic"/>
                <a:cs typeface="Malgun Gothic"/>
              </a:rPr>
              <a:t>더 빠른 최적화 여지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61C7DE-2E22-4D8C-B694-4B33FFF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FC679-6496-4F76-B757-B12C9514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11633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01419-AD56-453F-91DE-B6E2628F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E2B21DE-6374-4B2C-98DA-F3ABDEB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BE86433-4F30-43CE-8415-5D9DEA76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DECISION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4A0E1-3252-4161-B873-1878D165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실무 판단은 “동기화가 필요한가?”에서 시작한다.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869C7-CC78-4812-9956-266B192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책의 선택 가이드는 성능 최적화보다 먼저 불변식과 관찰 순서를 확인하게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44375-ACAB-49CF-A821-826EA8E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4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DFA76-F523-4132-BE31-6892317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동기화가 필요 없다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AAF6E-C843-43FA-BADC-602AF06E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907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A12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7A12E"/>
                </a:solidFill>
                <a:latin typeface="Consolas"/>
                <a:ea typeface="Consolas"/>
                <a:cs typeface="Consolas"/>
              </a:rPr>
              <a:t>memory_order_relaxed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6A472-F042-49B9-8B59-823371E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단순 카운터, 독립 통계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F6C40-7DC1-4FB2-84E3-0C1922A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43614-5F00-4FAA-A8BA-7E9EC858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한 producer가 데이터를 게시한다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33584-BD99-4B60-9B85-2AF5414A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DB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2F6FDB"/>
                </a:solidFill>
                <a:latin typeface="Consolas"/>
                <a:ea typeface="Consolas"/>
                <a:cs typeface="Consolas"/>
              </a:rPr>
              <a:t>release / acquire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5394E-623F-4809-AB13-479D716E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플래그 기반 전달, SPSC 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31F61-5C29-4846-AC66-0078197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4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07F0B-F7ED-44BA-98BB-AA656F95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여러 상태가 전역 순서를 요구한다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FB655-9709-473D-BDE8-1C7BAEC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909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F4A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D95F4A"/>
                </a:solidFill>
                <a:latin typeface="Consolas"/>
                <a:ea typeface="Consolas"/>
                <a:cs typeface="Consolas"/>
              </a:rPr>
              <a:t>seq_cst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82D1C-7010-4982-8009-5D109725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복잡한 상태 머신, 다중 플래그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56655-F300-4131-A4BC-BF24796F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E1FEE-4A17-4B6A-AA56-B4EF432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기존 코드에 경계만 세운다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B8716-07C9-4B3B-B446-17FE51D7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910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B8B5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4B8B5F"/>
                </a:solidFill>
                <a:latin typeface="Consolas"/>
                <a:ea typeface="Consolas"/>
                <a:cs typeface="Consolas"/>
              </a:rPr>
              <a:t>atomic_thread_fence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7EFDA-BFBF-46F7-9AA5-32B5D1C1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batch publish, 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D721A-A4BA-4E39-9D2D-667A83B9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책의 톤: 모르면 seq_cst로 시작하고, 병목이 확인될 때만 더 약한 order로 내려간다.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E9D5A-9414-4242-9F92-57D9FAB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FB121-DDBA-4BB4-8937-9E348D18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21850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C61DF-B854-4CC2-A1E2-94BDAE7E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FAD7AB2-2FBE-4858-A1D4-5637D93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67032829-532C-4A36-83A9-4B3E1EC7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EDF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EDF1"/>
                </a:solidFill>
                <a:latin typeface="Malgun Gothic"/>
                <a:ea typeface="Malgun Gothic"/>
                <a:cs typeface="Malgun Gothic"/>
              </a:rPr>
              <a:t>PATTERN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13587-4AE9-456E-949B-6212D52C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실전 장은 메모리 순서를 실제 동시성 패턴으로 번역한다.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63F6B-A0B4-4504-8C28-3B5978D0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E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6DEE7"/>
                </a:solidFill>
                <a:latin typeface="Malgun Gothic"/>
                <a:ea typeface="Malgun Gothic"/>
                <a:cs typeface="Malgun Gothic"/>
              </a:rPr>
              <a:t>스핀락, lock-free 구조, double-checked locking, fence가 왜 그 order를 쓰는지 추적한다.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B8A2E-9D28-4ACA-81A2-BEC85023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3"/>
          </a:solidFill>
          <a:ln xmlns:a="http://schemas.openxmlformats.org/drawingml/2006/main" w="9525">
            <a:solidFill>
              <a:srgbClr val="3A46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1D19A-BCC3-4C56-973B-BB50CB6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5F5A5-BAE4-4ECD-8C4B-0D81A801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Spinlock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5244A-424A-4A2A-8DE4-A93FD58B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exchange(acquire)</a:t>
            </a:r>
          </a:p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store(release)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97E24-EBE0-4E19-BBFC-C98893E6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3"/>
          </a:solidFill>
          <a:ln xmlns:a="http://schemas.openxmlformats.org/drawingml/2006/main" w="9525">
            <a:solidFill>
              <a:srgbClr val="3A46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B0BA0-A309-427A-BD73-8D945168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4EBDF-12F4-4178-B17D-885D999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Lock-Free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9A9DC-298F-48D9-AE3B-061C35F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CAS + release/acquire</a:t>
            </a:r>
          </a:p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ABA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1DFE0-0866-442F-8303-591D77CD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3"/>
          </a:solidFill>
          <a:ln xmlns:a="http://schemas.openxmlformats.org/drawingml/2006/main" w="9525">
            <a:solidFill>
              <a:srgbClr val="3A46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191DE-0F54-4147-B90C-FB7C07A9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98BE0-AEBB-4690-82B9-6B9EC07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SPSC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184B8-07E1-4FF5-B9A7-80157393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index publish</a:t>
            </a:r>
          </a:p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cache-line separation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BCDFB-90B6-4C46-83DB-7A2A252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3"/>
          </a:solidFill>
          <a:ln xmlns:a="http://schemas.openxmlformats.org/drawingml/2006/main" w="9525">
            <a:solidFill>
              <a:srgbClr val="3A46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1868D-9385-4786-9F64-E52392A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18BA9-1535-480C-BA9C-C9FE38C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DCL Singleton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6A7FA-8706-4754-A2D2-7079EF6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atomic pointer</a:t>
            </a:r>
          </a:p>
          <a:p xmlns:a="http://schemas.openxmlformats.org/drawingml/2006/main">
            <a:pPr algn="l">
              <a:defRPr sz="1200" b="0">
                <a:solidFill>
                  <a:srgbClr val="D8E0E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8E0EA"/>
                </a:solidFill>
                <a:latin typeface="Consolas"/>
                <a:ea typeface="Consolas"/>
                <a:cs typeface="Consolas"/>
              </a:rPr>
              <a:t>acquire/release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822C2-D47B-4357-B4FE-334E2E21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패턴을 외우는 책이 아니라, 동기화 지점과 데이터 게시 시점을 찾는 법을 훈련하는 책이다.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E0D2F-0D00-4539-98CC-C14D4A4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8D0D8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7D3BD-4065-4444-8410-C66868F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D0D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21894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ECA5DB-8DF8-4276-AD1D-FD22939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6CBDD806-52FF-4977-BBC7-7D4D117E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4610F00-197F-45B5-B06A-5E9C5A45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ADVANCED IDEAS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D1FF2-2471-46CE-AEEA-92742595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고급 장의 중심은 happens-before와 플랫폼 차이를 동시에 보는 것이다.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B9394-E093-49CE-98AB-BE05C3A2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C++ 레벨의 보장과 x86/ARM 하드웨어 현실을 연결해 크로스 플랫폼 코드를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5D359-E620-4225-A01F-82D716BF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1BF71-0677-49A4-8FC9-7F8AA54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19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write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71F5F-DD69-4CE3-9C77-F2AA1870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64F4A-A45F-4C34-9B72-E6EB52A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FC564-E266-4B7D-95C2-1FD8BEBC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19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store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E444B-2E86-41A3-9CF3-9B9237C1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4EB51-FA7C-4357-8162-C511A63E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6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CA069-B9E7-4B21-BFBA-FD60E73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load acquire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8D8E4-7533-4B2B-8F75-D2F437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9CE17-FE42-48A7-805F-BDDACA73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37C46-7B16-44A2-ACAF-84679F55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19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 safely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2614E-7D0A-4807-8EC0-6F2273D3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5F3F4-3F8E-4EC4-9AC2-220DBE9B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x86/x64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C8E56-E368-4805-941C-5BC7E242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강한 메모리 모델. acquire/release가 비교적 저렴하게 매핑된다.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8335D-8806-4A85-B5C1-F6525EF6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0E642-ACB6-47AA-A6EE-5CB5517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rPr>
              <a:t>ARM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0D200-458D-4B58-8942-44DAF05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약한 메모리 모델. 명시적 barrier와 order 선택의 의미가 더 커진다.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CDB22-3620-4FA6-AA2E-1E7D8CA6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23E3A-F1E1-4A37-B27B-4F29529A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23805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1945D-6DBA-47D1-B3E0-00C87F42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25A830BB-48A5-43C3-8AE6-0F215B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4614ECFB-F87D-4C0D-9C81-B3554A9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C++23 + TOOLING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879AB-E351-4033-9CD5-B7D42DDC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최신 C++ 기능과 디버깅 흐름까지 다뤄 학습을 코드로 닫는다.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031BD-08E8-48A5-9463-0D85958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atomic_ref, wait/notify, atomic_flag 확장과 Visual Studio 기반 점검 절차가 이어진다.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73CD1-9A5A-4F89-8C03-25A9E9B0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B987D-C987-40CF-8888-21404C1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656A5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6656A5"/>
                </a:solidFill>
                <a:latin typeface="Consolas"/>
                <a:ea typeface="Consolas"/>
                <a:cs typeface="Consolas"/>
              </a:rPr>
              <a:t>atomic_ref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36546-BDA6-431A-BA26-494A62B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기존 변수를 원자적으로 감싸 레거시 구조에 점진적으로 적용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A3765-B849-4851-9F14-8A171F45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67A64-D0C0-49F9-9867-F6464E5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wait / notify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2EA54-864F-48E9-B1E6-4A5D2FB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busy-wait 대신 효율적으로 대기하고 깨우는 원자 연산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C808E-B414-47F4-822A-AF3ABE39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BBC67-E656-4CBC-86AC-C33D4366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atomic_flag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EC330-82AE-486E-A750-219A19A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test, wait/notify 지원으로 현대적 spin/event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9EB23-E144-4E73-A26A-7C47891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CB22D-E92E-4BCF-8F7B-558AFF4E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81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95F4A"/>
                </a:solidFill>
                <a:latin typeface="Malgun Gothic"/>
                <a:ea typeface="Malgun Gothic"/>
                <a:cs typeface="Malgun Gothic"/>
              </a:rPr>
              <a:t>VS 2022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FD089-284A-4EAA-AC25-2EF788C8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멀티스레드 디버깅, 성능 프로파일링, 병렬 조사식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F03B5-733C-4C10-8452-414565AF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11C89-1EF0-4C9B-8D60-18AD6DB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48269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41F8C-321D-4638-98F8-ACE5ED5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48A27D7-97BE-44A0-9F94-B5C61146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8C88B80C-347F-4983-A9C0-D05C54F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PROJECT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25DAA-6828-4B81-B7D1-7FB4871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마지막 실전 프로젝트는 개념을 설계 산출물로 바꾼다.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E058E-6C8B-436B-8273-723D1FC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각 프로젝트는 order 선택, cache-line 정렬, ABA 대응, 벤치마크까지 연결된다.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0FF2-5E49-4599-B2D7-61DF496B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FA0FF-9C5B-44FD-A401-341D0E07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주요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2E562-5DBC-4DB5-8CA3-B9A4E9F4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핵심 기법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368A9-282B-457F-9A54-22382DEA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활용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E956B-BB63-4A38-9CE6-44397FEB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9525">
            <a:solidFill>
              <a:srgbClr val="D5E1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F51F6-B517-4801-BBBE-9A2C947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Thread-Safe 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A9F07-4045-42BF-9FF7-32CA3F3D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62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D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F6FDB"/>
                </a:solidFill>
                <a:latin typeface="Consolas"/>
                <a:ea typeface="Consolas"/>
                <a:cs typeface="Consolas"/>
              </a:rPr>
              <a:t>acquire-release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3A151-2FAA-4944-8EB9-25061831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순환 버퍼 + 단일 writer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01445-FA47-4CEB-89EE-A03CDA73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로깅/모니터링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DFC11-FE66-46B8-BCB9-C15D6C14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01E34-0521-47AA-AACF-A6CD1AE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작업 큐 시스템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4C67B-AB5B-4D60-90DF-1BD6F6FE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38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D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F6FDB"/>
                </a:solidFill>
                <a:latin typeface="Consolas"/>
                <a:ea typeface="Consolas"/>
                <a:cs typeface="Consolas"/>
              </a:rPr>
              <a:t>acquire-release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A1254-2EF9-4A58-9990-596A274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Producer-Consumer + thread pool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0BE6B-1D52-479C-8827-CB6A7DAD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비동기 처리/서버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AC44F-92DE-4332-BA99-C9897127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0363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9525">
            <a:solidFill>
              <a:srgbClr val="D5E1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9E97D-5C7C-4C39-9BBF-F9F0AA6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Lock-Free 메모리 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EE501-7932-458A-9ECE-94E63430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14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D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F6FDB"/>
                </a:solidFill>
                <a:latin typeface="Consolas"/>
                <a:ea typeface="Consolas"/>
                <a:cs typeface="Consolas"/>
              </a:rPr>
              <a:t>CAS + tagged pointer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A5583-15C6-4B4C-B8EA-ECE571F3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ABA 문제 완화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5724E-3A1B-413B-98E1-3719AFD6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게임/실시간 시스템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09EC1-972B-432E-856C-2B7C7CC3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책의 강점: “개념 설명 → 안전한 구현 → 성능 측정 → 디버깅 팁”의 반복 구조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E50E8-C1A7-47A9-A205-C3083804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C105C3-60FA-4831-AEAF-9962BD4C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17705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258C9-2C32-4469-A81F-EA3D37C6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449FD1FD-295B-4EA2-84DE-8F72373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2D0F999-9878-4E4A-90C5-52A3F793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EDF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EDF1"/>
                </a:solidFill>
                <a:latin typeface="Malgun Gothic"/>
                <a:ea typeface="Malgun Gothic"/>
                <a:cs typeface="Malgun Gothic"/>
              </a:rP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5CA19-C1E0-480C-8BC1-9BD28B5E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85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책은 C++ 동시성의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보이지 않는 규칙을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실전 판단 언어로 바꾼다.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23609-9855-4311-9CDB-2E59091D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95259-D1FA-40F9-9E93-E4CCFB9D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621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BF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E5EBF2"/>
                </a:solidFill>
                <a:latin typeface="Malgun Gothic"/>
                <a:ea typeface="Malgun Gothic"/>
                <a:cs typeface="Malgun Gothic"/>
              </a:rPr>
              <a:t>초급 독자에게는 memory_order의 큰 지도를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5006A-93FB-4FD8-8F6B-B24C0F6F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2DDBD-AEC9-4C00-9D9E-1B56BB2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621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BF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E5EBF2"/>
                </a:solidFill>
                <a:latin typeface="Malgun Gothic"/>
                <a:ea typeface="Malgun Gothic"/>
                <a:cs typeface="Malgun Gothic"/>
              </a:rPr>
              <a:t>중급 개발자에게는 패턴별 안전한 구현 기준을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92DB7-E72A-46AD-9041-E3D77F1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76C13-FDF5-4BB2-95BE-8290D87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621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BF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E5EBF2"/>
                </a:solidFill>
                <a:latin typeface="Malgun Gothic"/>
                <a:ea typeface="Malgun Gothic"/>
                <a:cs typeface="Malgun Gothic"/>
              </a:rPr>
              <a:t>성능을 보는 개발자에게는 측정과 최적화의 출발점을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A4DE7-CDED-45D3-AD09-3CE09D33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1920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6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6FC30-DF89-4EFB-B03C-3E8F7CAB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추천 소개 문구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BA516-3CC9-4F7E-941A-73C06D5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2190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318"/>
                </a:solidFill>
                <a:latin typeface="Malgun Gothic"/>
                <a:ea typeface="Malgun Gothic"/>
                <a:cs typeface="Malgun Gothic"/>
              </a:rPr>
              <a:t>“C++23 메모리 모델 완벽 가이드”는 atomic 코드를 작성하는 법을 넘어, 어떤 보장이 필요한지 스스로 판단하게 만드는 실전형 동시성 가이드다.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6D494-B0D8-4CDE-808D-76B0A396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3F007-52B5-4729-A610-C432F952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F6FDB"/>
                </a:solidFill>
                <a:latin typeface="Malgun Gothic"/>
                <a:ea typeface="Malgun Gothic"/>
                <a:cs typeface="Malgun Gothic"/>
              </a:rPr>
              <a:t>Visual Studio 2022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71FC2-4606-42BE-B891-6616149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B8B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1E55C-25AD-4EA9-841F-91F91C01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B8B5F"/>
                </a:solidFill>
                <a:latin typeface="Malgun Gothic"/>
                <a:ea typeface="Malgun Gothic"/>
                <a:cs typeface="Malgun Gothic"/>
              </a:rPr>
              <a:t>C++20/23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A0C63-EA84-45CE-9B79-D344C676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C8D0D8"/>
                </a:solidFill>
                <a:latin typeface="Malgun Gothic"/>
                <a:ea typeface="Malgun Gothic"/>
                <a:cs typeface="Malgun Gothic"/>
              </a:rPr>
              <a:t>C++23 Memory Model Guide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88E6B-0A08-4451-AF5F-72A40ECA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D0D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8541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2026-06-13T05:08:21.9470000Z</dcterms:created>
  <dcterms:modified xsi:type="dcterms:W3CDTF">2026-06-13T05:08:21.9470000Z</dcterms:modified>
</coreProperties>
</file>